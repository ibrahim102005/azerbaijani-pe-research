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510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Biz Azərbaycan dili üçün positional encoding — yəni mövqe kodlaşdırma — strategiyalarını müqayisə edən nəzarətli bir tədqiqat apardıq. Sual sadədir: az həcmli Azərbaycan dili pretraining şəraitində modelə mövqe məlumatını hansı üsulla vermək daha effektivdir. Bunun üçün korpusu, tokenizeri, arxitekturanı, optimizatoru və 50 milyonluq token büdcəsini tam sabit saxladıq; yalnız mövqe mexanizmini dəyişdik. Beş strategiya, beş seed, cəmi 25 tam training run. Təqdimat beş hissəyə bölünür: data bazası, model dizaynı, training, reproducibility və nəticələr. Mən data və tokenizer hissəsini danışacağam. Bütün rəqəmlər repozitoriyadakı frozen artefaktlardan gəlir; QR kod birbaşa repozitoriyaya aparır.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 embedding vasitəsilə tokenin nə olduğunu bilir, amma self-attention əməliyyatı özü permutation-a həssas deyil: sıra məlumatı ayrıca verilməsə, model üçün 'İt adamı dişlədi' ilə 'Adam iti dişlədi' arasındakı fərq itə bilər. Sol tərəfdə məhz bunu göstəririk — leksik tərkib eynidir, dəyişən yalnız mövqedir, məna isə tamamilə fərqlidir. Sağda Azərbaycan dilinin aqlütinativ quruluşu var: bir kökün üzərinə uzun suffiks zənciri gəlir və bu zəncirin ardıcıllığı mənanı daşıyır. Diqqət: biz burada morfologiyanın nəticəyə səbəb olduğunu iddia etmirik; sadəcə sualın niyə maraqlı olduğunu izah edirik. POTENSİAL SUAL: causal mask onsuz da sıra vermirmi? QISA CAVAB: mask yalnız gələcəyi bağlayır, məsafə haqqında kəmiyyət məlumatı vermir — buna görə NoPE-ni ayrıca baseline kimi saxladıq.</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slide bütün işin elmi məntiqidir. Sağdakı səkkiz addımlıq zəncir raw mətndən statistik müqayisəyə qədər gedir və yalnız beşinci addımda budaqlanır — yəni fərq yalnız orada yaranır. Solda sabit saxladığımız şərtlər var: korpus, tokenizer, token ardıcıllığı, arxitektura, optimizer, büdcə və evaluation qaydaları. Ortada isə dəyişən yeganə amil: positional encoding. Konfiqurasiya auditində beş arm arasında icazə verilən yeganə fərq pe_type sahəsidir; qadağan olunmuş fərqlərin sayı sıfırdır. Aşağıdakı zaman oxu isə ədəbiyyat kontekstidir: sinusoidal 2017, RoPE 2021, ALiBi 2022, NoPE və length-generalization işləri 2022–2023. POTENSİAL SUAL: niyə mövcud böyük modeli fine-tune etmədiniz? QISA CAVAB: o halda nəticə həmin modelin ilkin PE seçimi ilə çirklənərdi; sıfırdan nəzarətli pretraining bu confound-u aradan qaldırır.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Korpus DOLLMA-nın altı native Azərbaycan komponentindən qurulub: xəbər, Azərbaycan dilində Vikipediya, bloglar, iki kitab komponenti və hüquqi mətnlər. Raw core səviyyəsində 8 milyon 227 min 654 sənəd, 14 shard. İki mənbəni qəsdən kənarlaşdırdıq. translated-enwiki tərcümə mətnidir — tərcümə artefaktları dilin təbii statistikasını dəyişir və bizim sualımızı çirkləndirə bilər. bhos isə yerli metadata ilə mənbə rolu aydın olmadığı üçün qərar verilənədək daxil edilməyib. Sol tərəfdəki iki qrafik vacib bir nöqtəni göstərir: sənəd sayına görə mediocore-books mütləq üstünlük təşkil edir, amma token miqyasında xəbər və kitablar demək olar bərabərdir. Ona görə korpusu iki ayrı ölçüdə auditləmişik. POTENSİAL SUAL: niyə daha çox data yığmadınız? QISA CAVAB: sual məhz low-data rejimi ilə bağlıdır; büdcəni böyütmək tədqiqat sualını dəyişərdi.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data hissəsinin ən vacib slaydıdır. Soldakı huni raw 8.2 milyon sənəddən final 6 milyon 193 min 931 sənədə qədər hər addımı göstərir: NFC normalizasiya, minimum 50 Unicode hərf filtri, SHA-256 ilə exact dedup və near-duplicate dedup. Ortada metod var: hər sənəd simvol 5-qramlara bölünür, LSH ilə namizəd cütlər çıxarılır, sonra HƏR namizəd cüt üçün exact Jaccard hesablanır və yalnız 0.95-dən yuxarı olanlar qəbul edilir. Sağda leakage-in nə demək olduğunu göstəririk: əgər demək olar eyni iki məqalədən biri train-ə, digəri test-ə düşsə, model əslində əzbərlədiyini proqnozlaşdırır və nəticə şişir. Buna görə bütöv klaster tək bir split-ə verilir. Aşağıdakı audit qutusunu qəsdən gizlətmirik: ilk implementasiyada namizəd generasiyası qüsurlu idi, sampled recall cəmi 1.83% idi. Qüsur training-dən əvvəl aşkarlandı, enumerasiya tam yenidən yazıldı, bütün downstream artefaktlar yenidən quruldu və auditdə 321 263 həqiqi cütün hamısı tutuldu. POTENSİAL SUAL: klaster üzvlərinin hamısı bir-birinə 0.95 oxşardırmı? QISA CAVAB: xeyr — klasterlər connected component-dir, hər qəbul edilmiş edge 0.95-dən yuxarıdır, lakin tranzitiv üzvlər üçün bu zəmanət verilmir; bunu məhdudiyyət kimi qeyd etmişik.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Tokenizer tərəfində üç namizəd lüğət ölçüsü — 8, 16 və 32 min — eyni train-only audit nümunəsində müqayisə edildi. 8K daha çox parçalayır, söz başına 1.92 token; 32K daha az parçalayır, amma nadir subword-ların hər biri daha az misal görür. 16K bu iki tərəf arasında balanslı seçimdir və audit heç bir texniki və ya coverage problemi göstərməyib. Vacib nöqtə: tokenizer yalnız bir milyon TRAIN sənədi üzərində öyrədilib. Əgər validation və ya test mətnini daxil etsəydik, model dolayı yolla test paylanmasından məlumat alardı — bu, tokenizer səviyyəsində leakage olardı. Sağda training ardıcıllığının necə qurulduğunu göstəririk. Manifestdə 277 min sənəd və 50 milyon 62 min token var; model isə dəqiq 50 milyon token istehlak edir. Sərhəd sənədindən yalnız 4 185 token götürülür, qalan 2 614 token və &lt;eod&gt; istifadə olunmur. POTENSİAL SUAL: niyə 50 062 887 seçilib? QISA CAVAB: tam sənəd seçimi ilə hədəfi aşmaq lazımdır ki, sənədləri ortadan kəsmədən dəqiq 50 milyonluq sərhədə çatmaq mümkün olsun. Beləliklə data və tokenizer tərəfi tam sabitdir — indi Yasin arxitekturanı və mövqe mexanizmlərini izah edəcək.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Mən modelin özündən başlayıram. Bu, decoder-only causal Transformer-dir: altı blok, d_model 256, səkkiz attention head, yəni head ölçüsü 32, feed-forward ölçüsü 1024, context uzunluğu 512 və 16 minlik lüğət. Bloklar Pythia üslubunda paralel residual istifadə edir: attention və MLP eyni normalizasiya olunmuş girişdən hesablanır və hər ikisi residual axına əlavə olunur. Dropout sıfırdır. Diaqramda bilərəkdən bir qutunu vurğulamışam — attention daxilindəki mövqe mexanizmi. Bütün təqdimat boyu dəyişən yeganə şey odur. Parametr sayı barədə dürüst olmaq lazımdır: dörd variant 12.93 milyon, Learned isə 13.06 milyon parametrə malikdir, çünki onun 512 × 256 ölçülü öyrənilən mövqe cədvəli var. POTENSİAL SUAL: bu fərq müqayisəni pozmurmu? QISA CAVAB: bu cədvəl metodun tərifidir; onu çıxarsaq, metod artıq Learned Absolute olmaz. Fərq ümumi parametrlərin bir faizindən azdır və nəticə sıralaması bu fərqlə izah oluna bilməyəcək qədər böyükdür.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tərəfini mən danışacağam. Bizim eksperiment matrisi beşə beşdir: beş positional encoding metodu, beş model seed — cəmi 25 tam training run, hamısı uğurla tamamlanıb və hər biri dəqiq 50 milyon token görüb. Niyə beş seed? Çünki tək bir run-a baxsaq, nəticəni təsadüfi uğurlu və ya uğursuz initialization izah edə bilər. Beş seed ilə biz fərqin sistematik olub-olmadığını yoxlayırıq. Daha vacibi seed-lərin uyğunlaşdırılmasıdır: 17 seed-i daxilində hər beş metod eyni initialization seed-indən başlayır. Bu, müqayisəni cütləşdirir. Və ayrıca data seed var — 2026. O, sənədlərin seçimini və sırasını təyin edir və model seed-indən tamamilə asılı deyil. POTENSİAL SUAL: beş seed statistik olaraq azdırmı? QISA CAVAB: bəli, azdır — ona görə biz seed sayına əsaslanan test qurmuruq; əsas qeyri-müəyyənlik hesablaması sənəd səviyyəsindəki bootstrap üzərindədir, seed-lər isə istiqamət uyğunluğu üçün istifadə olunur.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resepti tamamilə dondurulub. Context 512, hesablama BF16 dəqiqliyində, dropout sıfır. Yaddaşa sığmaq üçün bir addımı iki hissəyə bölürük: 64 sequence-lik microbatch və iki dəfə gradient accumulation — nəticədə hər optimizer addımı dəqiq 65 536 token görür. Optimizer AdamW-dir, peak learning rate 6e-4, bir faiz linear warmup, sonra cosine azalma. Weight decay 0.1, lakin Learned metodunun mövqe cədvəli qəsdən weight decay-dən kənarda saxlanılıb ki, metod süni şəkildə cəzalandırılmasın. Gradient norması 1.0-da kəsilir. Hər run tam 763 optimizer addımı edir və dəqiq 50 milyon token sərhədində dayanır. POTENSİAL SUAL: microbatch dəyişsə nəticə dəyişərmi? QISA CAVAB: qlobal batch sabit qaldığı üçün riyazi olaraq gradient eynidir; microbatch yalnız yaddaş bölgüsüdür və bütün 25 run-da eyni seçilib. POTENSİAL SUAL: niyə BF16? QISA CAVAB: A100-də sürətlidir və FP16-dan fərqli olaraq geniş dinamik diapazona malikdir — bu, ALiBi kimi mənfi bias əlavə edən metodlarda sayısal problemlərin qarşısını alır.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Determinizm bizim üçün estetik məsələ deyil, eksperimental nəzarətin bir hissəsidir. Əgər eyni konfiqurasiya ilə iki dəfə öyrətdikdə fərqli nəticə alsaydıq, metodlar arasındakı fərqin nədən gəldiyini heç vaxt ayırd edə bilməzdik. Ona görə PyTorch-un deterministik alqoritmlərini məcbur etdik, cuDNN-i deterministik rejimə saldıq, attention üçün MATH backend seçdik və cuBLAS workspace konfiqurasiyasını CUDA başlamazdan əvvəl təyin etdik. Resume zamanı isə yalnız model çəkiləri deyil, optimizer vəziyyəti və RNG vəziyyəti də bərpa olunur. MATH backend seçimi bilərəkdən edilmiş güzəştdir: flash attention daha sürətlidir, lakin açıq float mask ilə deterministik davranışa zəmanət vermir. Biz sürət əvəzinə təkrarlanabilirliyi seçdik. Ən vacib nöqtə sağdakı qutudur və mən bunu xüsusi vurğulayıram: biz nəticələrin istənilən kompüterdə bayt-bayt eyni çıxacağını iddia etmirik. İddia dardır — sınaqdan keçirilmiş runtime daxilində eyni giriş eyni çıxış verir.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Bütün training bir A100-in MIG bölməsində aparılıb — təxminən 21 gigabayt yaddaş. Mühit dondurulub: PyTorch 2.6, CUDA 12.4, cuDNN 9.1, Python 3.12.3 və BF16 dəstəyi. Bu fayl serverdə preflight tərəfindən yoxlanılır; uyğunsuzluq olsa, training başlamır. Batch seçimi haqqında dürüst olmaq istəyirəm. Biz əvvəlcə qlobal batch-i 65 536 token olaraq təyin etdik, sonra bu ədədi dəqiq verən bütün microbatch bölgülərini sadaladıq və yaddaşa sığanı seçdik: 64 sequence və iki accumulation. Vacib nöqtə: bu namizədlərin hamısı riyazi olaraq eyni gradient-i verir. Yəni bölgü seçimi elmi nəticəyə təsir etmir, sadəcə yaddaş məsələsidir. Daha böyük microbatch yaddaşa sığmadığı üçün istifadə olunmayıb — bu, modelin uğursuzluğu deyil, avadanlıq tutumu ilə bağlı seçimdir. Ümumi büdcə: 25 run, cəmi 1.25 milyard training tokeni və 100 saxlanılan checkpoint.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Hər run zamanı dörd checkpoint saxlamışıq: təxminən beş, on, iyirmi milyon və nəhayət tam 50 milyon token. Diqqətli auditoriya soruşacaq ki, niyə rəqəmlər yuvarlaq deyil — 5 046 272 kimi. Səbəb sadədir: checkpoint yalnız tam optimizer addımı sərhədində yazıla bilər və hər addım 65 536 token görür. Ona görə biz nominal hədəfi bir az aşırıq və faktiki sayı dürüst şəkildə qeyd edirik. Final nöqtə isə dəqiq 50 milyondur, çünki orada bilərəkdən dayanırıq. Cəmi 100 checkpoint arxivləşdirilib və hər biri SHA-256 ilə qeydə alınıb. Ən vacib qeyd aşağıdadır: bu nöqtələr eyni trayektoriyanın anlarıdır, ayrıca öyrədilmiş kiçik büdcəli modellər deyil. Ona görə 27-ci slayddakı learning curve-ləri 'beş milyonluq ayrı eksperiment' kimi oxumaq düzgün olmaz.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Yekun: 25 run-un hamısı tamamlandı, heç bir run uğursuz olmadı, heç bir run istisna edilmədi. Hər biri dəqiq 50 milyon token gördü və dəqiq 763 optimizer addımı etdi. Hamısı eyni training cache hash-inə və eyni training commit-inə istinad edir — bunu evaluation mərhələsində proqramla yoxladıq. Təhvil sadəcə fayl köçürmək deyil: evaluation hər checkpoint-i yükləməzdən əvvəl onun hash-ini, run ID-sini, token sayını və addım sayını yoxlayır. Uyğunsuzluq olarsa, proses dayanır. Bir məhdudiyyəti açıq qeyd edirəm, çünki onu gizlətmək düzgün olmazdı: training metadatası working tree-nin dirty olduğunu göstərir. Biz yüklənmiş model, training və konfiqurasiya fayllarının qeydə alınmış commit ilə bayt-bayt eyni olduğunu təsdiq etdik, lakin əgər serverdə commit edilməmiş dəyişiklik olubsa, onu yalnız commit-dən bərpa etmək mümkün deyil. İndi Fatma bu zəncirin necə sübut olunduğunu izah edəcək.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Mənim hissəm belə bir sualla başlayır: altı ay sonra kimsə gəlib desə ki, bu rəqəm haradan gəlir — necə cavab verəcəyik? Cavab bu diaqramdır. Yuxarı sıra data mənşəyidir: raw DOLLMA, işlənmiş korpus, tokenizer və 50 milyonluq ardıcıllıq. Orta sıra eksperiment kimliyidir: hansı config, hansı commit, hansı run ID və seed, hansı checkpoint. Aşağı sıra isə evaluation zənciridir: dondurulmuş protokol, final test lock, score faylları və nəticə cədvəlləri. Diqqət yetirin ki, hər qutunun altında qısaldılmış hash var. Yəni hər halqa növbəti halqaya adla yox, məzmunla bağlıdır. POTENSİAL SUAL: provenance ilə reproducibility arasında fərq nədir? QISA CAVAB: provenance nəticənin hansı artefaktlardan yarandığını sənədləşdirir; reproducibility isə həmin artefaktlardan eyni nəticəni yenidən almaq imkanıdır. Provenance olmadan reproducibility yoxlanıla bilmir.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slaydın mesajı sadədir: elmi iş fayl adlarına güvənə bilməz. İki fayl eyni adı daşıya, hətta eyni ölçüdə ola bilər, amma məzmunu fərqli olsun. Əgər nəticələrimiz 'train.parquet' adına bağlı olsaydı, bu bağlantı heç nə sübut etməzdi. Ona görə hər mühüm artefaktın məzmunundan SHA-256 barmaq izi çıxarırıq. Bir tək bayt dəyişsə, hash tamamilə dəyişir. Beləliklə istinad adla deyil, məzmunla olur. Cədvəldə göstərdiyim hash-lər qısaldılmışdır — tam dəyərlər repozitoriyadadır. Bu bağlantıların hamısı training_data_contract.json faylında toplanıb; model və evaluation mərhələləri həmin faylı oxuyur, yəni müqaviləyə proqram səviyyəsində riayət olunur. POTENSİAL SUAL: hash ilə Git commit arasında fərq nədir? QISA CAVAB: commit KODUN vəziyyətini təyin edir, data hash-i DATANIN vəziyyətini, checkpoint hash-i isə öyrədilmiş modelin vəziyyətini. Nəticəni tam müəyyən etmək üçün hər üçü lazımdır.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Layihədə on müxtəlif yoxlama qapısı var və hər mərhələ növbətisinə keçməzdən əvvəl onlardan keçir. Korpus validasiyası, leakage auditi, tokenizer auditi, beş arm üçün model smoke testləri, konfiqurasiya drift auditi, parametr ədalətliliyi, checkpoint resume ekvivalentliyi, CUDA determinizmi, evaluation üçün sintetik testlər və release yoxlaması. Davamlı inteqrasiya haqqında dəqiq olmaq istəyirəm: main branch-ində son CI işləməsi uğurludur. Lakin CI yalnız CPU-da icra oluna bilən yoxlamaları aparır — testlər, auditlər və release verification. Tam pretraining və 25-run matrisi qəsdən CI-dan kənarda saxlanılıb, çünki onlar GPU və saatlarla compute tələb edir. Yəni yaşıl CI 'nəticələr yenidən hesablandı' demək deyil. Sağdakı qeyd də vacibdir: bu testlər nəticənin elmi cəhətdən doğru olduğunu sübut etmir; onlar prosesin qaydalara uyğun getdiyini yoxlayır.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 evaluation-ın gigiyenası haqqındadır. Train üzərində model öyrənir. Validation üzərində biz — yəni tədqiqatçılar — öyrənirik: evaluator-u orada işləyib sazlamışıq, learning curve-ləri orada çıxarmışıq, protokolun düzgün işlədiyini orada yoxlamışıq. Sonra freeze mərhələsi gəlir: evaluation protokolu, scoring qaydaları, statistik qaydalar və müqayisə kriteriyaları dondurulur və lock faylında qeydə alınır. Yalnız bundan sonra final test icra olunur, yalnız bir dəfə və yalnız final 50 milyonluq modellərlə. Test dəsti 309 369 sənəddən ibarətdir və hər seed üçün 30.5 milyondan çox hədəf token qiymətləndirilir — yəni statistik güc kifayət qədər böyükdür. POTENSİAL SUAL: niyə aralıq checkpoint-ləri də test üzərində qiymətləndirmədiniz? QISA CAVAB: çünki bu, test dəstinə təkrar müraciət demək olardı; aralıq analiz tamamilə validation üzərində aparılıb.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 nəticələri necə ölçdüyümüzü izah edim. Model hər addımda növbəti token üçün ehtimal paylanması verir. Doğru tokenə verilən ehtimalın mənfi loqarifmi NLL-dir. Model əmin və düzgündürsə, NLL kiçik olur; tərəddüd edirsə və ya səhv edirsə, böyüyür. Perplexity isə sadəcə NLL-in eksponentidir və daha intuitiv miqyasdır. Sağ tərəf ölçmə qaydasıdır və bu, ədalətlilik üçün vacibdir. Sənədləri müstəqil qiymətləndiririk, hər sənədin sonuna bir &lt;eod&gt; əlavə olunur. Pəncərə uzunluğu 512, sürüşmə addımı 256-dır: yəni hər yeni pəncərənin yalnız ikinci yarısı sayılır. Nəticədə ilk tokendən sonrakı hər token dəqiq bir dəfə qiymətləndirilir — nə iki dəfə sayılır, nə buraxılır. POTENSİAL SUAL: niyə PPL-i deyil, NLL-i əsas göstərici seçdiniz? QISA CAVAB: NLL tokenlərə görə toplanan additiv kəmiyyətdir, ona görə statistika və bootstrap üçün düzgün miqyasdır; PPL isə yalnız təqdimat üçün çevrilmiş formadır.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Yalnız ortalara baxıb 'ALiBi qalibdir' demək zəif arqument olardı. Ona görə sübutu təbəqələrlə qurduq. Birincisi, beş seed. İkincisi, 309 mindən çox cütləşdirilmiş test sənədi — yəni hər metod eyni sənədlərdə qiymətləndirilir. Üçüncüsü, sənəd səviyyəsində bootstrap: 10 min dəfə sənəd indekslərini təsadüfi seçirik və vacib olan odur ki, eyni seçim bütün metodlara eyni anda tətbiq olunur. Bu, sənədlərin çətinliyindən gələn səs-küyü aradan qaldırır. Sağdakı histoqram məhz bu paylanmadır: ALiBi ilə RoPE arasındakı fərqin 10 min bootstrap qiyməti. Bütün qiymətlər mənfidir və sıfır intervalın çox uzağındadır. Sonra on cüt-cüt müqayisənin hamısına Holm düzəlişi tətbiq edilir, üstəlik fərqin ən azı beş seed-dən dördündə eyni istiqamətdə olmasını və mütləq fərqin 0.01 NLL-dən böyük olmasını tələb edirik. POTENSİAL SUAL: seed SD ilə bootstrap CI arasında fərq nədir? QISA CAVAB: seed SD initialization-dan gələn dəyişkənliyi göstərir, bootstrap CI isə sənəd nümunəsindən gələn qeyri-müəyyənliyi. Onları qarışdırmaq ciddi səhv olardı — ona görə qrafiklərdə hər biri öz adı ilə etiketlənib. İndi qaydalar dondurulduğuna görə nəhayət held-out test nəticələrinə baxa bilərik.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Budur əsas nəticə. Held-out test üzərində ALiBi ən aşağı NLL-i göstərdi: 5.434, yəni perplexity 229. İkinci RoPE 5.533 və 252.9; üçüncü NoPE 5.648 və 283.9; dördüncü Learned 5.794 və 328.3; sonuncu Sinusoidal 6.894 və 986.4. Qrafikdə hər metod üçün beş rəngli nöqtə ayrı-ayrı seed-lərdir, romb ortadır, açıq zolaq isə 95 faizlik conditional bootstrap intervalıdır. Diqqət yetirin ki, metodlar arasındakı məsafə intervalların özündən qat-qat böyükdür. Miqyas da vacibdir: 309 mindən çox sənəd və hər seed üçün 30.5 milyon qiymətləndirilən hədəf token. Bu, təsadüfi kiçik nümunə deyil. POTENSİAL SUAL: 0.0988 NLL fərqi böyükdürmü? QISA CAVAB: mütləq ədəd kimi kiçik görünür, lakin perplexity miqyasında bu 9.4 faizlik azalmadır və bizim əvvəlcədən dondurulmuş praktiki hədd olan 0.01-dən təxminən on dəfə böyükdür. POTENSİAL SUAL: niyə Sinusoidal bu qədər pisdir? QISA CAVAB: müşahidəni təsvir edirəm, səbəbi iddia etmirəm — bu miqyasda və bu büdcədə həmin variant açıq şəkildə zəif öyrəndi; mexanizmi ayrıca tədqiqat tələb edir.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 əsas sual: bu fərq təsadüf ola bilərmi? Üç müstəqil sübut xətti var. Birincisi, solda: sıralama beş seed-in hamısında tamamilə eynidir. ALiBi beş haldan beşində birincidir, RoPE hər dəfə ikinci, NoPE üçüncü, Learned dördüncü, Sinusoidal beşinci. Əgər fərq sadəcə initialization səs-küyü olsaydı, sıralamanın ən azı bir yerdə dəyişməsini gözləyərdik. İkincisi, sağdakı forest plot: ALiBi-nin hər dörd rəqiblə fərqi və onların 95 faizlik intervalları. Heç bir interval sıfırı kəsmir. Üçüncüsü, ən yaxın rəqib RoPE ilə müqayisə: fərq 0.0988 NLL, interval mənfi 0.1007 ilə mənfi 0.0958 arasında, Holm düzəlişindən sonra p təxminən 0.001, perplexity-də 9.41 faiz azalma. POTENSİAL SUAL: p dəyəri niyə dəqiq deyil? QISA CAVAB: bootstrap əsaslı p dəyərləri resample sayı ilə məhdudlanır — 10 min resample ilə əldə oluna bilən ən kiçik dəyər təxminən 0.0001-dir, Holm düzəlişindən sonra 0.001. Yəni bu, 'çox kiçik' deməkdir, dəqiq qiymət deyil.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Növbəti sual: bəlkə ALiBi sadəcə sonda şanslı oldu? Bu qrafik ona cavab verir. Burada validation NLL faktiki training token sayına qarşı çəkilib və dörd ölçmə nöqtəmiz var. ALiBi hər dörd büdcədə birincidir. Beş milyonda fərq çox kiçikdir — 7.3659 ilə 7.3914 arasında; on milyonda fərq aydınlaşır; iyirmi milyonda daha da genişlənir; əlli milyonda isə ən böyükdür. Yəni ALiBi həm daha yaxşı bitirdi, həm də daha sürətli öyrəndi. Sinusoidal diqqətəlayiq şəkildə fərqlənir: ilk on milyon token ərzində demək olar heç irəliləmir, sonra öyrənməyə başlayır, amma heç vaxt digərlərinə çatmır. Aşağıdakı qeyd vacibdir və mən onu şifahi də vurğulayıram: bunlar eyni trayektoriyanın anlarıdır, ayrıca öyrədilmiş qısa büdcəli modellər deyil. POTENSİAL SUAL: bu, validation, yoxsa test məlumatıdır? QISA CAVAB: validation. Aralıq checkpoint-lər heç vaxt test dəstinə buraxılmayıb — test yalnız final modellər üçün, yalnız bir dəfə istifadə olunub.</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bəlkə də ən maraqlı slayddır. Bütün modellər 512 kontekst uzunluğunda öyrədilib. Sual budur: onları 1024 və 2048 kontekstdə qiymətləndirsək nə olur? Ədalətli müqayisə üçün yalnız ən azı 2048 tokenlik sənədləri götürürük və hər sənəddə EYNİ son 256 hədəf tokeni qiymətləndiririk. Yəni fərq yalnız modelin əlində nə qədər kontekst olmasındadır. ALiBi praktiki olaraq düz xətt verir: 5.3176-dan 5.3171-ə, yəni dəyişiklik dördüncü onluq rəqəmdədir. RoPE isə 5.4236-dan 5.6574-ə pisləşir. NoPE cüzi pisləşir. Sinusoidal kəskin dağılır — 6.81-dən 9.16-ya. Learned isə 512-dən yuxarı ümumiyyətlə təyin olunmayıb, çünki cədvəldə həmin sətirlər yoxdur. Vacib metodoloji qeyd: bu kohort primary testlə eyni hədəf populyasiyası deyil, ona görə mütləq rəqəmləri 25-ci slaydla birbaşa müqayisə etmək olmaz. POTENSİAL SUAL: RoPE niyə pisləşir? QISA CAVAB: əvvəlcə müşahidəni qeyd edirəm — training uzunluğundan kənarda fırlanma bucaqları modelin heç vaxt görmədiyi diapazona düşür. Bu, ədəbiyyatdakı geniş yayılmış izahdır, lakin biz onu bu eksperimentdə ayrıca sınamamışıq.</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 elmi yetkinlik slaydıdır və mən onu qəsdən üç sütuna bölmüşəm. Sol sütun — müşahidə. ALiBi ən aşağı held-out NLL-i göstərdi, beş seed-in hamısında birinci oldu, ölçdüyümüz bütün büdcələrdə birinci oldu və uzun kontekstə keçiddə ən sabit davrandı. Bunlar faktdır. Orta sütun — interpretasiya. Mövqe induktiv bias-ı bu şəraitdə nəticəyə ciddi təsir edir və ALiBi bu dondurulmuş eksperiment daxilində xüsusilə effektivdir. Diqqət yetirin: 'bu eksperiment daxilində' ifadəsi təsadüfi deyil. Sağ sütun — sübut olunmayanlar. Biz ALiBi-nin Azərbaycan dili üçün universal olaraq ən yaxşı olduğunu iddia ETMİRİK. Morfologiyanın səbəb olduğunu iddia ETMİRİK — bunu yoxlamaq üçün morfoloji şərtli ayrıca analiz lazımdır. Milyardlıq miqyasda və digər türk dillərində eyni sıralamanın qalacağını da iddia etmirik. POTENSİAL SUAL: onda nə yenidir? QISA CAVAB: töhfə ilk növbədə nəzarətli empirik nəticədir — çox-seed, low-data Azərbaycan dili üçün ciddi data, training və evaluation nəzarəti ilə, üstəlik length-generalization sübutu ilə.</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Yekunlaşdırıram. Bu nəzarətli, az həcmli Azərbaycan dili eksperimenti daxilində ALiBi həm ən güclü, həm də ən stabil mövqe strategiyası oldu. Üç cümlə ilə: birincisi, təməl ciddidir — altı milyondan çox saxlanılan sənəd, leakage-safe bölgü, ortaq tokenizer və dəqiq 50 milyonluq ardıcıllıq. İkincisi, eksperiment nəzarətlidir — beş strategiya, beş seed, 25 tamamlanmış run və yeganə dəyişən kimi positional encoding. Üçüncüsü, nəticə çoxqatlı sübutla dəstəklənir — ən yaxşı held-out nəticə, beş seed-də tam uyğunluq, hər ölçülən büdcədə birincilik və uzun kontekstdə sabitlik. Növbəti addımlar aydındır: türk və ingilis dili üzərində nəzarət təcrübəsi, daha böyük miqyas, morfologiya şərtli analiz, attention məsafə analizi və nəhayət elmi məqalə. Bütün kod, data müqaviləsi, konfiqurasiyalar və nəticə cədvəlləri QR koddakı repozitoriyadadır. Diqqətinizə görə təşəkkür edirik — suallarınızı gözləyirik.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37744"/>
          </a:xfrm>
          <a:prstGeom prst="rect">
            <a:avLst/>
          </a:prstGeom>
          <a:noFill/>
          <a:ln/>
        </p:spPr>
        <p:txBody>
          <a:bodyPr wrap="square" lIns="0" tIns="0" rIns="0" bIns="0" rtlCol="0" anchor="ctr"/>
          <a:lstStyle/>
          <a:p>
            <a:pPr marL="0" indent="0">
              <a:buNone/>
            </a:pPr>
            <a:r>
              <a:rPr lang="en-US" sz="1050" b="1" kern="0" spc="180" dirty="0">
                <a:solidFill>
                  <a:srgbClr val="6F8AA3"/>
                </a:solidFill>
                <a:latin typeface="Calibri" pitchFamily="34" charset="0"/>
                <a:ea typeface="Calibri" pitchFamily="34" charset="-122"/>
                <a:cs typeface="Calibri" pitchFamily="34" charset="-120"/>
              </a:rPr>
              <a:t>AI ACADEMY  ·  DEEP LEARNING FINAL RESEARCH PROJECT  ·  2026</a:t>
            </a:r>
            <a:endParaRPr lang="en-US" sz="1050" dirty="0"/>
          </a:p>
        </p:txBody>
      </p:sp>
      <p:sp>
        <p:nvSpPr>
          <p:cNvPr id="3" name="Text 1"/>
          <p:cNvSpPr txBox="1"/>
          <p:nvPr/>
        </p:nvSpPr>
        <p:spPr>
          <a:xfrm>
            <a:off x="548640" y="914400"/>
            <a:ext cx="8778240" cy="137160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Azərbaycan dili üçün</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Positional Encoding tədqiqatı</a:t>
            </a:r>
            <a:endParaRPr lang="en-US" sz="3600" dirty="0"/>
          </a:p>
        </p:txBody>
      </p:sp>
      <p:sp>
        <p:nvSpPr>
          <p:cNvPr id="4" name="Text 2"/>
          <p:cNvSpPr txBox="1"/>
          <p:nvPr/>
        </p:nvSpPr>
        <p:spPr>
          <a:xfrm>
            <a:off x="548640" y="2395728"/>
            <a:ext cx="8595360" cy="548640"/>
          </a:xfrm>
          <a:prstGeom prst="rect">
            <a:avLst/>
          </a:prstGeom>
          <a:noFill/>
          <a:ln/>
        </p:spPr>
        <p:txBody>
          <a:bodyPr wrap="square" lIns="0" tIns="0" rIns="0" bIns="0" rtlCol="0" anchor="ctr"/>
          <a:lstStyle/>
          <a:p>
            <a:pPr marL="0" indent="0">
              <a:buNone/>
            </a:pPr>
            <a:r>
              <a:rPr lang="en-US" sz="1450" dirty="0">
                <a:solidFill>
                  <a:srgbClr val="A8BDCF"/>
                </a:solidFill>
                <a:latin typeface="Calibri" pitchFamily="34" charset="0"/>
                <a:ea typeface="Calibri" pitchFamily="34" charset="-122"/>
                <a:cs typeface="Calibri" pitchFamily="34" charset="-120"/>
              </a:rPr>
              <a:t>Low-Data Causal Language Modeling-də beş mövqe kodlaşdırma strategiyasının nəzarətli müqayisəsi</a:t>
            </a:r>
            <a:endParaRPr lang="en-US" sz="1450" dirty="0"/>
          </a:p>
        </p:txBody>
      </p:sp>
      <p:sp>
        <p:nvSpPr>
          <p:cNvPr id="5" name="Shape 3"/>
          <p:cNvSpPr/>
          <p:nvPr/>
        </p:nvSpPr>
        <p:spPr>
          <a:xfrm>
            <a:off x="548640" y="3035808"/>
            <a:ext cx="8229600" cy="841248"/>
          </a:xfrm>
          <a:prstGeom prst="roundRect">
            <a:avLst>
              <a:gd name="adj" fmla="val 7609"/>
            </a:avLst>
          </a:prstGeom>
          <a:solidFill>
            <a:srgbClr val="16293F"/>
          </a:solidFill>
          <a:ln/>
        </p:spPr>
      </p:sp>
      <p:sp>
        <p:nvSpPr>
          <p:cNvPr id="6" name="Text 4"/>
          <p:cNvSpPr txBox="1"/>
          <p:nvPr/>
        </p:nvSpPr>
        <p:spPr>
          <a:xfrm>
            <a:off x="768096" y="3090672"/>
            <a:ext cx="7818120" cy="749808"/>
          </a:xfrm>
          <a:prstGeom prst="rect">
            <a:avLst/>
          </a:prstGeom>
          <a:noFill/>
          <a:ln/>
        </p:spPr>
        <p:txBody>
          <a:bodyPr wrap="square" lIns="0" tIns="0" rIns="0" bIns="0" rtlCol="0" anchor="ctr"/>
          <a:lstStyle/>
          <a:p>
            <a:pPr marL="0" indent="0">
              <a:buNone/>
            </a:pPr>
            <a:r>
              <a:rPr lang="en-US" sz="1350" i="1" dirty="0">
                <a:solidFill>
                  <a:srgbClr val="DCE7F0"/>
                </a:solidFill>
                <a:latin typeface="Calibri" pitchFamily="34" charset="0"/>
                <a:ea typeface="Calibri" pitchFamily="34" charset="-122"/>
                <a:cs typeface="Calibri" pitchFamily="34" charset="-120"/>
              </a:rPr>
              <a:t>“Az həcmli Azərbaycan dili pretraining şəraitində hansı positional encoding yanaşması daha yaxşı öyrənir və daha yaxşı generalizasiya edir?”</a:t>
            </a:r>
            <a:endParaRPr lang="en-US" sz="1350" dirty="0"/>
          </a:p>
        </p:txBody>
      </p:sp>
      <p:sp>
        <p:nvSpPr>
          <p:cNvPr id="7" name="Shape 5"/>
          <p:cNvSpPr/>
          <p:nvPr/>
        </p:nvSpPr>
        <p:spPr>
          <a:xfrm>
            <a:off x="548640" y="4224528"/>
            <a:ext cx="1783080" cy="786384"/>
          </a:xfrm>
          <a:prstGeom prst="roundRect">
            <a:avLst>
              <a:gd name="adj" fmla="val 8140"/>
            </a:avLst>
          </a:prstGeom>
          <a:solidFill>
            <a:srgbClr val="1C3A57"/>
          </a:solidFill>
          <a:ln w="12700">
            <a:solidFill>
              <a:srgbClr val="38607F"/>
            </a:solidFill>
            <a:prstDash val="solid"/>
          </a:ln>
        </p:spPr>
      </p:sp>
      <p:sp>
        <p:nvSpPr>
          <p:cNvPr id="8" name="Text 6"/>
          <p:cNvSpPr txBox="1"/>
          <p:nvPr/>
        </p:nvSpPr>
        <p:spPr>
          <a:xfrm>
            <a:off x="548640" y="4224528"/>
            <a:ext cx="1783080" cy="786384"/>
          </a:xfrm>
          <a:prstGeom prst="rect">
            <a:avLst/>
          </a:prstGeom>
          <a:noFill/>
          <a:ln/>
        </p:spPr>
        <p:txBody>
          <a:bodyPr wrap="square" lIns="0" tIns="0" rIns="0" bIns="0" rtlCol="0" anchor="ctr"/>
          <a:lstStyle/>
          <a:p>
            <a:pPr marL="0" indent="0" algn="ctr">
              <a:buNone/>
            </a:pPr>
            <a:r>
              <a:rPr lang="en-US" sz="1150" dirty="0">
                <a:solidFill>
                  <a:srgbClr val="E6EEF5"/>
                </a:solidFill>
                <a:latin typeface="Calibri" pitchFamily="34" charset="0"/>
                <a:ea typeface="Calibri" pitchFamily="34" charset="-122"/>
                <a:cs typeface="Calibri" pitchFamily="34" charset="-120"/>
              </a:rPr>
              <a:t>Azərbaycan dili</a:t>
            </a:r>
            <a:endParaRPr lang="en-US" sz="1150" dirty="0"/>
          </a:p>
          <a:p>
            <a:pPr marL="0" indent="0" algn="ctr">
              <a:buNone/>
            </a:pPr>
            <a:r>
              <a:rPr lang="en-US" sz="1150" dirty="0">
                <a:solidFill>
                  <a:srgbClr val="E6EEF5"/>
                </a:solidFill>
                <a:latin typeface="Calibri" pitchFamily="34" charset="0"/>
                <a:ea typeface="Calibri" pitchFamily="34" charset="-122"/>
                <a:cs typeface="Calibri" pitchFamily="34" charset="-120"/>
              </a:rPr>
              <a:t>tokenləri</a:t>
            </a:r>
            <a:endParaRPr lang="en-US" sz="1150" dirty="0"/>
          </a:p>
        </p:txBody>
      </p:sp>
      <p:sp>
        <p:nvSpPr>
          <p:cNvPr id="9" name="Shape 7"/>
          <p:cNvSpPr/>
          <p:nvPr/>
        </p:nvSpPr>
        <p:spPr>
          <a:xfrm>
            <a:off x="2395728" y="4517136"/>
            <a:ext cx="384048" cy="201168"/>
          </a:xfrm>
          <a:prstGeom prst="rightArrow">
            <a:avLst/>
          </a:prstGeom>
          <a:solidFill>
            <a:srgbClr val="3C6383"/>
          </a:solidFill>
          <a:ln/>
        </p:spPr>
      </p:sp>
      <p:sp>
        <p:nvSpPr>
          <p:cNvPr id="10" name="Shape 8"/>
          <p:cNvSpPr/>
          <p:nvPr/>
        </p:nvSpPr>
        <p:spPr>
          <a:xfrm>
            <a:off x="2761488" y="4224528"/>
            <a:ext cx="1783080" cy="786384"/>
          </a:xfrm>
          <a:prstGeom prst="roundRect">
            <a:avLst>
              <a:gd name="adj" fmla="val 8140"/>
            </a:avLst>
          </a:prstGeom>
          <a:solidFill>
            <a:srgbClr val="1C3A57"/>
          </a:solidFill>
          <a:ln w="12700">
            <a:solidFill>
              <a:srgbClr val="38607F"/>
            </a:solidFill>
            <a:prstDash val="solid"/>
          </a:ln>
        </p:spPr>
      </p:sp>
      <p:sp>
        <p:nvSpPr>
          <p:cNvPr id="11" name="Text 9"/>
          <p:cNvSpPr txBox="1"/>
          <p:nvPr/>
        </p:nvSpPr>
        <p:spPr>
          <a:xfrm>
            <a:off x="2761488" y="4224528"/>
            <a:ext cx="1783080" cy="786384"/>
          </a:xfrm>
          <a:prstGeom prst="rect">
            <a:avLst/>
          </a:prstGeom>
          <a:noFill/>
          <a:ln/>
        </p:spPr>
        <p:txBody>
          <a:bodyPr wrap="square" lIns="0" tIns="0" rIns="0" bIns="0" rtlCol="0" anchor="ctr"/>
          <a:lstStyle/>
          <a:p>
            <a:pPr marL="0" indent="0" algn="ctr">
              <a:buNone/>
            </a:pPr>
            <a:r>
              <a:rPr lang="en-US" sz="1150" dirty="0">
                <a:solidFill>
                  <a:srgbClr val="E6EEF5"/>
                </a:solidFill>
                <a:latin typeface="Calibri" pitchFamily="34" charset="0"/>
                <a:ea typeface="Calibri" pitchFamily="34" charset="-122"/>
                <a:cs typeface="Calibri" pitchFamily="34" charset="-120"/>
              </a:rPr>
              <a:t>mövqe</a:t>
            </a:r>
            <a:endParaRPr lang="en-US" sz="1150" dirty="0"/>
          </a:p>
          <a:p>
            <a:pPr marL="0" indent="0" algn="ctr">
              <a:buNone/>
            </a:pPr>
            <a:r>
              <a:rPr lang="en-US" sz="1150" dirty="0">
                <a:solidFill>
                  <a:srgbClr val="E6EEF5"/>
                </a:solidFill>
                <a:latin typeface="Calibri" pitchFamily="34" charset="0"/>
                <a:ea typeface="Calibri" pitchFamily="34" charset="-122"/>
                <a:cs typeface="Calibri" pitchFamily="34" charset="-120"/>
              </a:rPr>
              <a:t>məlumatı</a:t>
            </a:r>
            <a:endParaRPr lang="en-US" sz="1150" dirty="0"/>
          </a:p>
        </p:txBody>
      </p:sp>
      <p:sp>
        <p:nvSpPr>
          <p:cNvPr id="12" name="Shape 10"/>
          <p:cNvSpPr/>
          <p:nvPr/>
        </p:nvSpPr>
        <p:spPr>
          <a:xfrm>
            <a:off x="4608576" y="4517136"/>
            <a:ext cx="384048" cy="201168"/>
          </a:xfrm>
          <a:prstGeom prst="rightArrow">
            <a:avLst/>
          </a:prstGeom>
          <a:solidFill>
            <a:srgbClr val="3C6383"/>
          </a:solidFill>
          <a:ln/>
        </p:spPr>
      </p:sp>
      <p:sp>
        <p:nvSpPr>
          <p:cNvPr id="13" name="Shape 11"/>
          <p:cNvSpPr/>
          <p:nvPr/>
        </p:nvSpPr>
        <p:spPr>
          <a:xfrm>
            <a:off x="4974336" y="4224528"/>
            <a:ext cx="1783080" cy="786384"/>
          </a:xfrm>
          <a:prstGeom prst="roundRect">
            <a:avLst>
              <a:gd name="adj" fmla="val 8140"/>
            </a:avLst>
          </a:prstGeom>
          <a:solidFill>
            <a:srgbClr val="215070"/>
          </a:solidFill>
          <a:ln w="12700">
            <a:solidFill>
              <a:srgbClr val="38607F"/>
            </a:solidFill>
            <a:prstDash val="solid"/>
          </a:ln>
        </p:spPr>
      </p:sp>
      <p:sp>
        <p:nvSpPr>
          <p:cNvPr id="14" name="Text 12"/>
          <p:cNvSpPr txBox="1"/>
          <p:nvPr/>
        </p:nvSpPr>
        <p:spPr>
          <a:xfrm>
            <a:off x="4974336" y="4224528"/>
            <a:ext cx="1783080" cy="786384"/>
          </a:xfrm>
          <a:prstGeom prst="rect">
            <a:avLst/>
          </a:prstGeom>
          <a:noFill/>
          <a:ln/>
        </p:spPr>
        <p:txBody>
          <a:bodyPr wrap="square" lIns="0" tIns="0" rIns="0" bIns="0" rtlCol="0" anchor="ctr"/>
          <a:lstStyle/>
          <a:p>
            <a:pPr marL="0" indent="0" algn="ctr">
              <a:buNone/>
            </a:pPr>
            <a:r>
              <a:rPr lang="en-US" sz="1150" dirty="0">
                <a:solidFill>
                  <a:srgbClr val="E6EEF5"/>
                </a:solidFill>
                <a:latin typeface="Calibri" pitchFamily="34" charset="0"/>
                <a:ea typeface="Calibri" pitchFamily="34" charset="-122"/>
                <a:cs typeface="Calibri" pitchFamily="34" charset="-120"/>
              </a:rPr>
              <a:t>Transformer</a:t>
            </a:r>
            <a:endParaRPr lang="en-US" sz="1150" dirty="0"/>
          </a:p>
          <a:p>
            <a:pPr marL="0" indent="0" algn="ctr">
              <a:buNone/>
            </a:pPr>
            <a:r>
              <a:rPr lang="en-US" sz="1150" dirty="0">
                <a:solidFill>
                  <a:srgbClr val="E6EEF5"/>
                </a:solidFill>
                <a:latin typeface="Calibri" pitchFamily="34" charset="0"/>
                <a:ea typeface="Calibri" pitchFamily="34" charset="-122"/>
                <a:cs typeface="Calibri" pitchFamily="34" charset="-120"/>
              </a:rPr>
              <a:t>(causal LM)</a:t>
            </a:r>
            <a:endParaRPr lang="en-US" sz="1150" dirty="0"/>
          </a:p>
        </p:txBody>
      </p:sp>
      <p:sp>
        <p:nvSpPr>
          <p:cNvPr id="15" name="Shape 13"/>
          <p:cNvSpPr/>
          <p:nvPr/>
        </p:nvSpPr>
        <p:spPr>
          <a:xfrm>
            <a:off x="6821424" y="4517136"/>
            <a:ext cx="384048" cy="201168"/>
          </a:xfrm>
          <a:prstGeom prst="rightArrow">
            <a:avLst/>
          </a:prstGeom>
          <a:solidFill>
            <a:srgbClr val="3C6383"/>
          </a:solidFill>
          <a:ln/>
        </p:spPr>
      </p:sp>
      <p:sp>
        <p:nvSpPr>
          <p:cNvPr id="16" name="Shape 14"/>
          <p:cNvSpPr/>
          <p:nvPr/>
        </p:nvSpPr>
        <p:spPr>
          <a:xfrm>
            <a:off x="7187184" y="4224528"/>
            <a:ext cx="1783080" cy="786384"/>
          </a:xfrm>
          <a:prstGeom prst="roundRect">
            <a:avLst>
              <a:gd name="adj" fmla="val 8140"/>
            </a:avLst>
          </a:prstGeom>
          <a:solidFill>
            <a:srgbClr val="1C3A57"/>
          </a:solidFill>
          <a:ln w="12700">
            <a:solidFill>
              <a:srgbClr val="38607F"/>
            </a:solidFill>
            <a:prstDash val="solid"/>
          </a:ln>
        </p:spPr>
      </p:sp>
      <p:sp>
        <p:nvSpPr>
          <p:cNvPr id="17" name="Text 15"/>
          <p:cNvSpPr txBox="1"/>
          <p:nvPr/>
        </p:nvSpPr>
        <p:spPr>
          <a:xfrm>
            <a:off x="7187184" y="4224528"/>
            <a:ext cx="1783080" cy="786384"/>
          </a:xfrm>
          <a:prstGeom prst="rect">
            <a:avLst/>
          </a:prstGeom>
          <a:noFill/>
          <a:ln/>
        </p:spPr>
        <p:txBody>
          <a:bodyPr wrap="square" lIns="0" tIns="0" rIns="0" bIns="0" rtlCol="0" anchor="ctr"/>
          <a:lstStyle/>
          <a:p>
            <a:pPr marL="0" indent="0" algn="ctr">
              <a:buNone/>
            </a:pPr>
            <a:r>
              <a:rPr lang="en-US" sz="1150" dirty="0">
                <a:solidFill>
                  <a:srgbClr val="E6EEF5"/>
                </a:solidFill>
                <a:latin typeface="Calibri" pitchFamily="34" charset="0"/>
                <a:ea typeface="Calibri" pitchFamily="34" charset="-122"/>
                <a:cs typeface="Calibri" pitchFamily="34" charset="-120"/>
              </a:rPr>
              <a:t>növbəti token</a:t>
            </a:r>
            <a:endParaRPr lang="en-US" sz="1150" dirty="0"/>
          </a:p>
          <a:p>
            <a:pPr marL="0" indent="0" algn="ctr">
              <a:buNone/>
            </a:pPr>
            <a:r>
              <a:rPr lang="en-US" sz="1150" dirty="0">
                <a:solidFill>
                  <a:srgbClr val="E6EEF5"/>
                </a:solidFill>
                <a:latin typeface="Calibri" pitchFamily="34" charset="0"/>
                <a:ea typeface="Calibri" pitchFamily="34" charset="-122"/>
                <a:cs typeface="Calibri" pitchFamily="34" charset="-120"/>
              </a:rPr>
              <a:t>proqnozu</a:t>
            </a:r>
            <a:endParaRPr lang="en-US" sz="1150" dirty="0"/>
          </a:p>
        </p:txBody>
      </p:sp>
      <p:sp>
        <p:nvSpPr>
          <p:cNvPr id="18" name="Text 16"/>
          <p:cNvSpPr txBox="1"/>
          <p:nvPr/>
        </p:nvSpPr>
        <p:spPr>
          <a:xfrm>
            <a:off x="548640" y="5102352"/>
            <a:ext cx="8595360" cy="237744"/>
          </a:xfrm>
          <a:prstGeom prst="rect">
            <a:avLst/>
          </a:prstGeom>
          <a:noFill/>
          <a:ln/>
        </p:spPr>
        <p:txBody>
          <a:bodyPr wrap="square" lIns="0" tIns="0" rIns="0" bIns="0" rtlCol="0" anchor="ctr"/>
          <a:lstStyle/>
          <a:p>
            <a:pPr marL="0" indent="0">
              <a:buNone/>
            </a:pPr>
            <a:r>
              <a:rPr lang="en-US" sz="1100" i="1" dirty="0">
                <a:solidFill>
                  <a:srgbClr val="7E93A8"/>
                </a:solidFill>
                <a:latin typeface="Calibri" pitchFamily="34" charset="0"/>
                <a:ea typeface="Calibri" pitchFamily="34" charset="-122"/>
                <a:cs typeface="Calibri" pitchFamily="34" charset="-120"/>
              </a:rPr>
              <a:t>eyni korpus  ·  eyni tokenizer  ·  eyni arxitektura  —  dəyişən yalnız mövqe mexanizmidir</a:t>
            </a:r>
            <a:endParaRPr lang="en-US" sz="1100" dirty="0"/>
          </a:p>
        </p:txBody>
      </p:sp>
      <p:sp>
        <p:nvSpPr>
          <p:cNvPr id="19" name="Text 17"/>
          <p:cNvSpPr txBox="1"/>
          <p:nvPr/>
        </p:nvSpPr>
        <p:spPr>
          <a:xfrm>
            <a:off x="548640" y="5541264"/>
            <a:ext cx="2103120" cy="219456"/>
          </a:xfrm>
          <a:prstGeom prst="rect">
            <a:avLst/>
          </a:prstGeom>
          <a:noFill/>
          <a:ln/>
        </p:spPr>
        <p:txBody>
          <a:bodyPr wrap="square" lIns="0" tIns="0" rIns="0" bIns="0" rtlCol="0" anchor="ctr"/>
          <a:lstStyle/>
          <a:p>
            <a:pPr marL="0" indent="0">
              <a:buNone/>
            </a:pPr>
            <a:r>
              <a:rPr lang="en-US" sz="1150" b="1" dirty="0">
                <a:solidFill>
                  <a:srgbClr val="D8E4EE"/>
                </a:solidFill>
                <a:latin typeface="Calibri" pitchFamily="34" charset="0"/>
                <a:ea typeface="Calibri" pitchFamily="34" charset="-122"/>
                <a:cs typeface="Calibri" pitchFamily="34" charset="-120"/>
              </a:rPr>
              <a:t>Ibrahim Mammadov</a:t>
            </a:r>
            <a:endParaRPr lang="en-US" sz="1150" dirty="0"/>
          </a:p>
        </p:txBody>
      </p:sp>
      <p:sp>
        <p:nvSpPr>
          <p:cNvPr id="20" name="Text 18"/>
          <p:cNvSpPr txBox="1"/>
          <p:nvPr/>
        </p:nvSpPr>
        <p:spPr>
          <a:xfrm>
            <a:off x="548640" y="5751576"/>
            <a:ext cx="2103120" cy="201168"/>
          </a:xfrm>
          <a:prstGeom prst="rect">
            <a:avLst/>
          </a:prstGeom>
          <a:noFill/>
          <a:ln/>
        </p:spPr>
        <p:txBody>
          <a:bodyPr wrap="square" lIns="0" tIns="0" rIns="0" bIns="0" rtlCol="0" anchor="ctr"/>
          <a:lstStyle/>
          <a:p>
            <a:pPr marL="0" indent="0">
              <a:buNone/>
            </a:pPr>
            <a:r>
              <a:rPr lang="en-US" sz="950" dirty="0">
                <a:solidFill>
                  <a:srgbClr val="6F8AA3"/>
                </a:solidFill>
                <a:latin typeface="Calibri" pitchFamily="34" charset="0"/>
                <a:ea typeface="Calibri" pitchFamily="34" charset="-122"/>
                <a:cs typeface="Calibri" pitchFamily="34" charset="-120"/>
              </a:rPr>
              <a:t>Data &amp; Tokenizer</a:t>
            </a:r>
            <a:endParaRPr lang="en-US" sz="950" dirty="0"/>
          </a:p>
        </p:txBody>
      </p:sp>
      <p:sp>
        <p:nvSpPr>
          <p:cNvPr id="21" name="Text 19"/>
          <p:cNvSpPr txBox="1"/>
          <p:nvPr/>
        </p:nvSpPr>
        <p:spPr>
          <a:xfrm>
            <a:off x="2761488" y="5541264"/>
            <a:ext cx="2103120" cy="219456"/>
          </a:xfrm>
          <a:prstGeom prst="rect">
            <a:avLst/>
          </a:prstGeom>
          <a:noFill/>
          <a:ln/>
        </p:spPr>
        <p:txBody>
          <a:bodyPr wrap="square" lIns="0" tIns="0" rIns="0" bIns="0" rtlCol="0" anchor="ctr"/>
          <a:lstStyle/>
          <a:p>
            <a:pPr marL="0" indent="0">
              <a:buNone/>
            </a:pPr>
            <a:r>
              <a:rPr lang="en-US" sz="1150" b="1" dirty="0">
                <a:solidFill>
                  <a:srgbClr val="D8E4EE"/>
                </a:solidFill>
                <a:latin typeface="Calibri" pitchFamily="34" charset="0"/>
                <a:ea typeface="Calibri" pitchFamily="34" charset="-122"/>
                <a:cs typeface="Calibri" pitchFamily="34" charset="-120"/>
              </a:rPr>
              <a:t>Yasin Veliyev</a:t>
            </a:r>
            <a:endParaRPr lang="en-US" sz="1150" dirty="0"/>
          </a:p>
        </p:txBody>
      </p:sp>
      <p:sp>
        <p:nvSpPr>
          <p:cNvPr id="22" name="Text 20"/>
          <p:cNvSpPr txBox="1"/>
          <p:nvPr/>
        </p:nvSpPr>
        <p:spPr>
          <a:xfrm>
            <a:off x="2761488" y="5751576"/>
            <a:ext cx="2103120" cy="201168"/>
          </a:xfrm>
          <a:prstGeom prst="rect">
            <a:avLst/>
          </a:prstGeom>
          <a:noFill/>
          <a:ln/>
        </p:spPr>
        <p:txBody>
          <a:bodyPr wrap="square" lIns="0" tIns="0" rIns="0" bIns="0" rtlCol="0" anchor="ctr"/>
          <a:lstStyle/>
          <a:p>
            <a:pPr marL="0" indent="0">
              <a:buNone/>
            </a:pPr>
            <a:r>
              <a:rPr lang="en-US" sz="950" dirty="0">
                <a:solidFill>
                  <a:srgbClr val="6F8AA3"/>
                </a:solidFill>
                <a:latin typeface="Calibri" pitchFamily="34" charset="0"/>
                <a:ea typeface="Calibri" pitchFamily="34" charset="-122"/>
                <a:cs typeface="Calibri" pitchFamily="34" charset="-120"/>
              </a:rPr>
              <a:t>Model &amp; PE</a:t>
            </a:r>
            <a:endParaRPr lang="en-US" sz="950" dirty="0"/>
          </a:p>
        </p:txBody>
      </p:sp>
      <p:sp>
        <p:nvSpPr>
          <p:cNvPr id="23" name="Text 21"/>
          <p:cNvSpPr txBox="1"/>
          <p:nvPr/>
        </p:nvSpPr>
        <p:spPr>
          <a:xfrm>
            <a:off x="4974336" y="5541264"/>
            <a:ext cx="2103120" cy="219456"/>
          </a:xfrm>
          <a:prstGeom prst="rect">
            <a:avLst/>
          </a:prstGeom>
          <a:noFill/>
          <a:ln/>
        </p:spPr>
        <p:txBody>
          <a:bodyPr wrap="square" lIns="0" tIns="0" rIns="0" bIns="0" rtlCol="0" anchor="ctr"/>
          <a:lstStyle/>
          <a:p>
            <a:pPr marL="0" indent="0">
              <a:buNone/>
            </a:pPr>
            <a:r>
              <a:rPr lang="en-US" sz="1150" b="1" dirty="0">
                <a:solidFill>
                  <a:srgbClr val="D8E4EE"/>
                </a:solidFill>
                <a:latin typeface="Calibri" pitchFamily="34" charset="0"/>
                <a:ea typeface="Calibri" pitchFamily="34" charset="-122"/>
                <a:cs typeface="Calibri" pitchFamily="34" charset="-120"/>
              </a:rPr>
              <a:t>Fidan Allahverdiyeva</a:t>
            </a:r>
            <a:endParaRPr lang="en-US" sz="1150" dirty="0"/>
          </a:p>
        </p:txBody>
      </p:sp>
      <p:sp>
        <p:nvSpPr>
          <p:cNvPr id="24" name="Text 22"/>
          <p:cNvSpPr txBox="1"/>
          <p:nvPr/>
        </p:nvSpPr>
        <p:spPr>
          <a:xfrm>
            <a:off x="4974336" y="5751576"/>
            <a:ext cx="2103120" cy="201168"/>
          </a:xfrm>
          <a:prstGeom prst="rect">
            <a:avLst/>
          </a:prstGeom>
          <a:noFill/>
          <a:ln/>
        </p:spPr>
        <p:txBody>
          <a:bodyPr wrap="square" lIns="0" tIns="0" rIns="0" bIns="0" rtlCol="0" anchor="ctr"/>
          <a:lstStyle/>
          <a:p>
            <a:pPr marL="0" indent="0">
              <a:buNone/>
            </a:pPr>
            <a:r>
              <a:rPr lang="en-US" sz="950" dirty="0">
                <a:solidFill>
                  <a:srgbClr val="6F8AA3"/>
                </a:solidFill>
                <a:latin typeface="Calibri" pitchFamily="34" charset="0"/>
                <a:ea typeface="Calibri" pitchFamily="34" charset="-122"/>
                <a:cs typeface="Calibri" pitchFamily="34" charset="-120"/>
              </a:rPr>
              <a:t>Training</a:t>
            </a:r>
            <a:endParaRPr lang="en-US" sz="950" dirty="0"/>
          </a:p>
        </p:txBody>
      </p:sp>
      <p:sp>
        <p:nvSpPr>
          <p:cNvPr id="25" name="Text 23"/>
          <p:cNvSpPr txBox="1"/>
          <p:nvPr/>
        </p:nvSpPr>
        <p:spPr>
          <a:xfrm>
            <a:off x="7187184" y="5541264"/>
            <a:ext cx="2103120" cy="219456"/>
          </a:xfrm>
          <a:prstGeom prst="rect">
            <a:avLst/>
          </a:prstGeom>
          <a:noFill/>
          <a:ln/>
        </p:spPr>
        <p:txBody>
          <a:bodyPr wrap="square" lIns="0" tIns="0" rIns="0" bIns="0" rtlCol="0" anchor="ctr"/>
          <a:lstStyle/>
          <a:p>
            <a:pPr marL="0" indent="0">
              <a:buNone/>
            </a:pPr>
            <a:r>
              <a:rPr lang="en-US" sz="1150" b="1" dirty="0">
                <a:solidFill>
                  <a:srgbClr val="D8E4EE"/>
                </a:solidFill>
                <a:latin typeface="Calibri" pitchFamily="34" charset="0"/>
                <a:ea typeface="Calibri" pitchFamily="34" charset="-122"/>
                <a:cs typeface="Calibri" pitchFamily="34" charset="-120"/>
              </a:rPr>
              <a:t>Fatma Mammadova</a:t>
            </a:r>
            <a:endParaRPr lang="en-US" sz="1150" dirty="0"/>
          </a:p>
        </p:txBody>
      </p:sp>
      <p:sp>
        <p:nvSpPr>
          <p:cNvPr id="26" name="Text 24"/>
          <p:cNvSpPr txBox="1"/>
          <p:nvPr/>
        </p:nvSpPr>
        <p:spPr>
          <a:xfrm>
            <a:off x="7187184" y="5751576"/>
            <a:ext cx="2103120" cy="201168"/>
          </a:xfrm>
          <a:prstGeom prst="rect">
            <a:avLst/>
          </a:prstGeom>
          <a:noFill/>
          <a:ln/>
        </p:spPr>
        <p:txBody>
          <a:bodyPr wrap="square" lIns="0" tIns="0" rIns="0" bIns="0" rtlCol="0" anchor="ctr"/>
          <a:lstStyle/>
          <a:p>
            <a:pPr marL="0" indent="0">
              <a:buNone/>
            </a:pPr>
            <a:r>
              <a:rPr lang="en-US" sz="950" dirty="0">
                <a:solidFill>
                  <a:srgbClr val="6F8AA3"/>
                </a:solidFill>
                <a:latin typeface="Calibri" pitchFamily="34" charset="0"/>
                <a:ea typeface="Calibri" pitchFamily="34" charset="-122"/>
                <a:cs typeface="Calibri" pitchFamily="34" charset="-120"/>
              </a:rPr>
              <a:t>Reproducibility</a:t>
            </a:r>
            <a:endParaRPr lang="en-US" sz="950" dirty="0"/>
          </a:p>
        </p:txBody>
      </p:sp>
      <p:sp>
        <p:nvSpPr>
          <p:cNvPr id="27" name="Text 25"/>
          <p:cNvSpPr txBox="1"/>
          <p:nvPr/>
        </p:nvSpPr>
        <p:spPr>
          <a:xfrm>
            <a:off x="9400032" y="5541264"/>
            <a:ext cx="2103120" cy="219456"/>
          </a:xfrm>
          <a:prstGeom prst="rect">
            <a:avLst/>
          </a:prstGeom>
          <a:noFill/>
          <a:ln/>
        </p:spPr>
        <p:txBody>
          <a:bodyPr wrap="square" lIns="0" tIns="0" rIns="0" bIns="0" rtlCol="0" anchor="ctr"/>
          <a:lstStyle/>
          <a:p>
            <a:pPr marL="0" indent="0">
              <a:buNone/>
            </a:pPr>
            <a:r>
              <a:rPr lang="en-US" sz="1150" b="1" dirty="0">
                <a:solidFill>
                  <a:srgbClr val="D8E4EE"/>
                </a:solidFill>
                <a:latin typeface="Calibri" pitchFamily="34" charset="0"/>
                <a:ea typeface="Calibri" pitchFamily="34" charset="-122"/>
                <a:cs typeface="Calibri" pitchFamily="34" charset="-120"/>
              </a:rPr>
              <a:t>Nihat Rzayev</a:t>
            </a:r>
            <a:endParaRPr lang="en-US" sz="1150" dirty="0"/>
          </a:p>
        </p:txBody>
      </p:sp>
      <p:sp>
        <p:nvSpPr>
          <p:cNvPr id="28" name="Text 26"/>
          <p:cNvSpPr txBox="1"/>
          <p:nvPr/>
        </p:nvSpPr>
        <p:spPr>
          <a:xfrm>
            <a:off x="9400032" y="5751576"/>
            <a:ext cx="2103120" cy="201168"/>
          </a:xfrm>
          <a:prstGeom prst="rect">
            <a:avLst/>
          </a:prstGeom>
          <a:noFill/>
          <a:ln/>
        </p:spPr>
        <p:txBody>
          <a:bodyPr wrap="square" lIns="0" tIns="0" rIns="0" bIns="0" rtlCol="0" anchor="ctr"/>
          <a:lstStyle/>
          <a:p>
            <a:pPr marL="0" indent="0">
              <a:buNone/>
            </a:pPr>
            <a:r>
              <a:rPr lang="en-US" sz="950" dirty="0">
                <a:solidFill>
                  <a:srgbClr val="6F8AA3"/>
                </a:solidFill>
                <a:latin typeface="Calibri" pitchFamily="34" charset="0"/>
                <a:ea typeface="Calibri" pitchFamily="34" charset="-122"/>
                <a:cs typeface="Calibri" pitchFamily="34" charset="-120"/>
              </a:rPr>
              <a:t>Results</a:t>
            </a:r>
            <a:endParaRPr lang="en-US" sz="950" dirty="0"/>
          </a:p>
        </p:txBody>
      </p:sp>
      <p:pic>
        <p:nvPicPr>
          <p:cNvPr id="29" name="Image 0" descr="/home/claude/assets/qr_light.png"/>
          <p:cNvPicPr>
            <a:picLocks noChangeAspect="1"/>
          </p:cNvPicPr>
          <p:nvPr/>
        </p:nvPicPr>
        <p:blipFill>
          <a:blip r:embed="rId3"/>
          <a:stretch>
            <a:fillRect/>
          </a:stretch>
        </p:blipFill>
        <p:spPr>
          <a:xfrm>
            <a:off x="10012680" y="1170432"/>
            <a:ext cx="1463040" cy="1463040"/>
          </a:xfrm>
          <a:prstGeom prst="rect">
            <a:avLst/>
          </a:prstGeom>
        </p:spPr>
      </p:pic>
      <p:sp>
        <p:nvSpPr>
          <p:cNvPr id="30" name="Text 27"/>
          <p:cNvSpPr txBox="1"/>
          <p:nvPr/>
        </p:nvSpPr>
        <p:spPr>
          <a:xfrm>
            <a:off x="9464040" y="2706624"/>
            <a:ext cx="2194560" cy="457200"/>
          </a:xfrm>
          <a:prstGeom prst="rect">
            <a:avLst/>
          </a:prstGeom>
          <a:noFill/>
          <a:ln/>
        </p:spPr>
        <p:txBody>
          <a:bodyPr wrap="square" lIns="0" tIns="0" rIns="0" bIns="0" rtlCol="0" anchor="ctr"/>
          <a:lstStyle/>
          <a:p>
            <a:pPr marL="0" indent="0" algn="ctr">
              <a:buNone/>
            </a:pPr>
            <a:r>
              <a:rPr lang="en-US" sz="850" dirty="0">
                <a:solidFill>
                  <a:srgbClr val="7E93A8"/>
                </a:solidFill>
                <a:latin typeface="Courier New" pitchFamily="34" charset="0"/>
                <a:ea typeface="Courier New" pitchFamily="34" charset="-122"/>
                <a:cs typeface="Courier New" pitchFamily="34" charset="-120"/>
              </a:rPr>
              <a:t>github.com/IBRAHIM102005/</a:t>
            </a:r>
            <a:endParaRPr lang="en-US" sz="850" dirty="0"/>
          </a:p>
          <a:p>
            <a:pPr marL="0" indent="0" algn="ctr">
              <a:buNone/>
            </a:pPr>
            <a:r>
              <a:rPr lang="en-US" sz="850" dirty="0">
                <a:solidFill>
                  <a:srgbClr val="7E93A8"/>
                </a:solidFill>
                <a:latin typeface="Courier New" pitchFamily="34" charset="0"/>
                <a:ea typeface="Courier New" pitchFamily="34" charset="-122"/>
                <a:cs typeface="Courier New" pitchFamily="34" charset="-120"/>
              </a:rPr>
              <a:t>azerbaijani-pe-research</a:t>
            </a:r>
            <a:endParaRPr lang="en-US" sz="850" dirty="0"/>
          </a:p>
        </p:txBody>
      </p:sp>
      <p:sp>
        <p:nvSpPr>
          <p:cNvPr id="31" name="Text 28"/>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7E93A8"/>
                </a:solidFill>
                <a:latin typeface="Calibri" pitchFamily="34" charset="0"/>
                <a:ea typeface="Calibri" pitchFamily="34" charset="-122"/>
                <a:cs typeface="Calibri" pitchFamily="34" charset="-120"/>
              </a:rPr>
              <a:t>Ibrahim Mammadov  ·  IBRAHIM102005</a:t>
            </a:r>
            <a:endParaRPr lang="en-US" sz="950" dirty="0"/>
          </a:p>
        </p:txBody>
      </p:sp>
      <p:sp>
        <p:nvSpPr>
          <p:cNvPr id="32" name="Text 29"/>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9FB3C6"/>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01  /  DATA FOUNDATION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Problem nədir və niyə mövqe məlumatı vacibdir?</a:t>
            </a:r>
            <a:endParaRPr lang="en-US" sz="2500" dirty="0"/>
          </a:p>
        </p:txBody>
      </p:sp>
      <p:sp>
        <p:nvSpPr>
          <p:cNvPr id="4" name="Text 2"/>
          <p:cNvSpPr txBox="1"/>
          <p:nvPr/>
        </p:nvSpPr>
        <p:spPr>
          <a:xfrm>
            <a:off x="548640" y="1207008"/>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EYNİ SÖZLƏR  ·  FƏRQLİ ARDICILLIQ  ·  FƏRQLİ MƏNA</a:t>
            </a:r>
            <a:endParaRPr lang="en-US" sz="1050" dirty="0"/>
          </a:p>
        </p:txBody>
      </p:sp>
      <p:sp>
        <p:nvSpPr>
          <p:cNvPr id="5" name="Shape 3"/>
          <p:cNvSpPr/>
          <p:nvPr/>
        </p:nvSpPr>
        <p:spPr>
          <a:xfrm>
            <a:off x="548640" y="1536192"/>
            <a:ext cx="1325880" cy="475488"/>
          </a:xfrm>
          <a:prstGeom prst="rect">
            <a:avLst/>
          </a:prstGeom>
          <a:solidFill>
            <a:srgbClr val="EAF0F4"/>
          </a:solidFill>
          <a:ln w="15875">
            <a:solidFill>
              <a:srgbClr val="B9C7D3"/>
            </a:solidFill>
            <a:prstDash val="solid"/>
          </a:ln>
        </p:spPr>
      </p:sp>
      <p:sp>
        <p:nvSpPr>
          <p:cNvPr id="6" name="Text 4"/>
          <p:cNvSpPr txBox="1"/>
          <p:nvPr/>
        </p:nvSpPr>
        <p:spPr>
          <a:xfrm>
            <a:off x="548640" y="1536192"/>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İt</a:t>
            </a:r>
            <a:endParaRPr lang="en-US" sz="1400" dirty="0"/>
          </a:p>
        </p:txBody>
      </p:sp>
      <p:sp>
        <p:nvSpPr>
          <p:cNvPr id="7" name="Text 5"/>
          <p:cNvSpPr txBox="1"/>
          <p:nvPr/>
        </p:nvSpPr>
        <p:spPr>
          <a:xfrm>
            <a:off x="548640" y="2029968"/>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0</a:t>
            </a:r>
            <a:endParaRPr lang="en-US" sz="850" dirty="0"/>
          </a:p>
        </p:txBody>
      </p:sp>
      <p:sp>
        <p:nvSpPr>
          <p:cNvPr id="8" name="Shape 6"/>
          <p:cNvSpPr/>
          <p:nvPr/>
        </p:nvSpPr>
        <p:spPr>
          <a:xfrm>
            <a:off x="1993392" y="1536192"/>
            <a:ext cx="1325880" cy="475488"/>
          </a:xfrm>
          <a:prstGeom prst="rect">
            <a:avLst/>
          </a:prstGeom>
          <a:solidFill>
            <a:srgbClr val="EAF0F4"/>
          </a:solidFill>
          <a:ln w="15875">
            <a:solidFill>
              <a:srgbClr val="B9C7D3"/>
            </a:solidFill>
            <a:prstDash val="solid"/>
          </a:ln>
        </p:spPr>
      </p:sp>
      <p:sp>
        <p:nvSpPr>
          <p:cNvPr id="9" name="Text 7"/>
          <p:cNvSpPr txBox="1"/>
          <p:nvPr/>
        </p:nvSpPr>
        <p:spPr>
          <a:xfrm>
            <a:off x="1993392" y="1536192"/>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adamı</a:t>
            </a:r>
            <a:endParaRPr lang="en-US" sz="1400" dirty="0"/>
          </a:p>
        </p:txBody>
      </p:sp>
      <p:sp>
        <p:nvSpPr>
          <p:cNvPr id="10" name="Text 8"/>
          <p:cNvSpPr txBox="1"/>
          <p:nvPr/>
        </p:nvSpPr>
        <p:spPr>
          <a:xfrm>
            <a:off x="1993392" y="2029968"/>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1</a:t>
            </a:r>
            <a:endParaRPr lang="en-US" sz="850" dirty="0"/>
          </a:p>
        </p:txBody>
      </p:sp>
      <p:sp>
        <p:nvSpPr>
          <p:cNvPr id="11" name="Shape 9"/>
          <p:cNvSpPr/>
          <p:nvPr/>
        </p:nvSpPr>
        <p:spPr>
          <a:xfrm>
            <a:off x="3438144" y="1536192"/>
            <a:ext cx="1325880" cy="475488"/>
          </a:xfrm>
          <a:prstGeom prst="rect">
            <a:avLst/>
          </a:prstGeom>
          <a:solidFill>
            <a:srgbClr val="EAF0F4"/>
          </a:solidFill>
          <a:ln w="15875">
            <a:solidFill>
              <a:srgbClr val="B9C7D3"/>
            </a:solidFill>
            <a:prstDash val="solid"/>
          </a:ln>
        </p:spPr>
      </p:sp>
      <p:sp>
        <p:nvSpPr>
          <p:cNvPr id="12" name="Text 10"/>
          <p:cNvSpPr txBox="1"/>
          <p:nvPr/>
        </p:nvSpPr>
        <p:spPr>
          <a:xfrm>
            <a:off x="3438144" y="1536192"/>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dişlədi.</a:t>
            </a:r>
            <a:endParaRPr lang="en-US" sz="1400" dirty="0"/>
          </a:p>
        </p:txBody>
      </p:sp>
      <p:sp>
        <p:nvSpPr>
          <p:cNvPr id="13" name="Text 11"/>
          <p:cNvSpPr txBox="1"/>
          <p:nvPr/>
        </p:nvSpPr>
        <p:spPr>
          <a:xfrm>
            <a:off x="3438144" y="2029968"/>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2</a:t>
            </a:r>
            <a:endParaRPr lang="en-US" sz="850" dirty="0"/>
          </a:p>
        </p:txBody>
      </p:sp>
      <p:sp>
        <p:nvSpPr>
          <p:cNvPr id="14" name="Shape 12"/>
          <p:cNvSpPr/>
          <p:nvPr/>
        </p:nvSpPr>
        <p:spPr>
          <a:xfrm>
            <a:off x="548640" y="2322576"/>
            <a:ext cx="1325880" cy="475488"/>
          </a:xfrm>
          <a:prstGeom prst="rect">
            <a:avLst/>
          </a:prstGeom>
          <a:solidFill>
            <a:srgbClr val="FFFFFF"/>
          </a:solidFill>
          <a:ln w="15875">
            <a:solidFill>
              <a:srgbClr val="B9C7D3"/>
            </a:solidFill>
            <a:prstDash val="solid"/>
          </a:ln>
        </p:spPr>
      </p:sp>
      <p:sp>
        <p:nvSpPr>
          <p:cNvPr id="15" name="Text 13"/>
          <p:cNvSpPr txBox="1"/>
          <p:nvPr/>
        </p:nvSpPr>
        <p:spPr>
          <a:xfrm>
            <a:off x="548640" y="2322576"/>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Adam</a:t>
            </a:r>
            <a:endParaRPr lang="en-US" sz="1400" dirty="0"/>
          </a:p>
        </p:txBody>
      </p:sp>
      <p:sp>
        <p:nvSpPr>
          <p:cNvPr id="16" name="Text 14"/>
          <p:cNvSpPr txBox="1"/>
          <p:nvPr/>
        </p:nvSpPr>
        <p:spPr>
          <a:xfrm>
            <a:off x="548640" y="2816352"/>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0</a:t>
            </a:r>
            <a:endParaRPr lang="en-US" sz="850" dirty="0"/>
          </a:p>
        </p:txBody>
      </p:sp>
      <p:sp>
        <p:nvSpPr>
          <p:cNvPr id="17" name="Shape 15"/>
          <p:cNvSpPr/>
          <p:nvPr/>
        </p:nvSpPr>
        <p:spPr>
          <a:xfrm>
            <a:off x="1993392" y="2322576"/>
            <a:ext cx="1325880" cy="475488"/>
          </a:xfrm>
          <a:prstGeom prst="rect">
            <a:avLst/>
          </a:prstGeom>
          <a:solidFill>
            <a:srgbClr val="FFFFFF"/>
          </a:solidFill>
          <a:ln w="15875">
            <a:solidFill>
              <a:srgbClr val="B9C7D3"/>
            </a:solidFill>
            <a:prstDash val="solid"/>
          </a:ln>
        </p:spPr>
      </p:sp>
      <p:sp>
        <p:nvSpPr>
          <p:cNvPr id="18" name="Text 16"/>
          <p:cNvSpPr txBox="1"/>
          <p:nvPr/>
        </p:nvSpPr>
        <p:spPr>
          <a:xfrm>
            <a:off x="1993392" y="2322576"/>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iti</a:t>
            </a:r>
            <a:endParaRPr lang="en-US" sz="1400" dirty="0"/>
          </a:p>
        </p:txBody>
      </p:sp>
      <p:sp>
        <p:nvSpPr>
          <p:cNvPr id="19" name="Text 17"/>
          <p:cNvSpPr txBox="1"/>
          <p:nvPr/>
        </p:nvSpPr>
        <p:spPr>
          <a:xfrm>
            <a:off x="1993392" y="2816352"/>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1</a:t>
            </a:r>
            <a:endParaRPr lang="en-US" sz="850" dirty="0"/>
          </a:p>
        </p:txBody>
      </p:sp>
      <p:sp>
        <p:nvSpPr>
          <p:cNvPr id="20" name="Shape 18"/>
          <p:cNvSpPr/>
          <p:nvPr/>
        </p:nvSpPr>
        <p:spPr>
          <a:xfrm>
            <a:off x="3438144" y="2322576"/>
            <a:ext cx="1325880" cy="475488"/>
          </a:xfrm>
          <a:prstGeom prst="rect">
            <a:avLst/>
          </a:prstGeom>
          <a:solidFill>
            <a:srgbClr val="FFFFFF"/>
          </a:solidFill>
          <a:ln w="15875">
            <a:solidFill>
              <a:srgbClr val="B9C7D3"/>
            </a:solidFill>
            <a:prstDash val="solid"/>
          </a:ln>
        </p:spPr>
      </p:sp>
      <p:sp>
        <p:nvSpPr>
          <p:cNvPr id="21" name="Text 19"/>
          <p:cNvSpPr txBox="1"/>
          <p:nvPr/>
        </p:nvSpPr>
        <p:spPr>
          <a:xfrm>
            <a:off x="3438144" y="2322576"/>
            <a:ext cx="1325880" cy="475488"/>
          </a:xfrm>
          <a:prstGeom prst="rect">
            <a:avLst/>
          </a:prstGeom>
          <a:noFill/>
          <a:ln/>
        </p:spPr>
        <p:txBody>
          <a:bodyPr wrap="square" lIns="0" tIns="0" rIns="0" bIns="0" rtlCol="0" anchor="ctr"/>
          <a:lstStyle/>
          <a:p>
            <a:pPr marL="0" indent="0" algn="ctr">
              <a:buNone/>
            </a:pPr>
            <a:r>
              <a:rPr lang="en-US" sz="1400" b="1" dirty="0">
                <a:solidFill>
                  <a:srgbClr val="0E2438"/>
                </a:solidFill>
                <a:latin typeface="Calibri" pitchFamily="34" charset="0"/>
                <a:ea typeface="Calibri" pitchFamily="34" charset="-122"/>
                <a:cs typeface="Calibri" pitchFamily="34" charset="-120"/>
              </a:rPr>
              <a:t>dişlədi.</a:t>
            </a:r>
            <a:endParaRPr lang="en-US" sz="1400" dirty="0"/>
          </a:p>
        </p:txBody>
      </p:sp>
      <p:sp>
        <p:nvSpPr>
          <p:cNvPr id="22" name="Text 20"/>
          <p:cNvSpPr txBox="1"/>
          <p:nvPr/>
        </p:nvSpPr>
        <p:spPr>
          <a:xfrm>
            <a:off x="3438144" y="2816352"/>
            <a:ext cx="1325880" cy="182880"/>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mövqe 2</a:t>
            </a:r>
            <a:endParaRPr lang="en-US" sz="850" dirty="0"/>
          </a:p>
        </p:txBody>
      </p:sp>
      <p:sp>
        <p:nvSpPr>
          <p:cNvPr id="23" name="Text 21"/>
          <p:cNvSpPr txBox="1"/>
          <p:nvPr/>
        </p:nvSpPr>
        <p:spPr>
          <a:xfrm>
            <a:off x="548640" y="3163824"/>
            <a:ext cx="5394960" cy="457200"/>
          </a:xfrm>
          <a:prstGeom prst="rect">
            <a:avLst/>
          </a:prstGeom>
          <a:noFill/>
          <a:ln/>
        </p:spPr>
        <p:txBody>
          <a:bodyPr wrap="square" lIns="0" tIns="0" rIns="0" bIns="0" rtlCol="0" anchor="ctr"/>
          <a:lstStyle/>
          <a:p>
            <a:pPr marL="0" indent="0">
              <a:buNone/>
            </a:pPr>
            <a:r>
              <a:rPr lang="en-US" sz="1200" dirty="0">
                <a:solidFill>
                  <a:srgbClr val="5F7082"/>
                </a:solidFill>
                <a:latin typeface="Calibri" pitchFamily="34" charset="0"/>
                <a:ea typeface="Calibri" pitchFamily="34" charset="-122"/>
                <a:cs typeface="Calibri" pitchFamily="34" charset="-120"/>
              </a:rPr>
              <a:t>Token dəsti eynidir — dəyişən yalnız mövqedir; buna baxmayaraq kim kimi dişlədiyi tamamilə fərqlidir.</a:t>
            </a:r>
            <a:endParaRPr lang="en-US" sz="1200" dirty="0"/>
          </a:p>
        </p:txBody>
      </p:sp>
      <p:sp>
        <p:nvSpPr>
          <p:cNvPr id="24" name="Text 22"/>
          <p:cNvSpPr txBox="1"/>
          <p:nvPr/>
        </p:nvSpPr>
        <p:spPr>
          <a:xfrm>
            <a:off x="6309360" y="1207008"/>
            <a:ext cx="530352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AQLÜTİNATİV MORFOLOGİYA  ·  SUFFİKS ZƏNCİRİ</a:t>
            </a:r>
            <a:endParaRPr lang="en-US" sz="1050" dirty="0"/>
          </a:p>
        </p:txBody>
      </p:sp>
      <p:sp>
        <p:nvSpPr>
          <p:cNvPr id="25" name="Shape 23"/>
          <p:cNvSpPr/>
          <p:nvPr/>
        </p:nvSpPr>
        <p:spPr>
          <a:xfrm>
            <a:off x="6309360" y="1536192"/>
            <a:ext cx="749808" cy="310896"/>
          </a:xfrm>
          <a:prstGeom prst="rect">
            <a:avLst/>
          </a:prstGeom>
          <a:solidFill>
            <a:srgbClr val="EAF0F4"/>
          </a:solidFill>
          <a:ln w="12700">
            <a:solidFill>
              <a:srgbClr val="B9C7D3"/>
            </a:solidFill>
            <a:prstDash val="solid"/>
          </a:ln>
        </p:spPr>
      </p:sp>
      <p:sp>
        <p:nvSpPr>
          <p:cNvPr id="26" name="Text 24"/>
          <p:cNvSpPr txBox="1"/>
          <p:nvPr/>
        </p:nvSpPr>
        <p:spPr>
          <a:xfrm>
            <a:off x="6309360" y="1536192"/>
            <a:ext cx="749808" cy="310896"/>
          </a:xfrm>
          <a:prstGeom prst="rect">
            <a:avLst/>
          </a:prstGeom>
          <a:noFill/>
          <a:ln/>
        </p:spPr>
        <p:txBody>
          <a:bodyPr wrap="square" lIns="0" tIns="0" rIns="0" bIns="0" rtlCol="0" anchor="ctr"/>
          <a:lstStyle/>
          <a:p>
            <a:pPr marL="0" indent="0" algn="ctr">
              <a:buNone/>
            </a:pPr>
            <a:r>
              <a:rPr lang="en-US" sz="1250" b="1" dirty="0">
                <a:solidFill>
                  <a:srgbClr val="0E2438"/>
                </a:solidFill>
                <a:latin typeface="Calibri" pitchFamily="34" charset="0"/>
                <a:ea typeface="Calibri" pitchFamily="34" charset="-122"/>
                <a:cs typeface="Calibri" pitchFamily="34" charset="-120"/>
              </a:rPr>
              <a:t>ev</a:t>
            </a:r>
            <a:endParaRPr lang="en-US" sz="1250" dirty="0"/>
          </a:p>
        </p:txBody>
      </p:sp>
      <p:sp>
        <p:nvSpPr>
          <p:cNvPr id="27" name="Shape 25"/>
          <p:cNvSpPr/>
          <p:nvPr/>
        </p:nvSpPr>
        <p:spPr>
          <a:xfrm>
            <a:off x="6309360" y="1920240"/>
            <a:ext cx="749808" cy="310896"/>
          </a:xfrm>
          <a:prstGeom prst="rect">
            <a:avLst/>
          </a:prstGeom>
          <a:solidFill>
            <a:srgbClr val="EAF0F4"/>
          </a:solidFill>
          <a:ln w="12700">
            <a:solidFill>
              <a:srgbClr val="B9C7D3"/>
            </a:solidFill>
            <a:prstDash val="solid"/>
          </a:ln>
        </p:spPr>
      </p:sp>
      <p:sp>
        <p:nvSpPr>
          <p:cNvPr id="28" name="Text 26"/>
          <p:cNvSpPr txBox="1"/>
          <p:nvPr/>
        </p:nvSpPr>
        <p:spPr>
          <a:xfrm>
            <a:off x="6309360" y="1920240"/>
            <a:ext cx="749808" cy="310896"/>
          </a:xfrm>
          <a:prstGeom prst="rect">
            <a:avLst/>
          </a:prstGeom>
          <a:noFill/>
          <a:ln/>
        </p:spPr>
        <p:txBody>
          <a:bodyPr wrap="square" lIns="0" tIns="0" rIns="0" bIns="0" rtlCol="0" anchor="ctr"/>
          <a:lstStyle/>
          <a:p>
            <a:pPr marL="0" indent="0" algn="ctr">
              <a:buNone/>
            </a:pPr>
            <a:r>
              <a:rPr lang="en-US" sz="1250" b="1" dirty="0">
                <a:solidFill>
                  <a:srgbClr val="0E2438"/>
                </a:solidFill>
                <a:latin typeface="Calibri" pitchFamily="34" charset="0"/>
                <a:ea typeface="Calibri" pitchFamily="34" charset="-122"/>
                <a:cs typeface="Calibri" pitchFamily="34" charset="-120"/>
              </a:rPr>
              <a:t>ev</a:t>
            </a:r>
            <a:endParaRPr lang="en-US" sz="1250" dirty="0"/>
          </a:p>
        </p:txBody>
      </p:sp>
      <p:sp>
        <p:nvSpPr>
          <p:cNvPr id="29" name="Shape 27"/>
          <p:cNvSpPr/>
          <p:nvPr/>
        </p:nvSpPr>
        <p:spPr>
          <a:xfrm>
            <a:off x="7095744" y="1920240"/>
            <a:ext cx="882396" cy="310896"/>
          </a:xfrm>
          <a:prstGeom prst="rect">
            <a:avLst/>
          </a:prstGeom>
          <a:solidFill>
            <a:srgbClr val="FFFFFF"/>
          </a:solidFill>
          <a:ln w="13970">
            <a:solidFill>
              <a:srgbClr val="009E73"/>
            </a:solidFill>
            <a:prstDash val="solid"/>
          </a:ln>
        </p:spPr>
      </p:sp>
      <p:sp>
        <p:nvSpPr>
          <p:cNvPr id="30" name="Text 28"/>
          <p:cNvSpPr txBox="1"/>
          <p:nvPr/>
        </p:nvSpPr>
        <p:spPr>
          <a:xfrm>
            <a:off x="7095744" y="1920240"/>
            <a:ext cx="882396" cy="310896"/>
          </a:xfrm>
          <a:prstGeom prst="rect">
            <a:avLst/>
          </a:prstGeom>
          <a:noFill/>
          <a:ln/>
        </p:spPr>
        <p:txBody>
          <a:bodyPr wrap="square" lIns="0" tIns="0" rIns="0" bIns="0" rtlCol="0" anchor="ctr"/>
          <a:lstStyle/>
          <a:p>
            <a:pPr marL="0" indent="0" algn="ctr">
              <a:buNone/>
            </a:pPr>
            <a:r>
              <a:rPr lang="en-US" sz="1200" dirty="0">
                <a:solidFill>
                  <a:srgbClr val="0B6B50"/>
                </a:solidFill>
                <a:latin typeface="Calibri" pitchFamily="34" charset="0"/>
                <a:ea typeface="Calibri" pitchFamily="34" charset="-122"/>
                <a:cs typeface="Calibri" pitchFamily="34" charset="-120"/>
              </a:rPr>
              <a:t>lər</a:t>
            </a:r>
            <a:endParaRPr lang="en-US" sz="1200" dirty="0"/>
          </a:p>
        </p:txBody>
      </p:sp>
      <p:sp>
        <p:nvSpPr>
          <p:cNvPr id="31" name="Shape 29"/>
          <p:cNvSpPr/>
          <p:nvPr/>
        </p:nvSpPr>
        <p:spPr>
          <a:xfrm>
            <a:off x="6309360" y="2304288"/>
            <a:ext cx="749808" cy="310896"/>
          </a:xfrm>
          <a:prstGeom prst="rect">
            <a:avLst/>
          </a:prstGeom>
          <a:solidFill>
            <a:srgbClr val="EAF0F4"/>
          </a:solidFill>
          <a:ln w="12700">
            <a:solidFill>
              <a:srgbClr val="B9C7D3"/>
            </a:solidFill>
            <a:prstDash val="solid"/>
          </a:ln>
        </p:spPr>
      </p:sp>
      <p:sp>
        <p:nvSpPr>
          <p:cNvPr id="32" name="Text 30"/>
          <p:cNvSpPr txBox="1"/>
          <p:nvPr/>
        </p:nvSpPr>
        <p:spPr>
          <a:xfrm>
            <a:off x="6309360" y="2304288"/>
            <a:ext cx="749808" cy="310896"/>
          </a:xfrm>
          <a:prstGeom prst="rect">
            <a:avLst/>
          </a:prstGeom>
          <a:noFill/>
          <a:ln/>
        </p:spPr>
        <p:txBody>
          <a:bodyPr wrap="square" lIns="0" tIns="0" rIns="0" bIns="0" rtlCol="0" anchor="ctr"/>
          <a:lstStyle/>
          <a:p>
            <a:pPr marL="0" indent="0" algn="ctr">
              <a:buNone/>
            </a:pPr>
            <a:r>
              <a:rPr lang="en-US" sz="1250" b="1" dirty="0">
                <a:solidFill>
                  <a:srgbClr val="0E2438"/>
                </a:solidFill>
                <a:latin typeface="Calibri" pitchFamily="34" charset="0"/>
                <a:ea typeface="Calibri" pitchFamily="34" charset="-122"/>
                <a:cs typeface="Calibri" pitchFamily="34" charset="-120"/>
              </a:rPr>
              <a:t>ev</a:t>
            </a:r>
            <a:endParaRPr lang="en-US" sz="1250" dirty="0"/>
          </a:p>
        </p:txBody>
      </p:sp>
      <p:sp>
        <p:nvSpPr>
          <p:cNvPr id="33" name="Shape 31"/>
          <p:cNvSpPr/>
          <p:nvPr/>
        </p:nvSpPr>
        <p:spPr>
          <a:xfrm>
            <a:off x="7095744" y="2304288"/>
            <a:ext cx="1408176" cy="310896"/>
          </a:xfrm>
          <a:prstGeom prst="rect">
            <a:avLst/>
          </a:prstGeom>
          <a:solidFill>
            <a:srgbClr val="FFFFFF"/>
          </a:solidFill>
          <a:ln w="13970">
            <a:solidFill>
              <a:srgbClr val="009E73"/>
            </a:solidFill>
            <a:prstDash val="solid"/>
          </a:ln>
        </p:spPr>
      </p:sp>
      <p:sp>
        <p:nvSpPr>
          <p:cNvPr id="34" name="Text 32"/>
          <p:cNvSpPr txBox="1"/>
          <p:nvPr/>
        </p:nvSpPr>
        <p:spPr>
          <a:xfrm>
            <a:off x="7095744" y="2304288"/>
            <a:ext cx="1408176" cy="310896"/>
          </a:xfrm>
          <a:prstGeom prst="rect">
            <a:avLst/>
          </a:prstGeom>
          <a:noFill/>
          <a:ln/>
        </p:spPr>
        <p:txBody>
          <a:bodyPr wrap="square" lIns="0" tIns="0" rIns="0" bIns="0" rtlCol="0" anchor="ctr"/>
          <a:lstStyle/>
          <a:p>
            <a:pPr marL="0" indent="0" algn="ctr">
              <a:buNone/>
            </a:pPr>
            <a:r>
              <a:rPr lang="en-US" sz="1200" dirty="0">
                <a:solidFill>
                  <a:srgbClr val="0B6B50"/>
                </a:solidFill>
                <a:latin typeface="Calibri" pitchFamily="34" charset="0"/>
                <a:ea typeface="Calibri" pitchFamily="34" charset="-122"/>
                <a:cs typeface="Calibri" pitchFamily="34" charset="-120"/>
              </a:rPr>
              <a:t>lər+imiz</a:t>
            </a:r>
            <a:endParaRPr lang="en-US" sz="1200" dirty="0"/>
          </a:p>
        </p:txBody>
      </p:sp>
      <p:sp>
        <p:nvSpPr>
          <p:cNvPr id="35" name="Shape 33"/>
          <p:cNvSpPr/>
          <p:nvPr/>
        </p:nvSpPr>
        <p:spPr>
          <a:xfrm>
            <a:off x="6309360" y="2688336"/>
            <a:ext cx="749808" cy="310896"/>
          </a:xfrm>
          <a:prstGeom prst="rect">
            <a:avLst/>
          </a:prstGeom>
          <a:solidFill>
            <a:srgbClr val="EAF0F4"/>
          </a:solidFill>
          <a:ln w="12700">
            <a:solidFill>
              <a:srgbClr val="B9C7D3"/>
            </a:solidFill>
            <a:prstDash val="solid"/>
          </a:ln>
        </p:spPr>
      </p:sp>
      <p:sp>
        <p:nvSpPr>
          <p:cNvPr id="36" name="Text 34"/>
          <p:cNvSpPr txBox="1"/>
          <p:nvPr/>
        </p:nvSpPr>
        <p:spPr>
          <a:xfrm>
            <a:off x="6309360" y="2688336"/>
            <a:ext cx="749808" cy="310896"/>
          </a:xfrm>
          <a:prstGeom prst="rect">
            <a:avLst/>
          </a:prstGeom>
          <a:noFill/>
          <a:ln/>
        </p:spPr>
        <p:txBody>
          <a:bodyPr wrap="square" lIns="0" tIns="0" rIns="0" bIns="0" rtlCol="0" anchor="ctr"/>
          <a:lstStyle/>
          <a:p>
            <a:pPr marL="0" indent="0" algn="ctr">
              <a:buNone/>
            </a:pPr>
            <a:r>
              <a:rPr lang="en-US" sz="1250" b="1" dirty="0">
                <a:solidFill>
                  <a:srgbClr val="0E2438"/>
                </a:solidFill>
                <a:latin typeface="Calibri" pitchFamily="34" charset="0"/>
                <a:ea typeface="Calibri" pitchFamily="34" charset="-122"/>
                <a:cs typeface="Calibri" pitchFamily="34" charset="-120"/>
              </a:rPr>
              <a:t>ev</a:t>
            </a:r>
            <a:endParaRPr lang="en-US" sz="1250" dirty="0"/>
          </a:p>
        </p:txBody>
      </p:sp>
      <p:sp>
        <p:nvSpPr>
          <p:cNvPr id="37" name="Shape 35"/>
          <p:cNvSpPr/>
          <p:nvPr/>
        </p:nvSpPr>
        <p:spPr>
          <a:xfrm>
            <a:off x="7095744" y="2688336"/>
            <a:ext cx="1723644" cy="310896"/>
          </a:xfrm>
          <a:prstGeom prst="rect">
            <a:avLst/>
          </a:prstGeom>
          <a:solidFill>
            <a:srgbClr val="FFFFFF"/>
          </a:solidFill>
          <a:ln w="13970">
            <a:solidFill>
              <a:srgbClr val="009E73"/>
            </a:solidFill>
            <a:prstDash val="solid"/>
          </a:ln>
        </p:spPr>
      </p:sp>
      <p:sp>
        <p:nvSpPr>
          <p:cNvPr id="38" name="Text 36"/>
          <p:cNvSpPr txBox="1"/>
          <p:nvPr/>
        </p:nvSpPr>
        <p:spPr>
          <a:xfrm>
            <a:off x="7095744" y="2688336"/>
            <a:ext cx="1723644" cy="310896"/>
          </a:xfrm>
          <a:prstGeom prst="rect">
            <a:avLst/>
          </a:prstGeom>
          <a:noFill/>
          <a:ln/>
        </p:spPr>
        <p:txBody>
          <a:bodyPr wrap="square" lIns="0" tIns="0" rIns="0" bIns="0" rtlCol="0" anchor="ctr"/>
          <a:lstStyle/>
          <a:p>
            <a:pPr marL="0" indent="0" algn="ctr">
              <a:buNone/>
            </a:pPr>
            <a:r>
              <a:rPr lang="en-US" sz="1200" dirty="0">
                <a:solidFill>
                  <a:srgbClr val="0B6B50"/>
                </a:solidFill>
                <a:latin typeface="Calibri" pitchFamily="34" charset="0"/>
                <a:ea typeface="Calibri" pitchFamily="34" charset="-122"/>
                <a:cs typeface="Calibri" pitchFamily="34" charset="-120"/>
              </a:rPr>
              <a:t>lər+imiz+də</a:t>
            </a:r>
            <a:endParaRPr lang="en-US" sz="1200" dirty="0"/>
          </a:p>
        </p:txBody>
      </p:sp>
      <p:sp>
        <p:nvSpPr>
          <p:cNvPr id="39" name="Shape 37"/>
          <p:cNvSpPr/>
          <p:nvPr/>
        </p:nvSpPr>
        <p:spPr>
          <a:xfrm>
            <a:off x="6309360" y="3072384"/>
            <a:ext cx="749808" cy="310896"/>
          </a:xfrm>
          <a:prstGeom prst="rect">
            <a:avLst/>
          </a:prstGeom>
          <a:solidFill>
            <a:srgbClr val="EAF0F4"/>
          </a:solidFill>
          <a:ln w="12700">
            <a:solidFill>
              <a:srgbClr val="B9C7D3"/>
            </a:solidFill>
            <a:prstDash val="solid"/>
          </a:ln>
        </p:spPr>
      </p:sp>
      <p:sp>
        <p:nvSpPr>
          <p:cNvPr id="40" name="Text 38"/>
          <p:cNvSpPr txBox="1"/>
          <p:nvPr/>
        </p:nvSpPr>
        <p:spPr>
          <a:xfrm>
            <a:off x="6309360" y="3072384"/>
            <a:ext cx="749808" cy="310896"/>
          </a:xfrm>
          <a:prstGeom prst="rect">
            <a:avLst/>
          </a:prstGeom>
          <a:noFill/>
          <a:ln/>
        </p:spPr>
        <p:txBody>
          <a:bodyPr wrap="square" lIns="0" tIns="0" rIns="0" bIns="0" rtlCol="0" anchor="ctr"/>
          <a:lstStyle/>
          <a:p>
            <a:pPr marL="0" indent="0" algn="ctr">
              <a:buNone/>
            </a:pPr>
            <a:r>
              <a:rPr lang="en-US" sz="1250" b="1" dirty="0">
                <a:solidFill>
                  <a:srgbClr val="0E2438"/>
                </a:solidFill>
                <a:latin typeface="Calibri" pitchFamily="34" charset="0"/>
                <a:ea typeface="Calibri" pitchFamily="34" charset="-122"/>
                <a:cs typeface="Calibri" pitchFamily="34" charset="-120"/>
              </a:rPr>
              <a:t>ev</a:t>
            </a:r>
            <a:endParaRPr lang="en-US" sz="1250" dirty="0"/>
          </a:p>
        </p:txBody>
      </p:sp>
      <p:sp>
        <p:nvSpPr>
          <p:cNvPr id="41" name="Shape 39"/>
          <p:cNvSpPr/>
          <p:nvPr/>
        </p:nvSpPr>
        <p:spPr>
          <a:xfrm>
            <a:off x="7095744" y="3072384"/>
            <a:ext cx="2880360" cy="310896"/>
          </a:xfrm>
          <a:prstGeom prst="rect">
            <a:avLst/>
          </a:prstGeom>
          <a:solidFill>
            <a:srgbClr val="FFFFFF"/>
          </a:solidFill>
          <a:ln w="13970">
            <a:solidFill>
              <a:srgbClr val="009E73"/>
            </a:solidFill>
            <a:prstDash val="solid"/>
          </a:ln>
        </p:spPr>
      </p:sp>
      <p:sp>
        <p:nvSpPr>
          <p:cNvPr id="42" name="Text 40"/>
          <p:cNvSpPr txBox="1"/>
          <p:nvPr/>
        </p:nvSpPr>
        <p:spPr>
          <a:xfrm>
            <a:off x="7095744" y="3072384"/>
            <a:ext cx="2880360" cy="310896"/>
          </a:xfrm>
          <a:prstGeom prst="rect">
            <a:avLst/>
          </a:prstGeom>
          <a:noFill/>
          <a:ln/>
        </p:spPr>
        <p:txBody>
          <a:bodyPr wrap="square" lIns="0" tIns="0" rIns="0" bIns="0" rtlCol="0" anchor="ctr"/>
          <a:lstStyle/>
          <a:p>
            <a:pPr marL="0" indent="0" algn="ctr">
              <a:buNone/>
            </a:pPr>
            <a:r>
              <a:rPr lang="en-US" sz="1200" dirty="0">
                <a:solidFill>
                  <a:srgbClr val="0B6B50"/>
                </a:solidFill>
                <a:latin typeface="Calibri" pitchFamily="34" charset="0"/>
                <a:ea typeface="Calibri" pitchFamily="34" charset="-122"/>
                <a:cs typeface="Calibri" pitchFamily="34" charset="-120"/>
              </a:rPr>
              <a:t>lər+imiz+də+ki+lər+dən</a:t>
            </a:r>
            <a:endParaRPr lang="en-US" sz="1200" dirty="0"/>
          </a:p>
        </p:txBody>
      </p:sp>
      <p:sp>
        <p:nvSpPr>
          <p:cNvPr id="43" name="Text 41"/>
          <p:cNvSpPr txBox="1"/>
          <p:nvPr/>
        </p:nvSpPr>
        <p:spPr>
          <a:xfrm>
            <a:off x="6309360" y="3529584"/>
            <a:ext cx="5257800" cy="502920"/>
          </a:xfrm>
          <a:prstGeom prst="rect">
            <a:avLst/>
          </a:prstGeom>
          <a:noFill/>
          <a:ln/>
        </p:spPr>
        <p:txBody>
          <a:bodyPr wrap="square" lIns="0" tIns="0" rIns="0" bIns="0" rtlCol="0" anchor="ctr"/>
          <a:lstStyle/>
          <a:p>
            <a:pPr marL="0" indent="0">
              <a:buNone/>
            </a:pPr>
            <a:r>
              <a:rPr lang="en-US" sz="1200" dirty="0">
                <a:solidFill>
                  <a:srgbClr val="5F7082"/>
                </a:solidFill>
                <a:latin typeface="Calibri" pitchFamily="34" charset="0"/>
                <a:ea typeface="Calibri" pitchFamily="34" charset="-122"/>
                <a:cs typeface="Calibri" pitchFamily="34" charset="-120"/>
              </a:rPr>
              <a:t>Bir kök + uzun suffiks zənciri: məna qismən suffikslərin ardıcıllığında kodlaşır. Bu, mövqe induktiv bias sualını maraqlı edir.</a:t>
            </a:r>
            <a:endParaRPr lang="en-US" sz="1200" dirty="0"/>
          </a:p>
        </p:txBody>
      </p:sp>
      <p:sp>
        <p:nvSpPr>
          <p:cNvPr id="44" name="Shape 42"/>
          <p:cNvSpPr/>
          <p:nvPr/>
        </p:nvSpPr>
        <p:spPr>
          <a:xfrm>
            <a:off x="548640" y="4133088"/>
            <a:ext cx="11091672" cy="1298448"/>
          </a:xfrm>
          <a:prstGeom prst="roundRect">
            <a:avLst>
              <a:gd name="adj" fmla="val 4930"/>
            </a:avLst>
          </a:prstGeom>
          <a:solidFill>
            <a:srgbClr val="F4F7F9"/>
          </a:solidFill>
          <a:ln/>
        </p:spPr>
      </p:sp>
      <p:sp>
        <p:nvSpPr>
          <p:cNvPr id="45" name="Text 43"/>
          <p:cNvSpPr txBox="1"/>
          <p:nvPr/>
        </p:nvSpPr>
        <p:spPr>
          <a:xfrm>
            <a:off x="786384" y="4261104"/>
            <a:ext cx="548640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SELF-ATTENTION MÖVQEYİ ÖZÜ BİLMİR</a:t>
            </a:r>
            <a:endParaRPr lang="en-US" sz="1050" dirty="0"/>
          </a:p>
        </p:txBody>
      </p:sp>
      <p:sp>
        <p:nvSpPr>
          <p:cNvPr id="46" name="Shape 44"/>
          <p:cNvSpPr/>
          <p:nvPr/>
        </p:nvSpPr>
        <p:spPr>
          <a:xfrm>
            <a:off x="822960" y="4572000"/>
            <a:ext cx="1005840" cy="384048"/>
          </a:xfrm>
          <a:prstGeom prst="rect">
            <a:avLst/>
          </a:prstGeom>
          <a:solidFill>
            <a:srgbClr val="FFFFFF"/>
          </a:solidFill>
          <a:ln w="15240">
            <a:solidFill>
              <a:srgbClr val="B9C7D3"/>
            </a:solidFill>
            <a:prstDash val="solid"/>
          </a:ln>
        </p:spPr>
      </p:sp>
      <p:sp>
        <p:nvSpPr>
          <p:cNvPr id="47" name="Text 45"/>
          <p:cNvSpPr txBox="1"/>
          <p:nvPr/>
        </p:nvSpPr>
        <p:spPr>
          <a:xfrm>
            <a:off x="822960" y="4572000"/>
            <a:ext cx="1005840"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alibri" pitchFamily="34" charset="0"/>
                <a:ea typeface="Calibri" pitchFamily="34" charset="-122"/>
                <a:cs typeface="Calibri" pitchFamily="34" charset="-120"/>
              </a:rPr>
              <a:t>Adam</a:t>
            </a:r>
            <a:endParaRPr lang="en-US" sz="1150" dirty="0"/>
          </a:p>
        </p:txBody>
      </p:sp>
      <p:sp>
        <p:nvSpPr>
          <p:cNvPr id="48" name="Shape 46"/>
          <p:cNvSpPr/>
          <p:nvPr/>
        </p:nvSpPr>
        <p:spPr>
          <a:xfrm>
            <a:off x="1993392" y="4572000"/>
            <a:ext cx="1005840" cy="384048"/>
          </a:xfrm>
          <a:prstGeom prst="rect">
            <a:avLst/>
          </a:prstGeom>
          <a:solidFill>
            <a:srgbClr val="FFFFFF"/>
          </a:solidFill>
          <a:ln w="15240">
            <a:solidFill>
              <a:srgbClr val="B9C7D3"/>
            </a:solidFill>
            <a:prstDash val="solid"/>
          </a:ln>
        </p:spPr>
      </p:sp>
      <p:sp>
        <p:nvSpPr>
          <p:cNvPr id="49" name="Text 47"/>
          <p:cNvSpPr txBox="1"/>
          <p:nvPr/>
        </p:nvSpPr>
        <p:spPr>
          <a:xfrm>
            <a:off x="1993392" y="4572000"/>
            <a:ext cx="1005840"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alibri" pitchFamily="34" charset="0"/>
                <a:ea typeface="Calibri" pitchFamily="34" charset="-122"/>
                <a:cs typeface="Calibri" pitchFamily="34" charset="-120"/>
              </a:rPr>
              <a:t>iti</a:t>
            </a:r>
            <a:endParaRPr lang="en-US" sz="1150" dirty="0"/>
          </a:p>
        </p:txBody>
      </p:sp>
      <p:sp>
        <p:nvSpPr>
          <p:cNvPr id="50" name="Shape 48"/>
          <p:cNvSpPr/>
          <p:nvPr/>
        </p:nvSpPr>
        <p:spPr>
          <a:xfrm>
            <a:off x="3163824" y="4572000"/>
            <a:ext cx="1005840" cy="384048"/>
          </a:xfrm>
          <a:prstGeom prst="rect">
            <a:avLst/>
          </a:prstGeom>
          <a:solidFill>
            <a:srgbClr val="FFFFFF"/>
          </a:solidFill>
          <a:ln w="15240">
            <a:solidFill>
              <a:srgbClr val="B9C7D3"/>
            </a:solidFill>
            <a:prstDash val="solid"/>
          </a:ln>
        </p:spPr>
      </p:sp>
      <p:sp>
        <p:nvSpPr>
          <p:cNvPr id="51" name="Text 49"/>
          <p:cNvSpPr txBox="1"/>
          <p:nvPr/>
        </p:nvSpPr>
        <p:spPr>
          <a:xfrm>
            <a:off x="3163824" y="4572000"/>
            <a:ext cx="1005840"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alibri" pitchFamily="34" charset="0"/>
                <a:ea typeface="Calibri" pitchFamily="34" charset="-122"/>
                <a:cs typeface="Calibri" pitchFamily="34" charset="-120"/>
              </a:rPr>
              <a:t>dişlədi</a:t>
            </a:r>
            <a:endParaRPr lang="en-US" sz="1150" dirty="0"/>
          </a:p>
        </p:txBody>
      </p:sp>
      <p:sp>
        <p:nvSpPr>
          <p:cNvPr id="52" name="Text 50"/>
          <p:cNvSpPr txBox="1"/>
          <p:nvPr/>
        </p:nvSpPr>
        <p:spPr>
          <a:xfrm>
            <a:off x="4663440" y="4517136"/>
            <a:ext cx="3291840" cy="896112"/>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Attention hər tokeni bütün əvvəlki tokenlərlə müqayisə edir, lakin bu müqayisə özlüyündə sıra bilgisi daşımır: mövqe siqnalı ayrıca əlavə olunmalıdır.</a:t>
            </a:r>
            <a:endParaRPr lang="en-US" sz="1100" dirty="0"/>
          </a:p>
        </p:txBody>
      </p:sp>
      <p:sp>
        <p:nvSpPr>
          <p:cNvPr id="53" name="Text 51"/>
          <p:cNvSpPr txBox="1"/>
          <p:nvPr/>
        </p:nvSpPr>
        <p:spPr>
          <a:xfrm>
            <a:off x="8138160" y="4480560"/>
            <a:ext cx="3291840" cy="914400"/>
          </a:xfrm>
          <a:prstGeom prst="rect">
            <a:avLst/>
          </a:prstGeom>
          <a:noFill/>
          <a:ln/>
        </p:spPr>
        <p:txBody>
          <a:bodyPr wrap="square" lIns="0" tIns="0" rIns="0" bIns="0" rtlCol="0" anchor="ctr"/>
          <a:lstStyle/>
          <a:p>
            <a:pPr marL="0" indent="0">
              <a:lnSpc>
                <a:spcPct val="115000"/>
              </a:lnSpc>
              <a:buNone/>
            </a:pPr>
            <a:r>
              <a:rPr lang="en-US" sz="1050" dirty="0">
                <a:solidFill>
                  <a:srgbClr val="5F7082"/>
                </a:solidFill>
                <a:latin typeface="Calibri" pitchFamily="34" charset="0"/>
                <a:ea typeface="Calibri" pitchFamily="34" charset="-122"/>
                <a:cs typeface="Calibri" pitchFamily="34" charset="-120"/>
              </a:rPr>
              <a:t>→  Learned  ·  Sinusoidal  →  input</a:t>
            </a:r>
            <a:endParaRPr lang="en-US" sz="1050" dirty="0"/>
          </a:p>
          <a:p>
            <a:pPr marL="0" indent="0">
              <a:lnSpc>
                <a:spcPct val="115000"/>
              </a:lnSpc>
              <a:buNone/>
            </a:pPr>
            <a:r>
              <a:rPr lang="en-US" sz="1050" dirty="0">
                <a:solidFill>
                  <a:srgbClr val="5F7082"/>
                </a:solidFill>
                <a:latin typeface="Calibri" pitchFamily="34" charset="0"/>
                <a:ea typeface="Calibri" pitchFamily="34" charset="-122"/>
                <a:cs typeface="Calibri" pitchFamily="34" charset="-120"/>
              </a:rPr>
              <a:t>→  RoPE  →  Q/K geometriyası</a:t>
            </a:r>
            <a:endParaRPr lang="en-US" sz="1050" dirty="0"/>
          </a:p>
          <a:p>
            <a:pPr marL="0" indent="0">
              <a:lnSpc>
                <a:spcPct val="115000"/>
              </a:lnSpc>
              <a:buNone/>
            </a:pPr>
            <a:r>
              <a:rPr lang="en-US" sz="1050" dirty="0">
                <a:solidFill>
                  <a:srgbClr val="5F7082"/>
                </a:solidFill>
                <a:latin typeface="Calibri" pitchFamily="34" charset="0"/>
                <a:ea typeface="Calibri" pitchFamily="34" charset="-122"/>
                <a:cs typeface="Calibri" pitchFamily="34" charset="-120"/>
              </a:rPr>
              <a:t>→  ALiBi  →  attention score</a:t>
            </a:r>
            <a:endParaRPr lang="en-US" sz="1050" dirty="0"/>
          </a:p>
          <a:p>
            <a:pPr marL="0" indent="0">
              <a:lnSpc>
                <a:spcPct val="115000"/>
              </a:lnSpc>
              <a:buNone/>
            </a:pPr>
            <a:r>
              <a:rPr lang="en-US" sz="1050" dirty="0">
                <a:solidFill>
                  <a:srgbClr val="5F7082"/>
                </a:solidFill>
                <a:latin typeface="Calibri" pitchFamily="34" charset="0"/>
                <a:ea typeface="Calibri" pitchFamily="34" charset="-122"/>
                <a:cs typeface="Calibri" pitchFamily="34" charset="-120"/>
              </a:rPr>
              <a:t>→  NoPE  →  əlavə siqnal yoxdur</a:t>
            </a:r>
            <a:endParaRPr lang="en-US" sz="1050" dirty="0"/>
          </a:p>
        </p:txBody>
      </p:sp>
      <p:sp>
        <p:nvSpPr>
          <p:cNvPr id="54" name="Shape 52"/>
          <p:cNvSpPr/>
          <p:nvPr/>
        </p:nvSpPr>
        <p:spPr>
          <a:xfrm>
            <a:off x="548640" y="5596128"/>
            <a:ext cx="11091672" cy="512064"/>
          </a:xfrm>
          <a:prstGeom prst="roundRect">
            <a:avLst>
              <a:gd name="adj" fmla="val 12500"/>
            </a:avLst>
          </a:prstGeom>
          <a:solidFill>
            <a:srgbClr val="EAF0F4"/>
          </a:solidFill>
          <a:ln/>
        </p:spPr>
      </p:sp>
      <p:sp>
        <p:nvSpPr>
          <p:cNvPr id="55" name="Text 53"/>
          <p:cNvSpPr txBox="1"/>
          <p:nvPr/>
        </p:nvSpPr>
        <p:spPr>
          <a:xfrm>
            <a:off x="713232" y="5614416"/>
            <a:ext cx="10762488" cy="512064"/>
          </a:xfrm>
          <a:prstGeom prst="rect">
            <a:avLst/>
          </a:prstGeom>
          <a:noFill/>
          <a:ln/>
        </p:spPr>
        <p:txBody>
          <a:bodyPr wrap="square" lIns="0" tIns="0" rIns="0" bIns="0" rtlCol="0" anchor="ctr"/>
          <a:lstStyle/>
          <a:p>
            <a:pPr marL="0" indent="0">
              <a:buNone/>
            </a:pPr>
            <a:r>
              <a:rPr lang="en-US" sz="1250" b="1" dirty="0">
                <a:solidFill>
                  <a:srgbClr val="12324F"/>
                </a:solidFill>
                <a:latin typeface="Calibri" pitchFamily="34" charset="0"/>
                <a:ea typeface="Calibri" pitchFamily="34" charset="-122"/>
                <a:cs typeface="Calibri" pitchFamily="34" charset="-120"/>
              </a:rPr>
              <a:t>Əsas fikir:  </a:t>
            </a:r>
            <a:r>
              <a:rPr lang="en-US" sz="1250" dirty="0">
                <a:solidFill>
                  <a:srgbClr val="14202E"/>
                </a:solidFill>
                <a:latin typeface="Calibri" pitchFamily="34" charset="0"/>
                <a:ea typeface="Calibri" pitchFamily="34" charset="-122"/>
                <a:cs typeface="Calibri" pitchFamily="34" charset="-120"/>
              </a:rPr>
              <a:t>Tokenin kimliyi qədər onun sequence-dəki mövqeyi də vacibdir — mövqe siqnalını modelə necə verdiyimiz dizayn qərarıdır, texniki detal deyil.</a:t>
            </a:r>
            <a:endParaRPr lang="en-US" sz="1250" dirty="0"/>
          </a:p>
        </p:txBody>
      </p:sp>
      <p:sp>
        <p:nvSpPr>
          <p:cNvPr id="56" name="Text 54"/>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Ibrahim Mammadov  ·  IBRAHIM102005</a:t>
            </a:r>
            <a:endParaRPr lang="en-US" sz="950" dirty="0"/>
          </a:p>
        </p:txBody>
      </p:sp>
      <p:sp>
        <p:nvSpPr>
          <p:cNvPr id="57" name="Text 55"/>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01  /  DATA FOUNDATION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Tədqiqat sualı və nəzarətli eksperiment</a:t>
            </a:r>
            <a:endParaRPr lang="en-US" sz="2500" dirty="0"/>
          </a:p>
        </p:txBody>
      </p:sp>
      <p:sp>
        <p:nvSpPr>
          <p:cNvPr id="4" name="Shape 2"/>
          <p:cNvSpPr/>
          <p:nvPr/>
        </p:nvSpPr>
        <p:spPr>
          <a:xfrm>
            <a:off x="548640" y="1170432"/>
            <a:ext cx="11091672" cy="566928"/>
          </a:xfrm>
          <a:prstGeom prst="roundRect">
            <a:avLst>
              <a:gd name="adj" fmla="val 11290"/>
            </a:avLst>
          </a:prstGeom>
          <a:solidFill>
            <a:srgbClr val="EAF0F4"/>
          </a:solidFill>
          <a:ln/>
        </p:spPr>
      </p:sp>
      <p:sp>
        <p:nvSpPr>
          <p:cNvPr id="5" name="Text 3"/>
          <p:cNvSpPr txBox="1"/>
          <p:nvPr/>
        </p:nvSpPr>
        <p:spPr>
          <a:xfrm>
            <a:off x="749808" y="1170432"/>
            <a:ext cx="10689336" cy="566928"/>
          </a:xfrm>
          <a:prstGeom prst="rect">
            <a:avLst/>
          </a:prstGeom>
          <a:noFill/>
          <a:ln/>
        </p:spPr>
        <p:txBody>
          <a:bodyPr wrap="square" lIns="0" tIns="0" rIns="0" bIns="0" rtlCol="0" anchor="ctr"/>
          <a:lstStyle/>
          <a:p>
            <a:pPr marL="0" indent="0">
              <a:buNone/>
            </a:pPr>
            <a:r>
              <a:rPr lang="en-US" sz="1400" b="1" i="1" dirty="0">
                <a:solidFill>
                  <a:srgbClr val="12324F"/>
                </a:solidFill>
                <a:latin typeface="Calibri" pitchFamily="34" charset="0"/>
                <a:ea typeface="Calibri" pitchFamily="34" charset="-122"/>
                <a:cs typeface="Calibri" pitchFamily="34" charset="-120"/>
              </a:rPr>
              <a:t>“Az həcmli Azərbaycan dili pretraining şəraitində hansı positional encoding daha yaxşı öyrənir və daha yaxşı generalizasiya edir?”</a:t>
            </a:r>
            <a:endParaRPr lang="en-US" sz="1400" dirty="0"/>
          </a:p>
        </p:txBody>
      </p:sp>
      <p:sp>
        <p:nvSpPr>
          <p:cNvPr id="6" name="Text 4"/>
          <p:cNvSpPr txBox="1"/>
          <p:nvPr/>
        </p:nvSpPr>
        <p:spPr>
          <a:xfrm>
            <a:off x="548640" y="1883664"/>
            <a:ext cx="45720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SABİT SAXLANILAN ŞƏRTLƏR</a:t>
            </a:r>
            <a:endParaRPr lang="en-US" sz="1050" dirty="0"/>
          </a:p>
        </p:txBody>
      </p:sp>
      <p:sp>
        <p:nvSpPr>
          <p:cNvPr id="7" name="Shape 5"/>
          <p:cNvSpPr/>
          <p:nvPr/>
        </p:nvSpPr>
        <p:spPr>
          <a:xfrm>
            <a:off x="548640" y="2176272"/>
            <a:ext cx="2011680" cy="292608"/>
          </a:xfrm>
          <a:prstGeom prst="rect">
            <a:avLst/>
          </a:prstGeom>
          <a:solidFill>
            <a:srgbClr val="F4F7F9"/>
          </a:solidFill>
          <a:ln/>
        </p:spPr>
      </p:sp>
      <p:sp>
        <p:nvSpPr>
          <p:cNvPr id="8" name="Text 6"/>
          <p:cNvSpPr txBox="1"/>
          <p:nvPr/>
        </p:nvSpPr>
        <p:spPr>
          <a:xfrm>
            <a:off x="658368" y="217627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Korpus</a:t>
            </a:r>
            <a:endParaRPr lang="en-US" sz="1050" dirty="0"/>
          </a:p>
        </p:txBody>
      </p:sp>
      <p:sp>
        <p:nvSpPr>
          <p:cNvPr id="9" name="Shape 7"/>
          <p:cNvSpPr/>
          <p:nvPr/>
        </p:nvSpPr>
        <p:spPr>
          <a:xfrm>
            <a:off x="2688336" y="2176272"/>
            <a:ext cx="2011680" cy="292608"/>
          </a:xfrm>
          <a:prstGeom prst="rect">
            <a:avLst/>
          </a:prstGeom>
          <a:solidFill>
            <a:srgbClr val="F4F7F9"/>
          </a:solidFill>
          <a:ln/>
        </p:spPr>
      </p:sp>
      <p:sp>
        <p:nvSpPr>
          <p:cNvPr id="10" name="Text 8"/>
          <p:cNvSpPr txBox="1"/>
          <p:nvPr/>
        </p:nvSpPr>
        <p:spPr>
          <a:xfrm>
            <a:off x="2798064" y="217627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Tokenizer</a:t>
            </a:r>
            <a:endParaRPr lang="en-US" sz="1050" dirty="0"/>
          </a:p>
        </p:txBody>
      </p:sp>
      <p:sp>
        <p:nvSpPr>
          <p:cNvPr id="11" name="Shape 9"/>
          <p:cNvSpPr/>
          <p:nvPr/>
        </p:nvSpPr>
        <p:spPr>
          <a:xfrm>
            <a:off x="548640" y="2542032"/>
            <a:ext cx="2011680" cy="292608"/>
          </a:xfrm>
          <a:prstGeom prst="rect">
            <a:avLst/>
          </a:prstGeom>
          <a:solidFill>
            <a:srgbClr val="F4F7F9"/>
          </a:solidFill>
          <a:ln/>
        </p:spPr>
      </p:sp>
      <p:sp>
        <p:nvSpPr>
          <p:cNvPr id="12" name="Text 10"/>
          <p:cNvSpPr txBox="1"/>
          <p:nvPr/>
        </p:nvSpPr>
        <p:spPr>
          <a:xfrm>
            <a:off x="658368" y="254203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Training sequence</a:t>
            </a:r>
            <a:endParaRPr lang="en-US" sz="1050" dirty="0"/>
          </a:p>
        </p:txBody>
      </p:sp>
      <p:sp>
        <p:nvSpPr>
          <p:cNvPr id="13" name="Shape 11"/>
          <p:cNvSpPr/>
          <p:nvPr/>
        </p:nvSpPr>
        <p:spPr>
          <a:xfrm>
            <a:off x="2688336" y="2542032"/>
            <a:ext cx="2011680" cy="292608"/>
          </a:xfrm>
          <a:prstGeom prst="rect">
            <a:avLst/>
          </a:prstGeom>
          <a:solidFill>
            <a:srgbClr val="F4F7F9"/>
          </a:solidFill>
          <a:ln/>
        </p:spPr>
      </p:sp>
      <p:sp>
        <p:nvSpPr>
          <p:cNvPr id="14" name="Text 12"/>
          <p:cNvSpPr txBox="1"/>
          <p:nvPr/>
        </p:nvSpPr>
        <p:spPr>
          <a:xfrm>
            <a:off x="2798064" y="254203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Transformer arxitekturası</a:t>
            </a:r>
            <a:endParaRPr lang="en-US" sz="1050" dirty="0"/>
          </a:p>
        </p:txBody>
      </p:sp>
      <p:sp>
        <p:nvSpPr>
          <p:cNvPr id="15" name="Shape 13"/>
          <p:cNvSpPr/>
          <p:nvPr/>
        </p:nvSpPr>
        <p:spPr>
          <a:xfrm>
            <a:off x="548640" y="2907792"/>
            <a:ext cx="2011680" cy="292608"/>
          </a:xfrm>
          <a:prstGeom prst="rect">
            <a:avLst/>
          </a:prstGeom>
          <a:solidFill>
            <a:srgbClr val="F4F7F9"/>
          </a:solidFill>
          <a:ln/>
        </p:spPr>
      </p:sp>
      <p:sp>
        <p:nvSpPr>
          <p:cNvPr id="16" name="Text 14"/>
          <p:cNvSpPr txBox="1"/>
          <p:nvPr/>
        </p:nvSpPr>
        <p:spPr>
          <a:xfrm>
            <a:off x="658368" y="290779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Optimizer + schedule</a:t>
            </a:r>
            <a:endParaRPr lang="en-US" sz="1050" dirty="0"/>
          </a:p>
        </p:txBody>
      </p:sp>
      <p:sp>
        <p:nvSpPr>
          <p:cNvPr id="17" name="Shape 15"/>
          <p:cNvSpPr/>
          <p:nvPr/>
        </p:nvSpPr>
        <p:spPr>
          <a:xfrm>
            <a:off x="2688336" y="2907792"/>
            <a:ext cx="2011680" cy="292608"/>
          </a:xfrm>
          <a:prstGeom prst="rect">
            <a:avLst/>
          </a:prstGeom>
          <a:solidFill>
            <a:srgbClr val="F4F7F9"/>
          </a:solidFill>
          <a:ln/>
        </p:spPr>
      </p:sp>
      <p:sp>
        <p:nvSpPr>
          <p:cNvPr id="18" name="Text 16"/>
          <p:cNvSpPr txBox="1"/>
          <p:nvPr/>
        </p:nvSpPr>
        <p:spPr>
          <a:xfrm>
            <a:off x="2798064" y="290779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50M token büdcəsi</a:t>
            </a:r>
            <a:endParaRPr lang="en-US" sz="1050" dirty="0"/>
          </a:p>
        </p:txBody>
      </p:sp>
      <p:sp>
        <p:nvSpPr>
          <p:cNvPr id="19" name="Shape 17"/>
          <p:cNvSpPr/>
          <p:nvPr/>
        </p:nvSpPr>
        <p:spPr>
          <a:xfrm>
            <a:off x="548640" y="3273552"/>
            <a:ext cx="2011680" cy="292608"/>
          </a:xfrm>
          <a:prstGeom prst="rect">
            <a:avLst/>
          </a:prstGeom>
          <a:solidFill>
            <a:srgbClr val="F4F7F9"/>
          </a:solidFill>
          <a:ln/>
        </p:spPr>
      </p:sp>
      <p:sp>
        <p:nvSpPr>
          <p:cNvPr id="20" name="Text 18"/>
          <p:cNvSpPr txBox="1"/>
          <p:nvPr/>
        </p:nvSpPr>
        <p:spPr>
          <a:xfrm>
            <a:off x="658368" y="327355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Training context 512</a:t>
            </a:r>
            <a:endParaRPr lang="en-US" sz="1050" dirty="0"/>
          </a:p>
        </p:txBody>
      </p:sp>
      <p:sp>
        <p:nvSpPr>
          <p:cNvPr id="21" name="Shape 19"/>
          <p:cNvSpPr/>
          <p:nvPr/>
        </p:nvSpPr>
        <p:spPr>
          <a:xfrm>
            <a:off x="2688336" y="3273552"/>
            <a:ext cx="2011680" cy="292608"/>
          </a:xfrm>
          <a:prstGeom prst="rect">
            <a:avLst/>
          </a:prstGeom>
          <a:solidFill>
            <a:srgbClr val="F4F7F9"/>
          </a:solidFill>
          <a:ln/>
        </p:spPr>
      </p:sp>
      <p:sp>
        <p:nvSpPr>
          <p:cNvPr id="22" name="Text 20"/>
          <p:cNvSpPr txBox="1"/>
          <p:nvPr/>
        </p:nvSpPr>
        <p:spPr>
          <a:xfrm>
            <a:off x="2798064" y="3273552"/>
            <a:ext cx="182880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Evaluation protokolu</a:t>
            </a:r>
            <a:endParaRPr lang="en-US" sz="1050" dirty="0"/>
          </a:p>
        </p:txBody>
      </p:sp>
      <p:sp>
        <p:nvSpPr>
          <p:cNvPr id="23" name="Text 21"/>
          <p:cNvSpPr txBox="1"/>
          <p:nvPr/>
        </p:nvSpPr>
        <p:spPr>
          <a:xfrm>
            <a:off x="4956048" y="1883664"/>
            <a:ext cx="274320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DƏYİŞƏN YEGANƏ AMİL</a:t>
            </a:r>
            <a:endParaRPr lang="en-US" sz="1050" dirty="0"/>
          </a:p>
        </p:txBody>
      </p:sp>
      <p:sp>
        <p:nvSpPr>
          <p:cNvPr id="24" name="Shape 22"/>
          <p:cNvSpPr/>
          <p:nvPr/>
        </p:nvSpPr>
        <p:spPr>
          <a:xfrm>
            <a:off x="4956048" y="2176272"/>
            <a:ext cx="1481328" cy="292608"/>
          </a:xfrm>
          <a:prstGeom prst="roundRect">
            <a:avLst>
              <a:gd name="adj" fmla="val 18750"/>
            </a:avLst>
          </a:prstGeom>
          <a:solidFill>
            <a:srgbClr val="FFFFFF"/>
          </a:solidFill>
          <a:ln w="22225">
            <a:solidFill>
              <a:srgbClr val="CC79A7"/>
            </a:solidFill>
            <a:prstDash val="solid"/>
          </a:ln>
        </p:spPr>
      </p:sp>
      <p:sp>
        <p:nvSpPr>
          <p:cNvPr id="25" name="Text 23"/>
          <p:cNvSpPr txBox="1"/>
          <p:nvPr/>
        </p:nvSpPr>
        <p:spPr>
          <a:xfrm>
            <a:off x="4956048" y="2176272"/>
            <a:ext cx="1481328" cy="292608"/>
          </a:xfrm>
          <a:prstGeom prst="rect">
            <a:avLst/>
          </a:prstGeom>
          <a:noFill/>
          <a:ln/>
        </p:spPr>
        <p:txBody>
          <a:bodyPr wrap="square" lIns="0" tIns="0" rIns="0" bIns="0" rtlCol="0" anchor="ctr"/>
          <a:lstStyle/>
          <a:p>
            <a:pPr marL="0" indent="0" algn="ctr">
              <a:buNone/>
            </a:pPr>
            <a:r>
              <a:rPr lang="en-US" sz="1100" b="1" dirty="0">
                <a:solidFill>
                  <a:srgbClr val="CC79A7"/>
                </a:solidFill>
                <a:latin typeface="Calibri" pitchFamily="34" charset="0"/>
                <a:ea typeface="Calibri" pitchFamily="34" charset="-122"/>
                <a:cs typeface="Calibri" pitchFamily="34" charset="-120"/>
              </a:rPr>
              <a:t>Learned</a:t>
            </a:r>
            <a:endParaRPr lang="en-US" sz="1100" dirty="0"/>
          </a:p>
        </p:txBody>
      </p:sp>
      <p:sp>
        <p:nvSpPr>
          <p:cNvPr id="26" name="Shape 24"/>
          <p:cNvSpPr/>
          <p:nvPr/>
        </p:nvSpPr>
        <p:spPr>
          <a:xfrm>
            <a:off x="4956048" y="2542032"/>
            <a:ext cx="1481328" cy="292608"/>
          </a:xfrm>
          <a:prstGeom prst="roundRect">
            <a:avLst>
              <a:gd name="adj" fmla="val 18750"/>
            </a:avLst>
          </a:prstGeom>
          <a:solidFill>
            <a:srgbClr val="FFFFFF"/>
          </a:solidFill>
          <a:ln w="22225">
            <a:solidFill>
              <a:srgbClr val="D55E00"/>
            </a:solidFill>
            <a:prstDash val="solid"/>
          </a:ln>
        </p:spPr>
      </p:sp>
      <p:sp>
        <p:nvSpPr>
          <p:cNvPr id="27" name="Text 25"/>
          <p:cNvSpPr txBox="1"/>
          <p:nvPr/>
        </p:nvSpPr>
        <p:spPr>
          <a:xfrm>
            <a:off x="4956048" y="2542032"/>
            <a:ext cx="1481328" cy="292608"/>
          </a:xfrm>
          <a:prstGeom prst="rect">
            <a:avLst/>
          </a:prstGeom>
          <a:noFill/>
          <a:ln/>
        </p:spPr>
        <p:txBody>
          <a:bodyPr wrap="square" lIns="0" tIns="0" rIns="0" bIns="0" rtlCol="0" anchor="ctr"/>
          <a:lstStyle/>
          <a:p>
            <a:pPr marL="0" indent="0" algn="ctr">
              <a:buNone/>
            </a:pPr>
            <a:r>
              <a:rPr lang="en-US" sz="1100" b="1" dirty="0">
                <a:solidFill>
                  <a:srgbClr val="D55E00"/>
                </a:solidFill>
                <a:latin typeface="Calibri" pitchFamily="34" charset="0"/>
                <a:ea typeface="Calibri" pitchFamily="34" charset="-122"/>
                <a:cs typeface="Calibri" pitchFamily="34" charset="-120"/>
              </a:rPr>
              <a:t>Sinusoidal</a:t>
            </a:r>
            <a:endParaRPr lang="en-US" sz="1100" dirty="0"/>
          </a:p>
        </p:txBody>
      </p:sp>
      <p:sp>
        <p:nvSpPr>
          <p:cNvPr id="28" name="Shape 26"/>
          <p:cNvSpPr/>
          <p:nvPr/>
        </p:nvSpPr>
        <p:spPr>
          <a:xfrm>
            <a:off x="4956048" y="2907792"/>
            <a:ext cx="1481328" cy="292608"/>
          </a:xfrm>
          <a:prstGeom prst="roundRect">
            <a:avLst>
              <a:gd name="adj" fmla="val 18750"/>
            </a:avLst>
          </a:prstGeom>
          <a:solidFill>
            <a:srgbClr val="FFFFFF"/>
          </a:solidFill>
          <a:ln w="22225">
            <a:solidFill>
              <a:srgbClr val="0072B2"/>
            </a:solidFill>
            <a:prstDash val="solid"/>
          </a:ln>
        </p:spPr>
      </p:sp>
      <p:sp>
        <p:nvSpPr>
          <p:cNvPr id="29" name="Text 27"/>
          <p:cNvSpPr txBox="1"/>
          <p:nvPr/>
        </p:nvSpPr>
        <p:spPr>
          <a:xfrm>
            <a:off x="4956048" y="2907792"/>
            <a:ext cx="1481328" cy="292608"/>
          </a:xfrm>
          <a:prstGeom prst="rect">
            <a:avLst/>
          </a:prstGeom>
          <a:noFill/>
          <a:ln/>
        </p:spPr>
        <p:txBody>
          <a:bodyPr wrap="square" lIns="0" tIns="0" rIns="0" bIns="0" rtlCol="0" anchor="ctr"/>
          <a:lstStyle/>
          <a:p>
            <a:pPr marL="0" indent="0" algn="ctr">
              <a:buNone/>
            </a:pPr>
            <a:r>
              <a:rPr lang="en-US" sz="1100" b="1" dirty="0">
                <a:solidFill>
                  <a:srgbClr val="0072B2"/>
                </a:solidFill>
                <a:latin typeface="Calibri" pitchFamily="34" charset="0"/>
                <a:ea typeface="Calibri" pitchFamily="34" charset="-122"/>
                <a:cs typeface="Calibri" pitchFamily="34" charset="-120"/>
              </a:rPr>
              <a:t>RoPE</a:t>
            </a:r>
            <a:endParaRPr lang="en-US" sz="1100" dirty="0"/>
          </a:p>
        </p:txBody>
      </p:sp>
      <p:sp>
        <p:nvSpPr>
          <p:cNvPr id="30" name="Shape 28"/>
          <p:cNvSpPr/>
          <p:nvPr/>
        </p:nvSpPr>
        <p:spPr>
          <a:xfrm>
            <a:off x="4956048" y="3273552"/>
            <a:ext cx="1481328" cy="292608"/>
          </a:xfrm>
          <a:prstGeom prst="roundRect">
            <a:avLst>
              <a:gd name="adj" fmla="val 18750"/>
            </a:avLst>
          </a:prstGeom>
          <a:solidFill>
            <a:srgbClr val="FFFFFF"/>
          </a:solidFill>
          <a:ln w="22225">
            <a:solidFill>
              <a:srgbClr val="009E73"/>
            </a:solidFill>
            <a:prstDash val="solid"/>
          </a:ln>
        </p:spPr>
      </p:sp>
      <p:sp>
        <p:nvSpPr>
          <p:cNvPr id="31" name="Text 29"/>
          <p:cNvSpPr txBox="1"/>
          <p:nvPr/>
        </p:nvSpPr>
        <p:spPr>
          <a:xfrm>
            <a:off x="4956048" y="3273552"/>
            <a:ext cx="1481328" cy="292608"/>
          </a:xfrm>
          <a:prstGeom prst="rect">
            <a:avLst/>
          </a:prstGeom>
          <a:noFill/>
          <a:ln/>
        </p:spPr>
        <p:txBody>
          <a:bodyPr wrap="square" lIns="0" tIns="0" rIns="0" bIns="0" rtlCol="0" anchor="ctr"/>
          <a:lstStyle/>
          <a:p>
            <a:pPr marL="0" indent="0" algn="ctr">
              <a:buNone/>
            </a:pPr>
            <a:r>
              <a:rPr lang="en-US" sz="1100" b="1" dirty="0">
                <a:solidFill>
                  <a:srgbClr val="009E73"/>
                </a:solidFill>
                <a:latin typeface="Calibri" pitchFamily="34" charset="0"/>
                <a:ea typeface="Calibri" pitchFamily="34" charset="-122"/>
                <a:cs typeface="Calibri" pitchFamily="34" charset="-120"/>
              </a:rPr>
              <a:t>ALiBi</a:t>
            </a:r>
            <a:endParaRPr lang="en-US" sz="1100" dirty="0"/>
          </a:p>
        </p:txBody>
      </p:sp>
      <p:sp>
        <p:nvSpPr>
          <p:cNvPr id="32" name="Shape 30"/>
          <p:cNvSpPr/>
          <p:nvPr/>
        </p:nvSpPr>
        <p:spPr>
          <a:xfrm>
            <a:off x="4956048" y="3639312"/>
            <a:ext cx="1481328" cy="292608"/>
          </a:xfrm>
          <a:prstGeom prst="roundRect">
            <a:avLst>
              <a:gd name="adj" fmla="val 18750"/>
            </a:avLst>
          </a:prstGeom>
          <a:solidFill>
            <a:srgbClr val="FFFFFF"/>
          </a:solidFill>
          <a:ln w="22225">
            <a:solidFill>
              <a:srgbClr val="E69F00"/>
            </a:solidFill>
            <a:prstDash val="solid"/>
          </a:ln>
        </p:spPr>
      </p:sp>
      <p:sp>
        <p:nvSpPr>
          <p:cNvPr id="33" name="Text 31"/>
          <p:cNvSpPr txBox="1"/>
          <p:nvPr/>
        </p:nvSpPr>
        <p:spPr>
          <a:xfrm>
            <a:off x="4956048" y="3639312"/>
            <a:ext cx="1481328" cy="292608"/>
          </a:xfrm>
          <a:prstGeom prst="rect">
            <a:avLst/>
          </a:prstGeom>
          <a:noFill/>
          <a:ln/>
        </p:spPr>
        <p:txBody>
          <a:bodyPr wrap="square" lIns="0" tIns="0" rIns="0" bIns="0" rtlCol="0" anchor="ctr"/>
          <a:lstStyle/>
          <a:p>
            <a:pPr marL="0" indent="0" algn="ctr">
              <a:buNone/>
            </a:pPr>
            <a:r>
              <a:rPr lang="en-US" sz="1100" b="1" dirty="0">
                <a:solidFill>
                  <a:srgbClr val="E69F00"/>
                </a:solidFill>
                <a:latin typeface="Calibri" pitchFamily="34" charset="0"/>
                <a:ea typeface="Calibri" pitchFamily="34" charset="-122"/>
                <a:cs typeface="Calibri" pitchFamily="34" charset="-120"/>
              </a:rPr>
              <a:t>NoPE</a:t>
            </a:r>
            <a:endParaRPr lang="en-US" sz="1100" dirty="0"/>
          </a:p>
        </p:txBody>
      </p:sp>
      <p:sp>
        <p:nvSpPr>
          <p:cNvPr id="34" name="Text 32"/>
          <p:cNvSpPr txBox="1"/>
          <p:nvPr/>
        </p:nvSpPr>
        <p:spPr>
          <a:xfrm>
            <a:off x="6510528" y="2651760"/>
            <a:ext cx="914400" cy="548640"/>
          </a:xfrm>
          <a:prstGeom prst="rect">
            <a:avLst/>
          </a:prstGeom>
          <a:noFill/>
          <a:ln/>
        </p:spPr>
        <p:txBody>
          <a:bodyPr wrap="square" lIns="0" tIns="0" rIns="0" bIns="0" rtlCol="0" anchor="ctr"/>
          <a:lstStyle/>
          <a:p>
            <a:pPr marL="0" indent="0">
              <a:buNone/>
            </a:pPr>
            <a:r>
              <a:rPr lang="en-US" sz="1100" b="1" dirty="0">
                <a:solidFill>
                  <a:srgbClr val="B26B00"/>
                </a:solidFill>
                <a:latin typeface="Calibri" pitchFamily="34" charset="0"/>
                <a:ea typeface="Calibri" pitchFamily="34" charset="-122"/>
                <a:cs typeface="Calibri" pitchFamily="34" charset="-120"/>
              </a:rPr>
              <a:t>Positional</a:t>
            </a:r>
            <a:endParaRPr lang="en-US" sz="1100" dirty="0"/>
          </a:p>
          <a:p>
            <a:pPr marL="0" indent="0">
              <a:buNone/>
            </a:pPr>
            <a:r>
              <a:rPr lang="en-US" sz="1100" b="1" dirty="0">
                <a:solidFill>
                  <a:srgbClr val="B26B00"/>
                </a:solidFill>
                <a:latin typeface="Calibri" pitchFamily="34" charset="0"/>
                <a:ea typeface="Calibri" pitchFamily="34" charset="-122"/>
                <a:cs typeface="Calibri" pitchFamily="34" charset="-120"/>
              </a:rPr>
              <a:t>Encoding</a:t>
            </a:r>
            <a:endParaRPr lang="en-US" sz="1100" dirty="0"/>
          </a:p>
        </p:txBody>
      </p:sp>
      <p:sp>
        <p:nvSpPr>
          <p:cNvPr id="35" name="Text 33"/>
          <p:cNvSpPr txBox="1"/>
          <p:nvPr/>
        </p:nvSpPr>
        <p:spPr>
          <a:xfrm>
            <a:off x="7635240" y="1883664"/>
            <a:ext cx="402336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UÇDAN-UCA EKSPERİMENT ZƏNCİRİ</a:t>
            </a:r>
            <a:endParaRPr lang="en-US" sz="1050" dirty="0"/>
          </a:p>
        </p:txBody>
      </p:sp>
      <p:sp>
        <p:nvSpPr>
          <p:cNvPr id="36" name="Shape 34"/>
          <p:cNvSpPr/>
          <p:nvPr/>
        </p:nvSpPr>
        <p:spPr>
          <a:xfrm>
            <a:off x="7635240" y="2157984"/>
            <a:ext cx="4005072" cy="292608"/>
          </a:xfrm>
          <a:prstGeom prst="rect">
            <a:avLst/>
          </a:prstGeom>
          <a:solidFill>
            <a:srgbClr val="F4F7F9"/>
          </a:solidFill>
          <a:ln/>
        </p:spPr>
      </p:sp>
      <p:sp>
        <p:nvSpPr>
          <p:cNvPr id="37" name="Text 35"/>
          <p:cNvSpPr txBox="1"/>
          <p:nvPr/>
        </p:nvSpPr>
        <p:spPr>
          <a:xfrm>
            <a:off x="7772400" y="2157984"/>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1.  Raw Azərbaycan mətni</a:t>
            </a:r>
            <a:endParaRPr lang="en-US" sz="1050" dirty="0"/>
          </a:p>
        </p:txBody>
      </p:sp>
      <p:sp>
        <p:nvSpPr>
          <p:cNvPr id="38" name="Shape 36"/>
          <p:cNvSpPr/>
          <p:nvPr/>
        </p:nvSpPr>
        <p:spPr>
          <a:xfrm>
            <a:off x="7635240" y="2542032"/>
            <a:ext cx="4005072" cy="292608"/>
          </a:xfrm>
          <a:prstGeom prst="rect">
            <a:avLst/>
          </a:prstGeom>
          <a:solidFill>
            <a:srgbClr val="F4F7F9"/>
          </a:solidFill>
          <a:ln/>
        </p:spPr>
      </p:sp>
      <p:sp>
        <p:nvSpPr>
          <p:cNvPr id="39" name="Text 37"/>
          <p:cNvSpPr txBox="1"/>
          <p:nvPr/>
        </p:nvSpPr>
        <p:spPr>
          <a:xfrm>
            <a:off x="7772400" y="2542032"/>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2.  təmizlənmiş korpus</a:t>
            </a:r>
            <a:endParaRPr lang="en-US" sz="1050" dirty="0"/>
          </a:p>
        </p:txBody>
      </p:sp>
      <p:sp>
        <p:nvSpPr>
          <p:cNvPr id="40" name="Shape 38"/>
          <p:cNvSpPr/>
          <p:nvPr/>
        </p:nvSpPr>
        <p:spPr>
          <a:xfrm>
            <a:off x="7635240" y="2926080"/>
            <a:ext cx="4005072" cy="292608"/>
          </a:xfrm>
          <a:prstGeom prst="rect">
            <a:avLst/>
          </a:prstGeom>
          <a:solidFill>
            <a:srgbClr val="F4F7F9"/>
          </a:solidFill>
          <a:ln/>
        </p:spPr>
      </p:sp>
      <p:sp>
        <p:nvSpPr>
          <p:cNvPr id="41" name="Text 39"/>
          <p:cNvSpPr txBox="1"/>
          <p:nvPr/>
        </p:nvSpPr>
        <p:spPr>
          <a:xfrm>
            <a:off x="7772400" y="2926080"/>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3.  ortaq tokenizer</a:t>
            </a:r>
            <a:endParaRPr lang="en-US" sz="1050" dirty="0"/>
          </a:p>
        </p:txBody>
      </p:sp>
      <p:sp>
        <p:nvSpPr>
          <p:cNvPr id="42" name="Shape 40"/>
          <p:cNvSpPr/>
          <p:nvPr/>
        </p:nvSpPr>
        <p:spPr>
          <a:xfrm>
            <a:off x="7635240" y="3310128"/>
            <a:ext cx="4005072" cy="292608"/>
          </a:xfrm>
          <a:prstGeom prst="rect">
            <a:avLst/>
          </a:prstGeom>
          <a:solidFill>
            <a:srgbClr val="F4F7F9"/>
          </a:solidFill>
          <a:ln/>
        </p:spPr>
      </p:sp>
      <p:sp>
        <p:nvSpPr>
          <p:cNvPr id="43" name="Text 41"/>
          <p:cNvSpPr txBox="1"/>
          <p:nvPr/>
        </p:nvSpPr>
        <p:spPr>
          <a:xfrm>
            <a:off x="7772400" y="3310128"/>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4.  ortaq Transformer</a:t>
            </a:r>
            <a:endParaRPr lang="en-US" sz="1050" dirty="0"/>
          </a:p>
        </p:txBody>
      </p:sp>
      <p:sp>
        <p:nvSpPr>
          <p:cNvPr id="44" name="Shape 42"/>
          <p:cNvSpPr/>
          <p:nvPr/>
        </p:nvSpPr>
        <p:spPr>
          <a:xfrm>
            <a:off x="7635240" y="3694176"/>
            <a:ext cx="4005072" cy="292608"/>
          </a:xfrm>
          <a:prstGeom prst="rect">
            <a:avLst/>
          </a:prstGeom>
          <a:solidFill>
            <a:srgbClr val="FDF1DF"/>
          </a:solidFill>
          <a:ln w="12700">
            <a:solidFill>
              <a:srgbClr val="E69F00"/>
            </a:solidFill>
            <a:prstDash val="solid"/>
          </a:ln>
        </p:spPr>
      </p:sp>
      <p:sp>
        <p:nvSpPr>
          <p:cNvPr id="45" name="Text 43"/>
          <p:cNvSpPr txBox="1"/>
          <p:nvPr/>
        </p:nvSpPr>
        <p:spPr>
          <a:xfrm>
            <a:off x="7772400" y="3694176"/>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5.  5 PE variantı</a:t>
            </a:r>
            <a:endParaRPr lang="en-US" sz="1050" dirty="0"/>
          </a:p>
        </p:txBody>
      </p:sp>
      <p:sp>
        <p:nvSpPr>
          <p:cNvPr id="46" name="Shape 44"/>
          <p:cNvSpPr/>
          <p:nvPr/>
        </p:nvSpPr>
        <p:spPr>
          <a:xfrm>
            <a:off x="7635240" y="4078224"/>
            <a:ext cx="4005072" cy="292608"/>
          </a:xfrm>
          <a:prstGeom prst="rect">
            <a:avLst/>
          </a:prstGeom>
          <a:solidFill>
            <a:srgbClr val="F4F7F9"/>
          </a:solidFill>
          <a:ln/>
        </p:spPr>
      </p:sp>
      <p:sp>
        <p:nvSpPr>
          <p:cNvPr id="47" name="Text 45"/>
          <p:cNvSpPr txBox="1"/>
          <p:nvPr/>
        </p:nvSpPr>
        <p:spPr>
          <a:xfrm>
            <a:off x="7772400" y="4078224"/>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6.  25 training run</a:t>
            </a:r>
            <a:endParaRPr lang="en-US" sz="1050" dirty="0"/>
          </a:p>
        </p:txBody>
      </p:sp>
      <p:sp>
        <p:nvSpPr>
          <p:cNvPr id="48" name="Shape 46"/>
          <p:cNvSpPr/>
          <p:nvPr/>
        </p:nvSpPr>
        <p:spPr>
          <a:xfrm>
            <a:off x="7635240" y="4462272"/>
            <a:ext cx="4005072" cy="292608"/>
          </a:xfrm>
          <a:prstGeom prst="rect">
            <a:avLst/>
          </a:prstGeom>
          <a:solidFill>
            <a:srgbClr val="F4F7F9"/>
          </a:solidFill>
          <a:ln/>
        </p:spPr>
      </p:sp>
      <p:sp>
        <p:nvSpPr>
          <p:cNvPr id="49" name="Text 47"/>
          <p:cNvSpPr txBox="1"/>
          <p:nvPr/>
        </p:nvSpPr>
        <p:spPr>
          <a:xfrm>
            <a:off x="7772400" y="4462272"/>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7.  held-out evaluation</a:t>
            </a:r>
            <a:endParaRPr lang="en-US" sz="1050" dirty="0"/>
          </a:p>
        </p:txBody>
      </p:sp>
      <p:sp>
        <p:nvSpPr>
          <p:cNvPr id="50" name="Shape 48"/>
          <p:cNvSpPr/>
          <p:nvPr/>
        </p:nvSpPr>
        <p:spPr>
          <a:xfrm>
            <a:off x="7635240" y="4846320"/>
            <a:ext cx="4005072" cy="292608"/>
          </a:xfrm>
          <a:prstGeom prst="rect">
            <a:avLst/>
          </a:prstGeom>
          <a:solidFill>
            <a:srgbClr val="F4F7F9"/>
          </a:solidFill>
          <a:ln/>
        </p:spPr>
      </p:sp>
      <p:sp>
        <p:nvSpPr>
          <p:cNvPr id="51" name="Text 49"/>
          <p:cNvSpPr txBox="1"/>
          <p:nvPr/>
        </p:nvSpPr>
        <p:spPr>
          <a:xfrm>
            <a:off x="7772400" y="4846320"/>
            <a:ext cx="3749040" cy="29260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8.  statistik müqayisə</a:t>
            </a:r>
            <a:endParaRPr lang="en-US" sz="1050" dirty="0"/>
          </a:p>
        </p:txBody>
      </p:sp>
      <p:sp>
        <p:nvSpPr>
          <p:cNvPr id="52" name="Text 50"/>
          <p:cNvSpPr txBox="1"/>
          <p:nvPr/>
        </p:nvSpPr>
        <p:spPr>
          <a:xfrm>
            <a:off x="548640" y="4133088"/>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ELMİ KONTEKST</a:t>
            </a:r>
            <a:endParaRPr lang="en-US" sz="1050" dirty="0"/>
          </a:p>
        </p:txBody>
      </p:sp>
      <p:sp>
        <p:nvSpPr>
          <p:cNvPr id="53" name="Text 51"/>
          <p:cNvSpPr txBox="1"/>
          <p:nvPr/>
        </p:nvSpPr>
        <p:spPr>
          <a:xfrm>
            <a:off x="548640" y="4425696"/>
            <a:ext cx="1188720" cy="23774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2017</a:t>
            </a:r>
            <a:endParaRPr lang="en-US" sz="1200" dirty="0"/>
          </a:p>
        </p:txBody>
      </p:sp>
      <p:sp>
        <p:nvSpPr>
          <p:cNvPr id="54" name="Text 52"/>
          <p:cNvSpPr txBox="1"/>
          <p:nvPr/>
        </p:nvSpPr>
        <p:spPr>
          <a:xfrm>
            <a:off x="548640" y="4645152"/>
            <a:ext cx="1280160"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Sinusoidal Transformer</a:t>
            </a:r>
            <a:endParaRPr lang="en-US" sz="1000" dirty="0"/>
          </a:p>
        </p:txBody>
      </p:sp>
      <p:sp>
        <p:nvSpPr>
          <p:cNvPr id="55" name="Text 53"/>
          <p:cNvSpPr txBox="1"/>
          <p:nvPr/>
        </p:nvSpPr>
        <p:spPr>
          <a:xfrm>
            <a:off x="548640" y="5029200"/>
            <a:ext cx="1280160"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Vaswani et al.</a:t>
            </a:r>
            <a:endParaRPr lang="en-US" sz="850" dirty="0"/>
          </a:p>
        </p:txBody>
      </p:sp>
      <p:sp>
        <p:nvSpPr>
          <p:cNvPr id="56" name="Text 54"/>
          <p:cNvSpPr txBox="1"/>
          <p:nvPr/>
        </p:nvSpPr>
        <p:spPr>
          <a:xfrm>
            <a:off x="1810512" y="4425696"/>
            <a:ext cx="1188720" cy="23774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2021</a:t>
            </a:r>
            <a:endParaRPr lang="en-US" sz="1200" dirty="0"/>
          </a:p>
        </p:txBody>
      </p:sp>
      <p:sp>
        <p:nvSpPr>
          <p:cNvPr id="57" name="Text 55"/>
          <p:cNvSpPr txBox="1"/>
          <p:nvPr/>
        </p:nvSpPr>
        <p:spPr>
          <a:xfrm>
            <a:off x="1810512" y="4645152"/>
            <a:ext cx="1280160"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RoPE / RoFormer</a:t>
            </a:r>
            <a:endParaRPr lang="en-US" sz="1000" dirty="0"/>
          </a:p>
        </p:txBody>
      </p:sp>
      <p:sp>
        <p:nvSpPr>
          <p:cNvPr id="58" name="Text 56"/>
          <p:cNvSpPr txBox="1"/>
          <p:nvPr/>
        </p:nvSpPr>
        <p:spPr>
          <a:xfrm>
            <a:off x="1810512" y="5029200"/>
            <a:ext cx="1280160"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Su et al.</a:t>
            </a:r>
            <a:endParaRPr lang="en-US" sz="850" dirty="0"/>
          </a:p>
        </p:txBody>
      </p:sp>
      <p:sp>
        <p:nvSpPr>
          <p:cNvPr id="59" name="Text 57"/>
          <p:cNvSpPr txBox="1"/>
          <p:nvPr/>
        </p:nvSpPr>
        <p:spPr>
          <a:xfrm>
            <a:off x="3072384" y="4425696"/>
            <a:ext cx="1188720" cy="23774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2022</a:t>
            </a:r>
            <a:endParaRPr lang="en-US" sz="1200" dirty="0"/>
          </a:p>
        </p:txBody>
      </p:sp>
      <p:sp>
        <p:nvSpPr>
          <p:cNvPr id="60" name="Text 58"/>
          <p:cNvSpPr txBox="1"/>
          <p:nvPr/>
        </p:nvSpPr>
        <p:spPr>
          <a:xfrm>
            <a:off x="3072384" y="4645152"/>
            <a:ext cx="1280160"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ALiBi</a:t>
            </a:r>
            <a:endParaRPr lang="en-US" sz="1000" dirty="0"/>
          </a:p>
        </p:txBody>
      </p:sp>
      <p:sp>
        <p:nvSpPr>
          <p:cNvPr id="61" name="Text 59"/>
          <p:cNvSpPr txBox="1"/>
          <p:nvPr/>
        </p:nvSpPr>
        <p:spPr>
          <a:xfrm>
            <a:off x="3072384" y="5029200"/>
            <a:ext cx="1280160"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Press et al.</a:t>
            </a:r>
            <a:endParaRPr lang="en-US" sz="850" dirty="0"/>
          </a:p>
        </p:txBody>
      </p:sp>
      <p:sp>
        <p:nvSpPr>
          <p:cNvPr id="62" name="Text 60"/>
          <p:cNvSpPr txBox="1"/>
          <p:nvPr/>
        </p:nvSpPr>
        <p:spPr>
          <a:xfrm>
            <a:off x="4334256" y="4425696"/>
            <a:ext cx="1554480" cy="23774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2022–23</a:t>
            </a:r>
            <a:endParaRPr lang="en-US" sz="1200" dirty="0"/>
          </a:p>
        </p:txBody>
      </p:sp>
      <p:sp>
        <p:nvSpPr>
          <p:cNvPr id="63" name="Text 61"/>
          <p:cNvSpPr txBox="1"/>
          <p:nvPr/>
        </p:nvSpPr>
        <p:spPr>
          <a:xfrm>
            <a:off x="4334256" y="4645152"/>
            <a:ext cx="1645920"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NoPE, length generalization</a:t>
            </a:r>
            <a:endParaRPr lang="en-US" sz="1000" dirty="0"/>
          </a:p>
        </p:txBody>
      </p:sp>
      <p:sp>
        <p:nvSpPr>
          <p:cNvPr id="64" name="Text 62"/>
          <p:cNvSpPr txBox="1"/>
          <p:nvPr/>
        </p:nvSpPr>
        <p:spPr>
          <a:xfrm>
            <a:off x="4334256" y="5029200"/>
            <a:ext cx="1645920"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Haviv et al.; Kazemnejad et al.</a:t>
            </a:r>
            <a:endParaRPr lang="en-US" sz="850" dirty="0"/>
          </a:p>
        </p:txBody>
      </p:sp>
      <p:sp>
        <p:nvSpPr>
          <p:cNvPr id="65" name="Text 63"/>
          <p:cNvSpPr txBox="1"/>
          <p:nvPr/>
        </p:nvSpPr>
        <p:spPr>
          <a:xfrm>
            <a:off x="5961888" y="4425696"/>
            <a:ext cx="1371600" cy="237744"/>
          </a:xfrm>
          <a:prstGeom prst="rect">
            <a:avLst/>
          </a:prstGeom>
          <a:noFill/>
          <a:ln/>
        </p:spPr>
        <p:txBody>
          <a:bodyPr wrap="square" lIns="0" tIns="0" rIns="0" bIns="0" rtlCol="0" anchor="ctr"/>
          <a:lstStyle/>
          <a:p>
            <a:pPr marL="0" indent="0">
              <a:buNone/>
            </a:pPr>
            <a:r>
              <a:rPr lang="en-US" sz="1200" b="1" dirty="0">
                <a:solidFill>
                  <a:srgbClr val="009E73"/>
                </a:solidFill>
                <a:latin typeface="Calibri" pitchFamily="34" charset="0"/>
                <a:ea typeface="Calibri" pitchFamily="34" charset="-122"/>
                <a:cs typeface="Calibri" pitchFamily="34" charset="-120"/>
              </a:rPr>
              <a:t>2026</a:t>
            </a:r>
            <a:endParaRPr lang="en-US" sz="1200" dirty="0"/>
          </a:p>
        </p:txBody>
      </p:sp>
      <p:sp>
        <p:nvSpPr>
          <p:cNvPr id="66" name="Text 64"/>
          <p:cNvSpPr txBox="1"/>
          <p:nvPr/>
        </p:nvSpPr>
        <p:spPr>
          <a:xfrm>
            <a:off x="5961888" y="4645152"/>
            <a:ext cx="1463040"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bu nəzarətli Azərbaycan eksperimenti</a:t>
            </a:r>
            <a:endParaRPr lang="en-US" sz="1000" dirty="0"/>
          </a:p>
        </p:txBody>
      </p:sp>
      <p:sp>
        <p:nvSpPr>
          <p:cNvPr id="67" name="Text 65"/>
          <p:cNvSpPr txBox="1"/>
          <p:nvPr/>
        </p:nvSpPr>
        <p:spPr>
          <a:xfrm>
            <a:off x="5961888" y="5029200"/>
            <a:ext cx="1463040"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a:t>
            </a:r>
            <a:endParaRPr lang="en-US" sz="850" dirty="0"/>
          </a:p>
        </p:txBody>
      </p:sp>
      <p:sp>
        <p:nvSpPr>
          <p:cNvPr id="68" name="Shape 66"/>
          <p:cNvSpPr/>
          <p:nvPr/>
        </p:nvSpPr>
        <p:spPr>
          <a:xfrm>
            <a:off x="548640" y="5440680"/>
            <a:ext cx="11091672" cy="566928"/>
          </a:xfrm>
          <a:prstGeom prst="roundRect">
            <a:avLst>
              <a:gd name="adj" fmla="val 11290"/>
            </a:avLst>
          </a:prstGeom>
          <a:solidFill>
            <a:srgbClr val="EAF0F4"/>
          </a:solidFill>
          <a:ln/>
        </p:spPr>
      </p:sp>
      <p:sp>
        <p:nvSpPr>
          <p:cNvPr id="69" name="Text 67"/>
          <p:cNvSpPr txBox="1"/>
          <p:nvPr/>
        </p:nvSpPr>
        <p:spPr>
          <a:xfrm>
            <a:off x="713232" y="5458968"/>
            <a:ext cx="10762488" cy="566928"/>
          </a:xfrm>
          <a:prstGeom prst="rect">
            <a:avLst/>
          </a:prstGeom>
          <a:noFill/>
          <a:ln/>
        </p:spPr>
        <p:txBody>
          <a:bodyPr wrap="square" lIns="0" tIns="0" rIns="0" bIns="0" rtlCol="0" anchor="ctr"/>
          <a:lstStyle/>
          <a:p>
            <a:pPr marL="0" indent="0">
              <a:buNone/>
            </a:pPr>
            <a:r>
              <a:rPr lang="en-US" sz="1250" b="1" dirty="0">
                <a:solidFill>
                  <a:srgbClr val="12324F"/>
                </a:solidFill>
                <a:latin typeface="Calibri" pitchFamily="34" charset="0"/>
                <a:ea typeface="Calibri" pitchFamily="34" charset="-122"/>
                <a:cs typeface="Calibri" pitchFamily="34" charset="-120"/>
              </a:rPr>
              <a:t>Bu niyə vacibdir?  </a:t>
            </a:r>
            <a:r>
              <a:rPr lang="en-US" sz="1250" dirty="0">
                <a:solidFill>
                  <a:srgbClr val="14202E"/>
                </a:solidFill>
                <a:latin typeface="Calibri" pitchFamily="34" charset="0"/>
                <a:ea typeface="Calibri" pitchFamily="34" charset="-122"/>
                <a:cs typeface="Calibri" pitchFamily="34" charset="-120"/>
              </a:rPr>
              <a:t>Yalnız bir amil dəyişdiyi üçün nəticədəki fərqi mövqe mexanizminə aid etmək elmi cəhətdən müdafiə oluna bilir. Azərbaycan dili üçün məhz bu tip nəzarətli quruluş az tədqiq olunub.</a:t>
            </a:r>
            <a:endParaRPr lang="en-US" sz="1250" dirty="0"/>
          </a:p>
        </p:txBody>
      </p:sp>
      <p:sp>
        <p:nvSpPr>
          <p:cNvPr id="70" name="Text 68"/>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Ibrahim Mammadov  ·  IBRAHIM102005</a:t>
            </a:r>
            <a:endParaRPr lang="en-US" sz="950" dirty="0"/>
          </a:p>
        </p:txBody>
      </p:sp>
      <p:sp>
        <p:nvSpPr>
          <p:cNvPr id="71" name="Text 69"/>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configs/run_matrix.json · configs/frozen/data_pipeline.yaml</a:t>
            </a:r>
            <a:endParaRPr lang="en-US" sz="850" dirty="0"/>
          </a:p>
        </p:txBody>
      </p:sp>
      <p:sp>
        <p:nvSpPr>
          <p:cNvPr id="72" name="Text 70"/>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01  /  DATA FOUNDATION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Azərbaycan dili korpusu necə quruldu?</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Mənbə: DOLLMA-nın yalnız native Azərbaycan komponentləri  ·  20 shard-dan 14 core shard istifadə olunub</a:t>
            </a:r>
            <a:endParaRPr lang="en-US" sz="1300" dirty="0"/>
          </a:p>
        </p:txBody>
      </p:sp>
      <p:pic>
        <p:nvPicPr>
          <p:cNvPr id="5" name="Image 0" descr="/home/claude/assets/fig_corpus_docs.png"/>
          <p:cNvPicPr>
            <a:picLocks noChangeAspect="1"/>
          </p:cNvPicPr>
          <p:nvPr/>
        </p:nvPicPr>
        <p:blipFill>
          <a:blip r:embed="rId3"/>
          <a:stretch>
            <a:fillRect/>
          </a:stretch>
        </p:blipFill>
        <p:spPr>
          <a:xfrm>
            <a:off x="548640" y="1481328"/>
            <a:ext cx="4343400" cy="2331720"/>
          </a:xfrm>
          <a:prstGeom prst="rect">
            <a:avLst/>
          </a:prstGeom>
        </p:spPr>
      </p:pic>
      <p:pic>
        <p:nvPicPr>
          <p:cNvPr id="6" name="Image 1" descr="/home/claude/assets/fig_corpus_tokens.png"/>
          <p:cNvPicPr>
            <a:picLocks noChangeAspect="1"/>
          </p:cNvPicPr>
          <p:nvPr/>
        </p:nvPicPr>
        <p:blipFill>
          <a:blip r:embed="rId4"/>
          <a:stretch>
            <a:fillRect/>
          </a:stretch>
        </p:blipFill>
        <p:spPr>
          <a:xfrm>
            <a:off x="548640" y="3877056"/>
            <a:ext cx="4343400" cy="2148840"/>
          </a:xfrm>
          <a:prstGeom prst="rect">
            <a:avLst/>
          </a:prstGeom>
        </p:spPr>
      </p:pic>
      <p:sp>
        <p:nvSpPr>
          <p:cNvPr id="7" name="Shape 3"/>
          <p:cNvSpPr/>
          <p:nvPr/>
        </p:nvSpPr>
        <p:spPr>
          <a:xfrm>
            <a:off x="5138928" y="1481328"/>
            <a:ext cx="3063240" cy="2331720"/>
          </a:xfrm>
          <a:prstGeom prst="roundRect">
            <a:avLst>
              <a:gd name="adj" fmla="val 2745"/>
            </a:avLst>
          </a:prstGeom>
          <a:solidFill>
            <a:srgbClr val="F4F7F9"/>
          </a:solidFill>
          <a:ln/>
        </p:spPr>
      </p:sp>
      <p:sp>
        <p:nvSpPr>
          <p:cNvPr id="8" name="Text 4"/>
          <p:cNvSpPr txBox="1"/>
          <p:nvPr/>
        </p:nvSpPr>
        <p:spPr>
          <a:xfrm>
            <a:off x="5340096" y="1627632"/>
            <a:ext cx="2743200" cy="475488"/>
          </a:xfrm>
          <a:prstGeom prst="rect">
            <a:avLst/>
          </a:prstGeom>
          <a:noFill/>
          <a:ln/>
        </p:spPr>
        <p:txBody>
          <a:bodyPr wrap="square" lIns="0" tIns="0" rIns="0" bIns="0" rtlCol="0" anchor="ctr"/>
          <a:lstStyle/>
          <a:p>
            <a:pPr marL="0" indent="0" algn="l">
              <a:buNone/>
            </a:pPr>
            <a:r>
              <a:rPr lang="en-US" sz="2600" b="1" dirty="0">
                <a:solidFill>
                  <a:srgbClr val="12324F"/>
                </a:solidFill>
                <a:latin typeface="Cambria" pitchFamily="34" charset="0"/>
                <a:ea typeface="Cambria" pitchFamily="34" charset="-122"/>
                <a:cs typeface="Cambria" pitchFamily="34" charset="-120"/>
              </a:rPr>
              <a:t>8 227 654</a:t>
            </a:r>
            <a:endParaRPr lang="en-US" sz="2600" dirty="0"/>
          </a:p>
        </p:txBody>
      </p:sp>
      <p:sp>
        <p:nvSpPr>
          <p:cNvPr id="9" name="Text 5"/>
          <p:cNvSpPr txBox="1"/>
          <p:nvPr/>
        </p:nvSpPr>
        <p:spPr>
          <a:xfrm>
            <a:off x="5340096" y="2103120"/>
            <a:ext cx="2743200" cy="420624"/>
          </a:xfrm>
          <a:prstGeom prst="rect">
            <a:avLst/>
          </a:prstGeom>
          <a:noFill/>
          <a:ln/>
        </p:spPr>
        <p:txBody>
          <a:bodyPr wrap="square" lIns="0" tIns="0" rIns="0" bIns="0" rtlCol="0" anchor="ctr"/>
          <a:lstStyle/>
          <a:p>
            <a:pPr marL="0" indent="0" algn="l">
              <a:buNone/>
            </a:pPr>
            <a:r>
              <a:rPr lang="en-US" sz="1050" dirty="0">
                <a:solidFill>
                  <a:srgbClr val="5F7082"/>
                </a:solidFill>
                <a:latin typeface="Calibri" pitchFamily="34" charset="0"/>
                <a:ea typeface="Calibri" pitchFamily="34" charset="-122"/>
                <a:cs typeface="Calibri" pitchFamily="34" charset="-120"/>
              </a:rPr>
              <a:t>raw core sənəd</a:t>
            </a:r>
            <a:endParaRPr lang="en-US" sz="1050" dirty="0"/>
          </a:p>
        </p:txBody>
      </p:sp>
      <p:sp>
        <p:nvSpPr>
          <p:cNvPr id="10" name="Text 6"/>
          <p:cNvSpPr txBox="1"/>
          <p:nvPr/>
        </p:nvSpPr>
        <p:spPr>
          <a:xfrm>
            <a:off x="5340096" y="2487168"/>
            <a:ext cx="1280160" cy="475488"/>
          </a:xfrm>
          <a:prstGeom prst="rect">
            <a:avLst/>
          </a:prstGeom>
          <a:noFill/>
          <a:ln/>
        </p:spPr>
        <p:txBody>
          <a:bodyPr wrap="square" lIns="0" tIns="0" rIns="0" bIns="0" rtlCol="0" anchor="ctr"/>
          <a:lstStyle/>
          <a:p>
            <a:pPr marL="0" indent="0" algn="l">
              <a:buNone/>
            </a:pPr>
            <a:r>
              <a:rPr lang="en-US" sz="2200" b="1" dirty="0">
                <a:solidFill>
                  <a:srgbClr val="12324F"/>
                </a:solidFill>
                <a:latin typeface="Cambria" pitchFamily="34" charset="0"/>
                <a:ea typeface="Cambria" pitchFamily="34" charset="-122"/>
                <a:cs typeface="Cambria" pitchFamily="34" charset="-120"/>
              </a:rPr>
              <a:t>14</a:t>
            </a:r>
            <a:endParaRPr lang="en-US" sz="2200" dirty="0"/>
          </a:p>
        </p:txBody>
      </p:sp>
      <p:sp>
        <p:nvSpPr>
          <p:cNvPr id="11" name="Text 7"/>
          <p:cNvSpPr txBox="1"/>
          <p:nvPr/>
        </p:nvSpPr>
        <p:spPr>
          <a:xfrm>
            <a:off x="5340096" y="2962656"/>
            <a:ext cx="1280160" cy="420624"/>
          </a:xfrm>
          <a:prstGeom prst="rect">
            <a:avLst/>
          </a:prstGeom>
          <a:noFill/>
          <a:ln/>
        </p:spPr>
        <p:txBody>
          <a:bodyPr wrap="square" lIns="0" tIns="0" rIns="0" bIns="0" rtlCol="0" anchor="ctr"/>
          <a:lstStyle/>
          <a:p>
            <a:pPr marL="0" indent="0" algn="l">
              <a:buNone/>
            </a:pPr>
            <a:r>
              <a:rPr lang="en-US" sz="1050" dirty="0">
                <a:solidFill>
                  <a:srgbClr val="5F7082"/>
                </a:solidFill>
                <a:latin typeface="Calibri" pitchFamily="34" charset="0"/>
                <a:ea typeface="Calibri" pitchFamily="34" charset="-122"/>
                <a:cs typeface="Calibri" pitchFamily="34" charset="-120"/>
              </a:rPr>
              <a:t>core shard</a:t>
            </a:r>
            <a:endParaRPr lang="en-US" sz="1050" dirty="0"/>
          </a:p>
        </p:txBody>
      </p:sp>
      <p:sp>
        <p:nvSpPr>
          <p:cNvPr id="12" name="Text 8"/>
          <p:cNvSpPr txBox="1"/>
          <p:nvPr/>
        </p:nvSpPr>
        <p:spPr>
          <a:xfrm>
            <a:off x="6675120" y="2487168"/>
            <a:ext cx="1371600" cy="475488"/>
          </a:xfrm>
          <a:prstGeom prst="rect">
            <a:avLst/>
          </a:prstGeom>
          <a:noFill/>
          <a:ln/>
        </p:spPr>
        <p:txBody>
          <a:bodyPr wrap="square" lIns="0" tIns="0" rIns="0" bIns="0" rtlCol="0" anchor="ctr"/>
          <a:lstStyle/>
          <a:p>
            <a:pPr marL="0" indent="0" algn="l">
              <a:buNone/>
            </a:pPr>
            <a:r>
              <a:rPr lang="en-US" sz="2200" b="1" dirty="0">
                <a:solidFill>
                  <a:srgbClr val="12324F"/>
                </a:solidFill>
                <a:latin typeface="Cambria" pitchFamily="34" charset="0"/>
                <a:ea typeface="Cambria" pitchFamily="34" charset="-122"/>
                <a:cs typeface="Cambria" pitchFamily="34" charset="-120"/>
              </a:rPr>
              <a:t>6</a:t>
            </a:r>
            <a:endParaRPr lang="en-US" sz="2200" dirty="0"/>
          </a:p>
        </p:txBody>
      </p:sp>
      <p:sp>
        <p:nvSpPr>
          <p:cNvPr id="13" name="Text 9"/>
          <p:cNvSpPr txBox="1"/>
          <p:nvPr/>
        </p:nvSpPr>
        <p:spPr>
          <a:xfrm>
            <a:off x="6675120" y="2962656"/>
            <a:ext cx="1371600" cy="420624"/>
          </a:xfrm>
          <a:prstGeom prst="rect">
            <a:avLst/>
          </a:prstGeom>
          <a:noFill/>
          <a:ln/>
        </p:spPr>
        <p:txBody>
          <a:bodyPr wrap="square" lIns="0" tIns="0" rIns="0" bIns="0" rtlCol="0" anchor="ctr"/>
          <a:lstStyle/>
          <a:p>
            <a:pPr marL="0" indent="0" algn="l">
              <a:buNone/>
            </a:pPr>
            <a:r>
              <a:rPr lang="en-US" sz="1050" dirty="0">
                <a:solidFill>
                  <a:srgbClr val="5F7082"/>
                </a:solidFill>
                <a:latin typeface="Calibri" pitchFamily="34" charset="0"/>
                <a:ea typeface="Calibri" pitchFamily="34" charset="-122"/>
                <a:cs typeface="Calibri" pitchFamily="34" charset="-120"/>
              </a:rPr>
              <a:t>mənbə komponenti</a:t>
            </a:r>
            <a:endParaRPr lang="en-US" sz="1050" dirty="0"/>
          </a:p>
        </p:txBody>
      </p:sp>
      <p:sp>
        <p:nvSpPr>
          <p:cNvPr id="14" name="Text 10"/>
          <p:cNvSpPr txBox="1"/>
          <p:nvPr/>
        </p:nvSpPr>
        <p:spPr>
          <a:xfrm>
            <a:off x="5340096" y="3364992"/>
            <a:ext cx="2743200" cy="274320"/>
          </a:xfrm>
          <a:prstGeom prst="rect">
            <a:avLst/>
          </a:prstGeom>
          <a:noFill/>
          <a:ln/>
        </p:spPr>
        <p:txBody>
          <a:bodyPr wrap="square" lIns="0" tIns="0" rIns="0" bIns="0" rtlCol="0" anchor="ctr"/>
          <a:lstStyle/>
          <a:p>
            <a:pPr marL="0" indent="0">
              <a:buNone/>
            </a:pPr>
            <a:r>
              <a:rPr lang="en-US" sz="1000" dirty="0">
                <a:solidFill>
                  <a:srgbClr val="5F7082"/>
                </a:solidFill>
                <a:latin typeface="Calibri" pitchFamily="34" charset="0"/>
                <a:ea typeface="Calibri" pitchFamily="34" charset="-122"/>
                <a:cs typeface="Calibri" pitchFamily="34" charset="-120"/>
              </a:rPr>
              <a:t>News  ·  Native Wikipedia  ·  Blogs  ·  Books  ·  Legal</a:t>
            </a:r>
            <a:endParaRPr lang="en-US" sz="1000" dirty="0"/>
          </a:p>
        </p:txBody>
      </p:sp>
      <p:sp>
        <p:nvSpPr>
          <p:cNvPr id="15" name="Shape 11"/>
          <p:cNvSpPr/>
          <p:nvPr/>
        </p:nvSpPr>
        <p:spPr>
          <a:xfrm>
            <a:off x="8366760" y="1481328"/>
            <a:ext cx="3273552" cy="2331720"/>
          </a:xfrm>
          <a:prstGeom prst="roundRect">
            <a:avLst>
              <a:gd name="adj" fmla="val 2745"/>
            </a:avLst>
          </a:prstGeom>
          <a:solidFill>
            <a:srgbClr val="FDF3EC"/>
          </a:solidFill>
          <a:ln/>
        </p:spPr>
      </p:sp>
      <p:sp>
        <p:nvSpPr>
          <p:cNvPr id="16" name="Text 12"/>
          <p:cNvSpPr txBox="1"/>
          <p:nvPr/>
        </p:nvSpPr>
        <p:spPr>
          <a:xfrm>
            <a:off x="8567928" y="1627632"/>
            <a:ext cx="292608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KƏNARLAŞDIRILMIŞ MƏNBƏLƏR</a:t>
            </a:r>
            <a:endParaRPr lang="en-US" sz="1050" dirty="0"/>
          </a:p>
        </p:txBody>
      </p:sp>
      <p:sp>
        <p:nvSpPr>
          <p:cNvPr id="17" name="Text 13"/>
          <p:cNvSpPr txBox="1"/>
          <p:nvPr/>
        </p:nvSpPr>
        <p:spPr>
          <a:xfrm>
            <a:off x="8567928" y="1901952"/>
            <a:ext cx="2871216" cy="237744"/>
          </a:xfrm>
          <a:prstGeom prst="rect">
            <a:avLst/>
          </a:prstGeom>
          <a:noFill/>
          <a:ln/>
        </p:spPr>
        <p:txBody>
          <a:bodyPr wrap="square" lIns="0" tIns="0" rIns="0" bIns="0" rtlCol="0" anchor="ctr"/>
          <a:lstStyle/>
          <a:p>
            <a:pPr marL="0" indent="0">
              <a:buNone/>
            </a:pPr>
            <a:r>
              <a:rPr lang="en-US" sz="1250" b="1" dirty="0">
                <a:solidFill>
                  <a:srgbClr val="0E2438"/>
                </a:solidFill>
                <a:latin typeface="Calibri" pitchFamily="34" charset="0"/>
                <a:ea typeface="Calibri" pitchFamily="34" charset="-122"/>
                <a:cs typeface="Calibri" pitchFamily="34" charset="-120"/>
              </a:rPr>
              <a:t>translated-enwiki</a:t>
            </a:r>
            <a:endParaRPr lang="en-US" sz="1250" dirty="0"/>
          </a:p>
        </p:txBody>
      </p:sp>
      <p:sp>
        <p:nvSpPr>
          <p:cNvPr id="18" name="Text 14"/>
          <p:cNvSpPr txBox="1"/>
          <p:nvPr/>
        </p:nvSpPr>
        <p:spPr>
          <a:xfrm>
            <a:off x="8567928" y="2121408"/>
            <a:ext cx="2871216" cy="475488"/>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Tərcümə edilmiş mətn dil statistikasını dəyişir — translation confound riski.</a:t>
            </a:r>
            <a:endParaRPr lang="en-US" sz="1050" dirty="0"/>
          </a:p>
        </p:txBody>
      </p:sp>
      <p:sp>
        <p:nvSpPr>
          <p:cNvPr id="21" name="Shape 17"/>
          <p:cNvSpPr/>
          <p:nvPr/>
        </p:nvSpPr>
        <p:spPr>
          <a:xfrm>
            <a:off x="5138928" y="3877056"/>
            <a:ext cx="6501384" cy="1417320"/>
          </a:xfrm>
          <a:prstGeom prst="roundRect">
            <a:avLst>
              <a:gd name="adj" fmla="val 4516"/>
            </a:avLst>
          </a:prstGeom>
          <a:solidFill>
            <a:srgbClr val="EAF0F4"/>
          </a:solidFill>
          <a:ln/>
        </p:spPr>
      </p:sp>
      <p:sp>
        <p:nvSpPr>
          <p:cNvPr id="22" name="Text 18"/>
          <p:cNvSpPr txBox="1"/>
          <p:nvPr/>
        </p:nvSpPr>
        <p:spPr>
          <a:xfrm>
            <a:off x="5340096" y="4005072"/>
            <a:ext cx="457200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NİYƏ İKİ FƏRQLİ BAXIŞ?</a:t>
            </a:r>
            <a:endParaRPr lang="en-US" sz="1050" dirty="0"/>
          </a:p>
        </p:txBody>
      </p:sp>
      <p:sp>
        <p:nvSpPr>
          <p:cNvPr id="23" name="Text 19"/>
          <p:cNvSpPr txBox="1"/>
          <p:nvPr/>
        </p:nvSpPr>
        <p:spPr>
          <a:xfrm>
            <a:off x="5340096" y="4261104"/>
            <a:ext cx="6126480" cy="530352"/>
          </a:xfrm>
          <a:prstGeom prst="rect">
            <a:avLst/>
          </a:prstGeom>
          <a:noFill/>
          <a:ln/>
        </p:spPr>
        <p:txBody>
          <a:bodyPr wrap="square" lIns="0" tIns="0" rIns="0" bIns="0" rtlCol="0" anchor="ctr"/>
          <a:lstStyle/>
          <a:p>
            <a:pPr marL="0" indent="0">
              <a:buNone/>
            </a:pPr>
            <a:r>
              <a:rPr lang="en-US" sz="1150" dirty="0">
                <a:solidFill>
                  <a:srgbClr val="14202E"/>
                </a:solidFill>
                <a:latin typeface="Calibri" pitchFamily="34" charset="0"/>
                <a:ea typeface="Calibri" pitchFamily="34" charset="-122"/>
                <a:cs typeface="Calibri" pitchFamily="34" charset="-120"/>
              </a:rPr>
              <a:t>mediocore-books sənəd sayının 95%-ni təşkil edir, lakin sənədlərin çoxu qısa fraqmentdir. Yalnız sənəd sayına baxsaq, korpusun tərkibi haqqında yanlış təsəvvür yaranar.</a:t>
            </a:r>
            <a:endParaRPr lang="en-US" sz="1150" dirty="0"/>
          </a:p>
        </p:txBody>
      </p:sp>
      <p:sp>
        <p:nvSpPr>
          <p:cNvPr id="24" name="Text 20"/>
          <p:cNvSpPr txBox="1"/>
          <p:nvPr/>
        </p:nvSpPr>
        <p:spPr>
          <a:xfrm>
            <a:off x="5340096" y="4791456"/>
            <a:ext cx="6126480" cy="411480"/>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Token miqyasında mənzərə tamam başqadır:  News 237.6M  ·  Books 227.4M  ·  Wikipedia 74.6M  ·  Laws 64.6M  ·  Blogs 1.5M</a:t>
            </a:r>
            <a:endParaRPr lang="en-US" sz="1150" dirty="0"/>
          </a:p>
        </p:txBody>
      </p:sp>
      <p:sp>
        <p:nvSpPr>
          <p:cNvPr id="25" name="Shape 21"/>
          <p:cNvSpPr/>
          <p:nvPr/>
        </p:nvSpPr>
        <p:spPr>
          <a:xfrm>
            <a:off x="5138928" y="5486400"/>
            <a:ext cx="6501384" cy="457200"/>
          </a:xfrm>
          <a:prstGeom prst="roundRect">
            <a:avLst>
              <a:gd name="adj" fmla="val 14000"/>
            </a:avLst>
          </a:prstGeom>
          <a:solidFill>
            <a:srgbClr val="EAF0F4"/>
          </a:solidFill>
          <a:ln/>
        </p:spPr>
      </p:sp>
      <p:sp>
        <p:nvSpPr>
          <p:cNvPr id="26" name="Text 22"/>
          <p:cNvSpPr txBox="1"/>
          <p:nvPr/>
        </p:nvSpPr>
        <p:spPr>
          <a:xfrm>
            <a:off x="5303520" y="5504688"/>
            <a:ext cx="6172200" cy="457200"/>
          </a:xfrm>
          <a:prstGeom prst="rect">
            <a:avLst/>
          </a:prstGeom>
          <a:noFill/>
          <a:ln/>
        </p:spPr>
        <p:txBody>
          <a:bodyPr wrap="square" lIns="0" tIns="0" rIns="0" bIns="0" rtlCol="0" anchor="ctr"/>
          <a:lstStyle/>
          <a:p>
            <a:pPr marL="0" indent="0">
              <a:buNone/>
            </a:pPr>
            <a:r>
              <a:rPr lang="en-US" sz="1250" b="1" dirty="0">
                <a:solidFill>
                  <a:srgbClr val="12324F"/>
                </a:solidFill>
                <a:latin typeface="Calibri" pitchFamily="34" charset="0"/>
                <a:ea typeface="Calibri" pitchFamily="34" charset="-122"/>
                <a:cs typeface="Calibri" pitchFamily="34" charset="-120"/>
              </a:rPr>
              <a:t>Nəticə:  </a:t>
            </a:r>
            <a:r>
              <a:rPr lang="en-US" sz="1250" dirty="0">
                <a:solidFill>
                  <a:srgbClr val="14202E"/>
                </a:solidFill>
                <a:latin typeface="Calibri" pitchFamily="34" charset="0"/>
                <a:ea typeface="Calibri" pitchFamily="34" charset="-122"/>
                <a:cs typeface="Calibri" pitchFamily="34" charset="-120"/>
              </a:rPr>
              <a:t>Corpus composition yalnız sənəd sayı ilə deyil, token miqyasında da audit olunub — hər iki baxış frozen metadata-dan gəlir.</a:t>
            </a:r>
            <a:endParaRPr lang="en-US" sz="1250" dirty="0"/>
          </a:p>
        </p:txBody>
      </p:sp>
      <p:sp>
        <p:nvSpPr>
          <p:cNvPr id="27" name="Text 23"/>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Ibrahim Mammadov  ·  IBRAHIM102005</a:t>
            </a:r>
            <a:endParaRPr lang="en-US" sz="950" dirty="0"/>
          </a:p>
        </p:txBody>
      </p:sp>
      <p:sp>
        <p:nvSpPr>
          <p:cNvPr id="28" name="Text 24"/>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data/metadata/training_data_contract.json</a:t>
            </a:r>
            <a:endParaRPr lang="en-US" sz="850" dirty="0"/>
          </a:p>
        </p:txBody>
      </p:sp>
      <p:sp>
        <p:nvSpPr>
          <p:cNvPr id="29" name="Text 25"/>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01  /  DATA FOUNDATION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Raw mətndən leakage-safe korpusa</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Unicode NFC normalizasiya  →  uzunluq filtri  →  exact dedup  →  near-duplicate dedup  →  cluster-aware split</a:t>
            </a:r>
            <a:endParaRPr lang="en-US" sz="1300" dirty="0"/>
          </a:p>
        </p:txBody>
      </p:sp>
      <p:sp>
        <p:nvSpPr>
          <p:cNvPr id="5" name="Shape 3"/>
          <p:cNvSpPr/>
          <p:nvPr/>
        </p:nvSpPr>
        <p:spPr>
          <a:xfrm>
            <a:off x="548640" y="1572768"/>
            <a:ext cx="3017520" cy="475488"/>
          </a:xfrm>
          <a:prstGeom prst="rect">
            <a:avLst/>
          </a:prstGeom>
          <a:solidFill>
            <a:srgbClr val="F4F7F9"/>
          </a:solidFill>
          <a:ln/>
        </p:spPr>
      </p:sp>
      <p:sp>
        <p:nvSpPr>
          <p:cNvPr id="6" name="Text 4"/>
          <p:cNvSpPr txBox="1"/>
          <p:nvPr/>
        </p:nvSpPr>
        <p:spPr>
          <a:xfrm>
            <a:off x="676656" y="1572768"/>
            <a:ext cx="1371600" cy="475488"/>
          </a:xfrm>
          <a:prstGeom prst="rect">
            <a:avLst/>
          </a:prstGeom>
          <a:noFill/>
          <a:ln/>
        </p:spPr>
        <p:txBody>
          <a:bodyPr wrap="square" lIns="0" tIns="0" rIns="0" bIns="0" rtlCol="0" anchor="ctr"/>
          <a:lstStyle/>
          <a:p>
            <a:pPr marL="0" indent="0">
              <a:buNone/>
            </a:pPr>
            <a:r>
              <a:rPr lang="en-US" sz="1500" b="1" dirty="0">
                <a:solidFill>
                  <a:srgbClr val="12324F"/>
                </a:solidFill>
                <a:latin typeface="Calibri" pitchFamily="34" charset="0"/>
                <a:ea typeface="Calibri" pitchFamily="34" charset="-122"/>
                <a:cs typeface="Calibri" pitchFamily="34" charset="-120"/>
              </a:rPr>
              <a:t>8 227 654</a:t>
            </a:r>
            <a:endParaRPr lang="en-US" sz="1500" dirty="0"/>
          </a:p>
        </p:txBody>
      </p:sp>
      <p:sp>
        <p:nvSpPr>
          <p:cNvPr id="7" name="Text 5"/>
          <p:cNvSpPr txBox="1"/>
          <p:nvPr/>
        </p:nvSpPr>
        <p:spPr>
          <a:xfrm>
            <a:off x="2029968" y="1572768"/>
            <a:ext cx="141732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raw core sənəd</a:t>
            </a:r>
            <a:endParaRPr lang="en-US" sz="950" dirty="0"/>
          </a:p>
        </p:txBody>
      </p:sp>
      <p:sp>
        <p:nvSpPr>
          <p:cNvPr id="8" name="Shape 6"/>
          <p:cNvSpPr/>
          <p:nvPr/>
        </p:nvSpPr>
        <p:spPr>
          <a:xfrm>
            <a:off x="868680" y="2139696"/>
            <a:ext cx="2697480" cy="402336"/>
          </a:xfrm>
          <a:prstGeom prst="rect">
            <a:avLst/>
          </a:prstGeom>
          <a:solidFill>
            <a:srgbClr val="FFFFFF"/>
          </a:solidFill>
          <a:ln w="12700">
            <a:solidFill>
              <a:srgbClr val="E3E9EF"/>
            </a:solidFill>
            <a:prstDash val="solid"/>
          </a:ln>
        </p:spPr>
      </p:sp>
      <p:sp>
        <p:nvSpPr>
          <p:cNvPr id="9" name="Text 7"/>
          <p:cNvSpPr txBox="1"/>
          <p:nvPr/>
        </p:nvSpPr>
        <p:spPr>
          <a:xfrm>
            <a:off x="996696" y="2139696"/>
            <a:ext cx="1371600" cy="402336"/>
          </a:xfrm>
          <a:prstGeom prst="rect">
            <a:avLst/>
          </a:prstGeom>
          <a:noFill/>
          <a:ln/>
        </p:spPr>
        <p:txBody>
          <a:bodyPr wrap="square" lIns="0" tIns="0" rIns="0" bIns="0" rtlCol="0" anchor="ctr"/>
          <a:lstStyle/>
          <a:p>
            <a:pPr marL="0" indent="0">
              <a:buNone/>
            </a:pPr>
            <a:r>
              <a:rPr lang="en-US" sz="1250" b="1" dirty="0">
                <a:solidFill>
                  <a:srgbClr val="8A99A8"/>
                </a:solidFill>
                <a:latin typeface="Calibri" pitchFamily="34" charset="0"/>
                <a:ea typeface="Calibri" pitchFamily="34" charset="-122"/>
                <a:cs typeface="Calibri" pitchFamily="34" charset="-120"/>
              </a:rPr>
              <a:t>−1 873 990</a:t>
            </a:r>
            <a:endParaRPr lang="en-US" sz="1250" dirty="0"/>
          </a:p>
        </p:txBody>
      </p:sp>
      <p:sp>
        <p:nvSpPr>
          <p:cNvPr id="10" name="Text 8"/>
          <p:cNvSpPr txBox="1"/>
          <p:nvPr/>
        </p:nvSpPr>
        <p:spPr>
          <a:xfrm>
            <a:off x="2350008" y="2139696"/>
            <a:ext cx="1097280" cy="402336"/>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50 Unicode hərfdən qısa</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uzunluq filtri</a:t>
            </a:r>
            <a:endParaRPr lang="en-US" sz="950" dirty="0"/>
          </a:p>
        </p:txBody>
      </p:sp>
      <p:sp>
        <p:nvSpPr>
          <p:cNvPr id="11" name="Shape 9"/>
          <p:cNvSpPr/>
          <p:nvPr/>
        </p:nvSpPr>
        <p:spPr>
          <a:xfrm>
            <a:off x="868680" y="2633472"/>
            <a:ext cx="2697480" cy="402336"/>
          </a:xfrm>
          <a:prstGeom prst="rect">
            <a:avLst/>
          </a:prstGeom>
          <a:solidFill>
            <a:srgbClr val="FFFFFF"/>
          </a:solidFill>
          <a:ln w="12700">
            <a:solidFill>
              <a:srgbClr val="E3E9EF"/>
            </a:solidFill>
            <a:prstDash val="solid"/>
          </a:ln>
        </p:spPr>
      </p:sp>
      <p:sp>
        <p:nvSpPr>
          <p:cNvPr id="12" name="Text 10"/>
          <p:cNvSpPr txBox="1"/>
          <p:nvPr/>
        </p:nvSpPr>
        <p:spPr>
          <a:xfrm>
            <a:off x="996696" y="2633472"/>
            <a:ext cx="1371600" cy="402336"/>
          </a:xfrm>
          <a:prstGeom prst="rect">
            <a:avLst/>
          </a:prstGeom>
          <a:noFill/>
          <a:ln/>
        </p:spPr>
        <p:txBody>
          <a:bodyPr wrap="square" lIns="0" tIns="0" rIns="0" bIns="0" rtlCol="0" anchor="ctr"/>
          <a:lstStyle/>
          <a:p>
            <a:pPr marL="0" indent="0">
              <a:buNone/>
            </a:pPr>
            <a:r>
              <a:rPr lang="en-US" sz="1250" b="1" dirty="0">
                <a:solidFill>
                  <a:srgbClr val="8A99A8"/>
                </a:solidFill>
                <a:latin typeface="Calibri" pitchFamily="34" charset="0"/>
                <a:ea typeface="Calibri" pitchFamily="34" charset="-122"/>
                <a:cs typeface="Calibri" pitchFamily="34" charset="-120"/>
              </a:rPr>
              <a:t>−144 480</a:t>
            </a:r>
            <a:endParaRPr lang="en-US" sz="1250" dirty="0"/>
          </a:p>
        </p:txBody>
      </p:sp>
      <p:sp>
        <p:nvSpPr>
          <p:cNvPr id="13" name="Text 11"/>
          <p:cNvSpPr txBox="1"/>
          <p:nvPr/>
        </p:nvSpPr>
        <p:spPr>
          <a:xfrm>
            <a:off x="2350008" y="2633472"/>
            <a:ext cx="1097280" cy="402336"/>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exact duplicate (SHA-256)</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107 267 qrup</a:t>
            </a:r>
            <a:endParaRPr lang="en-US" sz="950" dirty="0"/>
          </a:p>
        </p:txBody>
      </p:sp>
      <p:sp>
        <p:nvSpPr>
          <p:cNvPr id="14" name="Shape 12"/>
          <p:cNvSpPr/>
          <p:nvPr/>
        </p:nvSpPr>
        <p:spPr>
          <a:xfrm>
            <a:off x="548640" y="3127248"/>
            <a:ext cx="3017520" cy="475488"/>
          </a:xfrm>
          <a:prstGeom prst="rect">
            <a:avLst/>
          </a:prstGeom>
          <a:solidFill>
            <a:srgbClr val="F4F7F9"/>
          </a:solidFill>
          <a:ln/>
        </p:spPr>
      </p:sp>
      <p:sp>
        <p:nvSpPr>
          <p:cNvPr id="15" name="Text 13"/>
          <p:cNvSpPr txBox="1"/>
          <p:nvPr/>
        </p:nvSpPr>
        <p:spPr>
          <a:xfrm>
            <a:off x="676656" y="3127248"/>
            <a:ext cx="1371600" cy="475488"/>
          </a:xfrm>
          <a:prstGeom prst="rect">
            <a:avLst/>
          </a:prstGeom>
          <a:noFill/>
          <a:ln/>
        </p:spPr>
        <p:txBody>
          <a:bodyPr wrap="square" lIns="0" tIns="0" rIns="0" bIns="0" rtlCol="0" anchor="ctr"/>
          <a:lstStyle/>
          <a:p>
            <a:pPr marL="0" indent="0">
              <a:buNone/>
            </a:pPr>
            <a:r>
              <a:rPr lang="en-US" sz="1500" b="1" dirty="0">
                <a:solidFill>
                  <a:srgbClr val="2E7D8F"/>
                </a:solidFill>
                <a:latin typeface="Calibri" pitchFamily="34" charset="0"/>
                <a:ea typeface="Calibri" pitchFamily="34" charset="-122"/>
                <a:cs typeface="Calibri" pitchFamily="34" charset="-120"/>
              </a:rPr>
              <a:t>6 209 184</a:t>
            </a:r>
            <a:endParaRPr lang="en-US" sz="1500" dirty="0"/>
          </a:p>
        </p:txBody>
      </p:sp>
      <p:sp>
        <p:nvSpPr>
          <p:cNvPr id="16" name="Text 14"/>
          <p:cNvSpPr txBox="1"/>
          <p:nvPr/>
        </p:nvSpPr>
        <p:spPr>
          <a:xfrm>
            <a:off x="2029968" y="3127248"/>
            <a:ext cx="141732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exact-unique sənəd</a:t>
            </a:r>
            <a:endParaRPr lang="en-US" sz="950" dirty="0"/>
          </a:p>
        </p:txBody>
      </p:sp>
      <p:sp>
        <p:nvSpPr>
          <p:cNvPr id="17" name="Shape 15"/>
          <p:cNvSpPr/>
          <p:nvPr/>
        </p:nvSpPr>
        <p:spPr>
          <a:xfrm>
            <a:off x="868680" y="3694176"/>
            <a:ext cx="2697480" cy="402336"/>
          </a:xfrm>
          <a:prstGeom prst="rect">
            <a:avLst/>
          </a:prstGeom>
          <a:solidFill>
            <a:srgbClr val="FFFFFF"/>
          </a:solidFill>
          <a:ln w="12700">
            <a:solidFill>
              <a:srgbClr val="E3E9EF"/>
            </a:solidFill>
            <a:prstDash val="solid"/>
          </a:ln>
        </p:spPr>
      </p:sp>
      <p:sp>
        <p:nvSpPr>
          <p:cNvPr id="18" name="Text 16"/>
          <p:cNvSpPr txBox="1"/>
          <p:nvPr/>
        </p:nvSpPr>
        <p:spPr>
          <a:xfrm>
            <a:off x="996696" y="3694176"/>
            <a:ext cx="1371600" cy="402336"/>
          </a:xfrm>
          <a:prstGeom prst="rect">
            <a:avLst/>
          </a:prstGeom>
          <a:noFill/>
          <a:ln/>
        </p:spPr>
        <p:txBody>
          <a:bodyPr wrap="square" lIns="0" tIns="0" rIns="0" bIns="0" rtlCol="0" anchor="ctr"/>
          <a:lstStyle/>
          <a:p>
            <a:pPr marL="0" indent="0">
              <a:buNone/>
            </a:pPr>
            <a:r>
              <a:rPr lang="en-US" sz="1250" b="1" dirty="0">
                <a:solidFill>
                  <a:srgbClr val="8A99A8"/>
                </a:solidFill>
                <a:latin typeface="Calibri" pitchFamily="34" charset="0"/>
                <a:ea typeface="Calibri" pitchFamily="34" charset="-122"/>
                <a:cs typeface="Calibri" pitchFamily="34" charset="-120"/>
              </a:rPr>
              <a:t>−15 253</a:t>
            </a:r>
            <a:endParaRPr lang="en-US" sz="1250" dirty="0"/>
          </a:p>
        </p:txBody>
      </p:sp>
      <p:sp>
        <p:nvSpPr>
          <p:cNvPr id="19" name="Text 17"/>
          <p:cNvSpPr txBox="1"/>
          <p:nvPr/>
        </p:nvSpPr>
        <p:spPr>
          <a:xfrm>
            <a:off x="2350008" y="3694176"/>
            <a:ext cx="1097280" cy="402336"/>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near-duplicate silinməsi</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13 208 klaster</a:t>
            </a:r>
            <a:endParaRPr lang="en-US" sz="950" dirty="0"/>
          </a:p>
        </p:txBody>
      </p:sp>
      <p:sp>
        <p:nvSpPr>
          <p:cNvPr id="20" name="Shape 18"/>
          <p:cNvSpPr/>
          <p:nvPr/>
        </p:nvSpPr>
        <p:spPr>
          <a:xfrm>
            <a:off x="548640" y="4187952"/>
            <a:ext cx="3017520" cy="475488"/>
          </a:xfrm>
          <a:prstGeom prst="rect">
            <a:avLst/>
          </a:prstGeom>
          <a:solidFill>
            <a:srgbClr val="F4F7F9"/>
          </a:solidFill>
          <a:ln/>
        </p:spPr>
      </p:sp>
      <p:sp>
        <p:nvSpPr>
          <p:cNvPr id="21" name="Text 19"/>
          <p:cNvSpPr txBox="1"/>
          <p:nvPr/>
        </p:nvSpPr>
        <p:spPr>
          <a:xfrm>
            <a:off x="676656" y="4187952"/>
            <a:ext cx="1371600" cy="475488"/>
          </a:xfrm>
          <a:prstGeom prst="rect">
            <a:avLst/>
          </a:prstGeom>
          <a:noFill/>
          <a:ln/>
        </p:spPr>
        <p:txBody>
          <a:bodyPr wrap="square" lIns="0" tIns="0" rIns="0" bIns="0" rtlCol="0" anchor="ctr"/>
          <a:lstStyle/>
          <a:p>
            <a:pPr marL="0" indent="0">
              <a:buNone/>
            </a:pPr>
            <a:r>
              <a:rPr lang="en-US" sz="1500" b="1" dirty="0">
                <a:solidFill>
                  <a:srgbClr val="009E73"/>
                </a:solidFill>
                <a:latin typeface="Calibri" pitchFamily="34" charset="0"/>
                <a:ea typeface="Calibri" pitchFamily="34" charset="-122"/>
                <a:cs typeface="Calibri" pitchFamily="34" charset="-120"/>
              </a:rPr>
              <a:t>6 193 931</a:t>
            </a:r>
            <a:endParaRPr lang="en-US" sz="1500" dirty="0"/>
          </a:p>
        </p:txBody>
      </p:sp>
      <p:sp>
        <p:nvSpPr>
          <p:cNvPr id="22" name="Text 20"/>
          <p:cNvSpPr txBox="1"/>
          <p:nvPr/>
        </p:nvSpPr>
        <p:spPr>
          <a:xfrm>
            <a:off x="2029968" y="4187952"/>
            <a:ext cx="141732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final retained korpus</a:t>
            </a:r>
            <a:endParaRPr lang="en-US" sz="950" dirty="0"/>
          </a:p>
        </p:txBody>
      </p:sp>
      <p:sp>
        <p:nvSpPr>
          <p:cNvPr id="23" name="Text 21"/>
          <p:cNvSpPr txBox="1"/>
          <p:nvPr/>
        </p:nvSpPr>
        <p:spPr>
          <a:xfrm>
            <a:off x="548640" y="4828032"/>
            <a:ext cx="3154680" cy="402336"/>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raw = qısa + exact silinmə + exact-unique      ·      retained = exact-unique − near silinmə</a:t>
            </a:r>
            <a:endParaRPr lang="en-US" sz="850" dirty="0"/>
          </a:p>
        </p:txBody>
      </p:sp>
      <p:sp>
        <p:nvSpPr>
          <p:cNvPr id="24" name="Shape 22"/>
          <p:cNvSpPr/>
          <p:nvPr/>
        </p:nvSpPr>
        <p:spPr>
          <a:xfrm>
            <a:off x="3822192" y="1481328"/>
            <a:ext cx="3200400" cy="3017520"/>
          </a:xfrm>
          <a:prstGeom prst="roundRect">
            <a:avLst>
              <a:gd name="adj" fmla="val 2121"/>
            </a:avLst>
          </a:prstGeom>
          <a:solidFill>
            <a:srgbClr val="F4F7F9"/>
          </a:solidFill>
          <a:ln/>
        </p:spPr>
      </p:sp>
      <p:sp>
        <p:nvSpPr>
          <p:cNvPr id="25" name="Text 23"/>
          <p:cNvSpPr txBox="1"/>
          <p:nvPr/>
        </p:nvSpPr>
        <p:spPr>
          <a:xfrm>
            <a:off x="4023360" y="1609344"/>
            <a:ext cx="283464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NEAR-DUPLICATE AŞKARLANMASI</a:t>
            </a:r>
            <a:endParaRPr lang="en-US" sz="1050" dirty="0"/>
          </a:p>
        </p:txBody>
      </p:sp>
      <p:sp>
        <p:nvSpPr>
          <p:cNvPr id="26" name="Text 24"/>
          <p:cNvSpPr txBox="1"/>
          <p:nvPr/>
        </p:nvSpPr>
        <p:spPr>
          <a:xfrm>
            <a:off x="4023360" y="1901952"/>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simvol 5-qram</a:t>
            </a:r>
            <a:endParaRPr lang="en-US" sz="1150" dirty="0"/>
          </a:p>
        </p:txBody>
      </p:sp>
      <p:sp>
        <p:nvSpPr>
          <p:cNvPr id="27" name="Text 25"/>
          <p:cNvSpPr txBox="1"/>
          <p:nvPr/>
        </p:nvSpPr>
        <p:spPr>
          <a:xfrm>
            <a:off x="4023360" y="2103120"/>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hər sənəd üçün shingle dəsti</a:t>
            </a:r>
            <a:endParaRPr lang="en-US" sz="950" dirty="0"/>
          </a:p>
        </p:txBody>
      </p:sp>
      <p:sp>
        <p:nvSpPr>
          <p:cNvPr id="28" name="Text 26"/>
          <p:cNvSpPr txBox="1"/>
          <p:nvPr/>
        </p:nvSpPr>
        <p:spPr>
          <a:xfrm>
            <a:off x="4023360" y="2331720"/>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LSH  (32 fingerprint, 8 band)</a:t>
            </a:r>
            <a:endParaRPr lang="en-US" sz="1150" dirty="0"/>
          </a:p>
        </p:txBody>
      </p:sp>
      <p:sp>
        <p:nvSpPr>
          <p:cNvPr id="29" name="Text 27"/>
          <p:cNvSpPr txBox="1"/>
          <p:nvPr/>
        </p:nvSpPr>
        <p:spPr>
          <a:xfrm>
            <a:off x="4023360" y="2532888"/>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namizəd cütlərin generasiyası</a:t>
            </a:r>
            <a:endParaRPr lang="en-US" sz="950" dirty="0"/>
          </a:p>
        </p:txBody>
      </p:sp>
      <p:sp>
        <p:nvSpPr>
          <p:cNvPr id="30" name="Text 28"/>
          <p:cNvSpPr txBox="1"/>
          <p:nvPr/>
        </p:nvSpPr>
        <p:spPr>
          <a:xfrm>
            <a:off x="4023360" y="2761488"/>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6 444 499</a:t>
            </a:r>
            <a:endParaRPr lang="en-US" sz="1150" dirty="0"/>
          </a:p>
        </p:txBody>
      </p:sp>
      <p:sp>
        <p:nvSpPr>
          <p:cNvPr id="31" name="Text 29"/>
          <p:cNvSpPr txBox="1"/>
          <p:nvPr/>
        </p:nvSpPr>
        <p:spPr>
          <a:xfrm>
            <a:off x="4023360" y="2962656"/>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yoxlanılan namizəd cütü</a:t>
            </a:r>
            <a:endParaRPr lang="en-US" sz="950" dirty="0"/>
          </a:p>
        </p:txBody>
      </p:sp>
      <p:sp>
        <p:nvSpPr>
          <p:cNvPr id="32" name="Text 30"/>
          <p:cNvSpPr txBox="1"/>
          <p:nvPr/>
        </p:nvSpPr>
        <p:spPr>
          <a:xfrm>
            <a:off x="4023360" y="3191256"/>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exact Jaccard ≥ 0.95</a:t>
            </a:r>
            <a:endParaRPr lang="en-US" sz="1150" dirty="0"/>
          </a:p>
        </p:txBody>
      </p:sp>
      <p:sp>
        <p:nvSpPr>
          <p:cNvPr id="33" name="Text 31"/>
          <p:cNvSpPr txBox="1"/>
          <p:nvPr/>
        </p:nvSpPr>
        <p:spPr>
          <a:xfrm>
            <a:off x="4023360" y="3392424"/>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hər namizəd birbaşa yoxlanılıb</a:t>
            </a:r>
            <a:endParaRPr lang="en-US" sz="950" dirty="0"/>
          </a:p>
        </p:txBody>
      </p:sp>
      <p:sp>
        <p:nvSpPr>
          <p:cNvPr id="34" name="Text 32"/>
          <p:cNvSpPr txBox="1"/>
          <p:nvPr/>
        </p:nvSpPr>
        <p:spPr>
          <a:xfrm>
            <a:off x="4023360" y="3621024"/>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86 697</a:t>
            </a:r>
            <a:endParaRPr lang="en-US" sz="1150" dirty="0"/>
          </a:p>
        </p:txBody>
      </p:sp>
      <p:sp>
        <p:nvSpPr>
          <p:cNvPr id="35" name="Text 33"/>
          <p:cNvSpPr txBox="1"/>
          <p:nvPr/>
        </p:nvSpPr>
        <p:spPr>
          <a:xfrm>
            <a:off x="4023360" y="3822192"/>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qəbul edilmiş kənar (edge)</a:t>
            </a:r>
            <a:endParaRPr lang="en-US" sz="950" dirty="0"/>
          </a:p>
        </p:txBody>
      </p:sp>
      <p:sp>
        <p:nvSpPr>
          <p:cNvPr id="36" name="Text 34"/>
          <p:cNvSpPr txBox="1"/>
          <p:nvPr/>
        </p:nvSpPr>
        <p:spPr>
          <a:xfrm>
            <a:off x="4023360" y="4050792"/>
            <a:ext cx="2834640" cy="219456"/>
          </a:xfrm>
          <a:prstGeom prst="rect">
            <a:avLst/>
          </a:prstGeom>
          <a:noFill/>
          <a:ln/>
        </p:spPr>
        <p:txBody>
          <a:bodyPr wrap="square" lIns="0" tIns="0" rIns="0" bIns="0" rtlCol="0" anchor="ctr"/>
          <a:lstStyle/>
          <a:p>
            <a:pPr marL="0" indent="0">
              <a:buNone/>
            </a:pPr>
            <a:r>
              <a:rPr lang="en-US" sz="1150" b="1" dirty="0">
                <a:solidFill>
                  <a:srgbClr val="0E2438"/>
                </a:solidFill>
                <a:latin typeface="Calibri" pitchFamily="34" charset="0"/>
                <a:ea typeface="Calibri" pitchFamily="34" charset="-122"/>
                <a:cs typeface="Calibri" pitchFamily="34" charset="-120"/>
              </a:rPr>
              <a:t>13 208 klaster / 28 461 sənəd</a:t>
            </a:r>
            <a:endParaRPr lang="en-US" sz="1150" dirty="0"/>
          </a:p>
        </p:txBody>
      </p:sp>
      <p:sp>
        <p:nvSpPr>
          <p:cNvPr id="37" name="Text 35"/>
          <p:cNvSpPr txBox="1"/>
          <p:nvPr/>
        </p:nvSpPr>
        <p:spPr>
          <a:xfrm>
            <a:off x="4023360" y="4251960"/>
            <a:ext cx="2834640" cy="20116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connected components</a:t>
            </a:r>
            <a:endParaRPr lang="en-US" sz="950" dirty="0"/>
          </a:p>
        </p:txBody>
      </p:sp>
      <p:sp>
        <p:nvSpPr>
          <p:cNvPr id="38" name="Shape 36"/>
          <p:cNvSpPr/>
          <p:nvPr/>
        </p:nvSpPr>
        <p:spPr>
          <a:xfrm>
            <a:off x="7223760" y="1481328"/>
            <a:ext cx="4416552" cy="1481328"/>
          </a:xfrm>
          <a:prstGeom prst="roundRect">
            <a:avLst>
              <a:gd name="adj" fmla="val 4321"/>
            </a:avLst>
          </a:prstGeom>
          <a:solidFill>
            <a:srgbClr val="FDF3EC"/>
          </a:solidFill>
          <a:ln/>
        </p:spPr>
      </p:sp>
      <p:sp>
        <p:nvSpPr>
          <p:cNvPr id="39" name="Text 37"/>
          <p:cNvSpPr txBox="1"/>
          <p:nvPr/>
        </p:nvSpPr>
        <p:spPr>
          <a:xfrm>
            <a:off x="7424928" y="1591056"/>
            <a:ext cx="402336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LEAKAGE NƏ DEMƏKDİR?</a:t>
            </a:r>
            <a:endParaRPr lang="en-US" sz="1050" dirty="0"/>
          </a:p>
        </p:txBody>
      </p:sp>
      <p:sp>
        <p:nvSpPr>
          <p:cNvPr id="40" name="Shape 38"/>
          <p:cNvSpPr/>
          <p:nvPr/>
        </p:nvSpPr>
        <p:spPr>
          <a:xfrm>
            <a:off x="7424928" y="1865376"/>
            <a:ext cx="1600200" cy="310896"/>
          </a:xfrm>
          <a:prstGeom prst="rect">
            <a:avLst/>
          </a:prstGeom>
          <a:solidFill>
            <a:srgbClr val="FFFFFF"/>
          </a:solidFill>
          <a:ln w="15240">
            <a:solidFill>
              <a:srgbClr val="D55E00"/>
            </a:solidFill>
            <a:prstDash val="solid"/>
          </a:ln>
        </p:spPr>
      </p:sp>
      <p:sp>
        <p:nvSpPr>
          <p:cNvPr id="41" name="Text 39"/>
          <p:cNvSpPr txBox="1"/>
          <p:nvPr/>
        </p:nvSpPr>
        <p:spPr>
          <a:xfrm>
            <a:off x="7424928" y="1865376"/>
            <a:ext cx="1600200" cy="310896"/>
          </a:xfrm>
          <a:prstGeom prst="rect">
            <a:avLst/>
          </a:prstGeom>
          <a:noFill/>
          <a:ln/>
        </p:spPr>
        <p:txBody>
          <a:bodyPr wrap="square" lIns="0" tIns="0" rIns="0" bIns="0" rtlCol="0" anchor="ctr"/>
          <a:lstStyle/>
          <a:p>
            <a:pPr marL="0" indent="0" algn="ctr">
              <a:buNone/>
            </a:pPr>
            <a:r>
              <a:rPr lang="en-US" sz="1000" dirty="0">
                <a:solidFill>
                  <a:srgbClr val="8A3B00"/>
                </a:solidFill>
                <a:latin typeface="Calibri" pitchFamily="34" charset="0"/>
                <a:ea typeface="Calibri" pitchFamily="34" charset="-122"/>
                <a:cs typeface="Calibri" pitchFamily="34" charset="-120"/>
              </a:rPr>
              <a:t>oxşar məqalə A</a:t>
            </a:r>
            <a:endParaRPr lang="en-US" sz="1000" dirty="0"/>
          </a:p>
        </p:txBody>
      </p:sp>
      <p:sp>
        <p:nvSpPr>
          <p:cNvPr id="42" name="Text 40"/>
          <p:cNvSpPr txBox="1"/>
          <p:nvPr/>
        </p:nvSpPr>
        <p:spPr>
          <a:xfrm>
            <a:off x="9098280" y="1865376"/>
            <a:ext cx="1005840" cy="310896"/>
          </a:xfrm>
          <a:prstGeom prst="rect">
            <a:avLst/>
          </a:prstGeom>
          <a:noFill/>
          <a:ln/>
        </p:spPr>
        <p:txBody>
          <a:bodyPr wrap="square" lIns="0" tIns="0" rIns="0" bIns="0" rtlCol="0" anchor="ctr"/>
          <a:lstStyle/>
          <a:p>
            <a:pPr marL="0" indent="0">
              <a:buNone/>
            </a:pPr>
            <a:r>
              <a:rPr lang="en-US" sz="1000" b="1" dirty="0">
                <a:solidFill>
                  <a:srgbClr val="5F7082"/>
                </a:solidFill>
                <a:latin typeface="Calibri" pitchFamily="34" charset="0"/>
                <a:ea typeface="Calibri" pitchFamily="34" charset="-122"/>
                <a:cs typeface="Calibri" pitchFamily="34" charset="-120"/>
              </a:rPr>
              <a:t>→ TRAIN</a:t>
            </a:r>
            <a:endParaRPr lang="en-US" sz="1000" dirty="0"/>
          </a:p>
        </p:txBody>
      </p:sp>
      <p:sp>
        <p:nvSpPr>
          <p:cNvPr id="43" name="Shape 41"/>
          <p:cNvSpPr/>
          <p:nvPr/>
        </p:nvSpPr>
        <p:spPr>
          <a:xfrm>
            <a:off x="7424928" y="2249424"/>
            <a:ext cx="1600200" cy="310896"/>
          </a:xfrm>
          <a:prstGeom prst="rect">
            <a:avLst/>
          </a:prstGeom>
          <a:solidFill>
            <a:srgbClr val="FFFFFF"/>
          </a:solidFill>
          <a:ln w="15240">
            <a:solidFill>
              <a:srgbClr val="D55E00"/>
            </a:solidFill>
            <a:prstDash val="solid"/>
          </a:ln>
        </p:spPr>
      </p:sp>
      <p:sp>
        <p:nvSpPr>
          <p:cNvPr id="44" name="Text 42"/>
          <p:cNvSpPr txBox="1"/>
          <p:nvPr/>
        </p:nvSpPr>
        <p:spPr>
          <a:xfrm>
            <a:off x="7424928" y="2249424"/>
            <a:ext cx="1600200" cy="310896"/>
          </a:xfrm>
          <a:prstGeom prst="rect">
            <a:avLst/>
          </a:prstGeom>
          <a:noFill/>
          <a:ln/>
        </p:spPr>
        <p:txBody>
          <a:bodyPr wrap="square" lIns="0" tIns="0" rIns="0" bIns="0" rtlCol="0" anchor="ctr"/>
          <a:lstStyle/>
          <a:p>
            <a:pPr marL="0" indent="0" algn="ctr">
              <a:buNone/>
            </a:pPr>
            <a:r>
              <a:rPr lang="en-US" sz="1000" dirty="0">
                <a:solidFill>
                  <a:srgbClr val="8A3B00"/>
                </a:solidFill>
                <a:latin typeface="Calibri" pitchFamily="34" charset="0"/>
                <a:ea typeface="Calibri" pitchFamily="34" charset="-122"/>
                <a:cs typeface="Calibri" pitchFamily="34" charset="-120"/>
              </a:rPr>
              <a:t>oxşar məqalə B</a:t>
            </a:r>
            <a:endParaRPr lang="en-US" sz="1000" dirty="0"/>
          </a:p>
        </p:txBody>
      </p:sp>
      <p:sp>
        <p:nvSpPr>
          <p:cNvPr id="45" name="Text 43"/>
          <p:cNvSpPr txBox="1"/>
          <p:nvPr/>
        </p:nvSpPr>
        <p:spPr>
          <a:xfrm>
            <a:off x="9098280" y="2249424"/>
            <a:ext cx="1005840" cy="310896"/>
          </a:xfrm>
          <a:prstGeom prst="rect">
            <a:avLst/>
          </a:prstGeom>
          <a:noFill/>
          <a:ln/>
        </p:spPr>
        <p:txBody>
          <a:bodyPr wrap="square" lIns="0" tIns="0" rIns="0" bIns="0" rtlCol="0" anchor="ctr"/>
          <a:lstStyle/>
          <a:p>
            <a:pPr marL="0" indent="0">
              <a:buNone/>
            </a:pPr>
            <a:r>
              <a:rPr lang="en-US" sz="1000" b="1" dirty="0">
                <a:solidFill>
                  <a:srgbClr val="5F7082"/>
                </a:solidFill>
                <a:latin typeface="Calibri" pitchFamily="34" charset="0"/>
                <a:ea typeface="Calibri" pitchFamily="34" charset="-122"/>
                <a:cs typeface="Calibri" pitchFamily="34" charset="-120"/>
              </a:rPr>
              <a:t>→ TEST</a:t>
            </a:r>
            <a:endParaRPr lang="en-US" sz="1000" dirty="0"/>
          </a:p>
        </p:txBody>
      </p:sp>
      <p:sp>
        <p:nvSpPr>
          <p:cNvPr id="46" name="Text 44"/>
          <p:cNvSpPr txBox="1"/>
          <p:nvPr/>
        </p:nvSpPr>
        <p:spPr>
          <a:xfrm>
            <a:off x="10149840" y="1828800"/>
            <a:ext cx="1371600" cy="731520"/>
          </a:xfrm>
          <a:prstGeom prst="rect">
            <a:avLst/>
          </a:prstGeom>
          <a:noFill/>
          <a:ln/>
        </p:spPr>
        <p:txBody>
          <a:bodyPr wrap="square" lIns="0" tIns="0" rIns="0" bIns="0" rtlCol="0" anchor="ctr"/>
          <a:lstStyle/>
          <a:p>
            <a:pPr marL="0" indent="0">
              <a:buNone/>
            </a:pPr>
            <a:r>
              <a:rPr lang="en-US" sz="950" dirty="0">
                <a:solidFill>
                  <a:srgbClr val="8A3B00"/>
                </a:solidFill>
                <a:latin typeface="Calibri" pitchFamily="34" charset="0"/>
                <a:ea typeface="Calibri" pitchFamily="34" charset="-122"/>
                <a:cs typeface="Calibri" pitchFamily="34" charset="-120"/>
              </a:rPr>
              <a:t>model faktiki olaraq</a:t>
            </a:r>
            <a:endParaRPr lang="en-US" sz="950" dirty="0"/>
          </a:p>
          <a:p>
            <a:pPr marL="0" indent="0">
              <a:buNone/>
            </a:pPr>
            <a:r>
              <a:rPr lang="en-US" sz="950" dirty="0">
                <a:solidFill>
                  <a:srgbClr val="8A3B00"/>
                </a:solidFill>
                <a:latin typeface="Calibri" pitchFamily="34" charset="0"/>
                <a:ea typeface="Calibri" pitchFamily="34" charset="-122"/>
                <a:cs typeface="Calibri" pitchFamily="34" charset="-120"/>
              </a:rPr>
              <a:t>artıq gördüyü mətni</a:t>
            </a:r>
            <a:endParaRPr lang="en-US" sz="950" dirty="0"/>
          </a:p>
          <a:p>
            <a:pPr marL="0" indent="0">
              <a:buNone/>
            </a:pPr>
            <a:r>
              <a:rPr lang="en-US" sz="950" dirty="0">
                <a:solidFill>
                  <a:srgbClr val="8A3B00"/>
                </a:solidFill>
                <a:latin typeface="Calibri" pitchFamily="34" charset="0"/>
                <a:ea typeface="Calibri" pitchFamily="34" charset="-122"/>
                <a:cs typeface="Calibri" pitchFamily="34" charset="-120"/>
              </a:rPr>
              <a:t>“proqnozlaşdırır”</a:t>
            </a:r>
            <a:endParaRPr lang="en-US" sz="950" dirty="0"/>
          </a:p>
        </p:txBody>
      </p:sp>
      <p:sp>
        <p:nvSpPr>
          <p:cNvPr id="47" name="Shape 45"/>
          <p:cNvSpPr/>
          <p:nvPr/>
        </p:nvSpPr>
        <p:spPr>
          <a:xfrm>
            <a:off x="7223760" y="3054096"/>
            <a:ext cx="4416552" cy="1444752"/>
          </a:xfrm>
          <a:prstGeom prst="roundRect">
            <a:avLst>
              <a:gd name="adj" fmla="val 4430"/>
            </a:avLst>
          </a:prstGeom>
          <a:solidFill>
            <a:srgbClr val="ECF6F1"/>
          </a:solidFill>
          <a:ln/>
        </p:spPr>
      </p:sp>
      <p:sp>
        <p:nvSpPr>
          <p:cNvPr id="48" name="Text 46"/>
          <p:cNvSpPr txBox="1"/>
          <p:nvPr/>
        </p:nvSpPr>
        <p:spPr>
          <a:xfrm>
            <a:off x="7424928" y="3163824"/>
            <a:ext cx="4023360" cy="219456"/>
          </a:xfrm>
          <a:prstGeom prst="rect">
            <a:avLst/>
          </a:prstGeom>
          <a:noFill/>
          <a:ln/>
        </p:spPr>
        <p:txBody>
          <a:bodyPr wrap="square" lIns="0" tIns="0" rIns="0" bIns="0" rtlCol="0" anchor="ctr"/>
          <a:lstStyle/>
          <a:p>
            <a:pPr marL="0" indent="0">
              <a:buNone/>
            </a:pPr>
            <a:r>
              <a:rPr lang="en-US" sz="1050" b="1" kern="0" spc="110" dirty="0">
                <a:solidFill>
                  <a:srgbClr val="0B6B50"/>
                </a:solidFill>
                <a:latin typeface="Calibri" pitchFamily="34" charset="0"/>
                <a:ea typeface="Calibri" pitchFamily="34" charset="-122"/>
                <a:cs typeface="Calibri" pitchFamily="34" charset="-120"/>
              </a:rPr>
              <a:t>BİZİM HƏLL: CLUSTER-AWARE SPLIT</a:t>
            </a:r>
            <a:endParaRPr lang="en-US" sz="1050" dirty="0"/>
          </a:p>
        </p:txBody>
      </p:sp>
      <p:sp>
        <p:nvSpPr>
          <p:cNvPr id="49" name="Text 47"/>
          <p:cNvSpPr txBox="1"/>
          <p:nvPr/>
        </p:nvSpPr>
        <p:spPr>
          <a:xfrm>
            <a:off x="7424928" y="3419856"/>
            <a:ext cx="4023360" cy="237744"/>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Bütün duplicate klasteri bütöv şəkildə YALNIZ bir split-ə verilir.</a:t>
            </a:r>
            <a:endParaRPr lang="en-US" sz="1100" dirty="0"/>
          </a:p>
        </p:txBody>
      </p:sp>
      <p:sp>
        <p:nvSpPr>
          <p:cNvPr id="50" name="Shape 48"/>
          <p:cNvSpPr/>
          <p:nvPr/>
        </p:nvSpPr>
        <p:spPr>
          <a:xfrm>
            <a:off x="7424928" y="3712464"/>
            <a:ext cx="1280160" cy="457200"/>
          </a:xfrm>
          <a:prstGeom prst="rect">
            <a:avLst/>
          </a:prstGeom>
          <a:solidFill>
            <a:srgbClr val="FFFFFF"/>
          </a:solidFill>
          <a:ln w="13970">
            <a:solidFill>
              <a:srgbClr val="9CCBB8"/>
            </a:solidFill>
            <a:prstDash val="solid"/>
          </a:ln>
        </p:spPr>
      </p:sp>
      <p:sp>
        <p:nvSpPr>
          <p:cNvPr id="51" name="Text 49"/>
          <p:cNvSpPr txBox="1"/>
          <p:nvPr/>
        </p:nvSpPr>
        <p:spPr>
          <a:xfrm>
            <a:off x="7424928" y="3730752"/>
            <a:ext cx="1280160" cy="237744"/>
          </a:xfrm>
          <a:prstGeom prst="rect">
            <a:avLst/>
          </a:prstGeom>
          <a:noFill/>
          <a:ln/>
        </p:spPr>
        <p:txBody>
          <a:bodyPr wrap="square" lIns="0" tIns="0" rIns="0" bIns="0" rtlCol="0" anchor="ctr"/>
          <a:lstStyle/>
          <a:p>
            <a:pPr marL="0" indent="0" algn="ctr">
              <a:buNone/>
            </a:pPr>
            <a:r>
              <a:rPr lang="en-US" sz="1150" b="1" dirty="0">
                <a:solidFill>
                  <a:srgbClr val="0B6B50"/>
                </a:solidFill>
                <a:latin typeface="Calibri" pitchFamily="34" charset="0"/>
                <a:ea typeface="Calibri" pitchFamily="34" charset="-122"/>
                <a:cs typeface="Calibri" pitchFamily="34" charset="-120"/>
              </a:rPr>
              <a:t>5 574 885</a:t>
            </a:r>
            <a:endParaRPr lang="en-US" sz="1150" dirty="0"/>
          </a:p>
        </p:txBody>
      </p:sp>
      <p:sp>
        <p:nvSpPr>
          <p:cNvPr id="52" name="Text 50"/>
          <p:cNvSpPr txBox="1"/>
          <p:nvPr/>
        </p:nvSpPr>
        <p:spPr>
          <a:xfrm>
            <a:off x="7424928" y="3941064"/>
            <a:ext cx="1280160" cy="201168"/>
          </a:xfrm>
          <a:prstGeom prst="rect">
            <a:avLst/>
          </a:prstGeom>
          <a:noFill/>
          <a:ln/>
        </p:spPr>
        <p:txBody>
          <a:bodyPr wrap="square" lIns="0" tIns="0" rIns="0" bIns="0" rtlCol="0" anchor="ctr"/>
          <a:lstStyle/>
          <a:p>
            <a:pPr marL="0" indent="0" algn="ctr">
              <a:buNone/>
            </a:pPr>
            <a:r>
              <a:rPr lang="en-US" sz="900" dirty="0">
                <a:solidFill>
                  <a:srgbClr val="5F7082"/>
                </a:solidFill>
                <a:latin typeface="Calibri" pitchFamily="34" charset="0"/>
                <a:ea typeface="Calibri" pitchFamily="34" charset="-122"/>
                <a:cs typeface="Calibri" pitchFamily="34" charset="-120"/>
              </a:rPr>
              <a:t>Train</a:t>
            </a:r>
            <a:endParaRPr lang="en-US" sz="900" dirty="0"/>
          </a:p>
        </p:txBody>
      </p:sp>
      <p:sp>
        <p:nvSpPr>
          <p:cNvPr id="53" name="Shape 51"/>
          <p:cNvSpPr/>
          <p:nvPr/>
        </p:nvSpPr>
        <p:spPr>
          <a:xfrm>
            <a:off x="8814816" y="3712464"/>
            <a:ext cx="1280160" cy="457200"/>
          </a:xfrm>
          <a:prstGeom prst="rect">
            <a:avLst/>
          </a:prstGeom>
          <a:solidFill>
            <a:srgbClr val="FFFFFF"/>
          </a:solidFill>
          <a:ln w="13970">
            <a:solidFill>
              <a:srgbClr val="9CCBB8"/>
            </a:solidFill>
            <a:prstDash val="solid"/>
          </a:ln>
        </p:spPr>
      </p:sp>
      <p:sp>
        <p:nvSpPr>
          <p:cNvPr id="54" name="Text 52"/>
          <p:cNvSpPr txBox="1"/>
          <p:nvPr/>
        </p:nvSpPr>
        <p:spPr>
          <a:xfrm>
            <a:off x="8814816" y="3730752"/>
            <a:ext cx="1280160" cy="237744"/>
          </a:xfrm>
          <a:prstGeom prst="rect">
            <a:avLst/>
          </a:prstGeom>
          <a:noFill/>
          <a:ln/>
        </p:spPr>
        <p:txBody>
          <a:bodyPr wrap="square" lIns="0" tIns="0" rIns="0" bIns="0" rtlCol="0" anchor="ctr"/>
          <a:lstStyle/>
          <a:p>
            <a:pPr marL="0" indent="0" algn="ctr">
              <a:buNone/>
            </a:pPr>
            <a:r>
              <a:rPr lang="en-US" sz="1150" b="1" dirty="0">
                <a:solidFill>
                  <a:srgbClr val="0B6B50"/>
                </a:solidFill>
                <a:latin typeface="Calibri" pitchFamily="34" charset="0"/>
                <a:ea typeface="Calibri" pitchFamily="34" charset="-122"/>
                <a:cs typeface="Calibri" pitchFamily="34" charset="-120"/>
              </a:rPr>
              <a:t>309 677</a:t>
            </a:r>
            <a:endParaRPr lang="en-US" sz="1150" dirty="0"/>
          </a:p>
        </p:txBody>
      </p:sp>
      <p:sp>
        <p:nvSpPr>
          <p:cNvPr id="55" name="Text 53"/>
          <p:cNvSpPr txBox="1"/>
          <p:nvPr/>
        </p:nvSpPr>
        <p:spPr>
          <a:xfrm>
            <a:off x="8814816" y="3941064"/>
            <a:ext cx="1280160" cy="201168"/>
          </a:xfrm>
          <a:prstGeom prst="rect">
            <a:avLst/>
          </a:prstGeom>
          <a:noFill/>
          <a:ln/>
        </p:spPr>
        <p:txBody>
          <a:bodyPr wrap="square" lIns="0" tIns="0" rIns="0" bIns="0" rtlCol="0" anchor="ctr"/>
          <a:lstStyle/>
          <a:p>
            <a:pPr marL="0" indent="0" algn="ctr">
              <a:buNone/>
            </a:pPr>
            <a:r>
              <a:rPr lang="en-US" sz="900" dirty="0">
                <a:solidFill>
                  <a:srgbClr val="5F7082"/>
                </a:solidFill>
                <a:latin typeface="Calibri" pitchFamily="34" charset="0"/>
                <a:ea typeface="Calibri" pitchFamily="34" charset="-122"/>
                <a:cs typeface="Calibri" pitchFamily="34" charset="-120"/>
              </a:rPr>
              <a:t>Validation</a:t>
            </a:r>
            <a:endParaRPr lang="en-US" sz="900" dirty="0"/>
          </a:p>
        </p:txBody>
      </p:sp>
      <p:sp>
        <p:nvSpPr>
          <p:cNvPr id="56" name="Shape 54"/>
          <p:cNvSpPr/>
          <p:nvPr/>
        </p:nvSpPr>
        <p:spPr>
          <a:xfrm>
            <a:off x="10204704" y="3712464"/>
            <a:ext cx="1280160" cy="457200"/>
          </a:xfrm>
          <a:prstGeom prst="rect">
            <a:avLst/>
          </a:prstGeom>
          <a:solidFill>
            <a:srgbClr val="FFFFFF"/>
          </a:solidFill>
          <a:ln w="13970">
            <a:solidFill>
              <a:srgbClr val="9CCBB8"/>
            </a:solidFill>
            <a:prstDash val="solid"/>
          </a:ln>
        </p:spPr>
      </p:sp>
      <p:sp>
        <p:nvSpPr>
          <p:cNvPr id="57" name="Text 55"/>
          <p:cNvSpPr txBox="1"/>
          <p:nvPr/>
        </p:nvSpPr>
        <p:spPr>
          <a:xfrm>
            <a:off x="10204704" y="3730752"/>
            <a:ext cx="1280160" cy="237744"/>
          </a:xfrm>
          <a:prstGeom prst="rect">
            <a:avLst/>
          </a:prstGeom>
          <a:noFill/>
          <a:ln/>
        </p:spPr>
        <p:txBody>
          <a:bodyPr wrap="square" lIns="0" tIns="0" rIns="0" bIns="0" rtlCol="0" anchor="ctr"/>
          <a:lstStyle/>
          <a:p>
            <a:pPr marL="0" indent="0" algn="ctr">
              <a:buNone/>
            </a:pPr>
            <a:r>
              <a:rPr lang="en-US" sz="1150" b="1" dirty="0">
                <a:solidFill>
                  <a:srgbClr val="0B6B50"/>
                </a:solidFill>
                <a:latin typeface="Calibri" pitchFamily="34" charset="0"/>
                <a:ea typeface="Calibri" pitchFamily="34" charset="-122"/>
                <a:cs typeface="Calibri" pitchFamily="34" charset="-120"/>
              </a:rPr>
              <a:t>309 369</a:t>
            </a:r>
            <a:endParaRPr lang="en-US" sz="1150" dirty="0"/>
          </a:p>
        </p:txBody>
      </p:sp>
      <p:sp>
        <p:nvSpPr>
          <p:cNvPr id="58" name="Text 56"/>
          <p:cNvSpPr txBox="1"/>
          <p:nvPr/>
        </p:nvSpPr>
        <p:spPr>
          <a:xfrm>
            <a:off x="10204704" y="3941064"/>
            <a:ext cx="1280160" cy="201168"/>
          </a:xfrm>
          <a:prstGeom prst="rect">
            <a:avLst/>
          </a:prstGeom>
          <a:noFill/>
          <a:ln/>
        </p:spPr>
        <p:txBody>
          <a:bodyPr wrap="square" lIns="0" tIns="0" rIns="0" bIns="0" rtlCol="0" anchor="ctr"/>
          <a:lstStyle/>
          <a:p>
            <a:pPr marL="0" indent="0" algn="ctr">
              <a:buNone/>
            </a:pPr>
            <a:r>
              <a:rPr lang="en-US" sz="900" dirty="0">
                <a:solidFill>
                  <a:srgbClr val="5F7082"/>
                </a:solidFill>
                <a:latin typeface="Calibri" pitchFamily="34" charset="0"/>
                <a:ea typeface="Calibri" pitchFamily="34" charset="-122"/>
                <a:cs typeface="Calibri" pitchFamily="34" charset="-120"/>
              </a:rPr>
              <a:t>Test</a:t>
            </a:r>
            <a:endParaRPr lang="en-US" sz="900" dirty="0"/>
          </a:p>
        </p:txBody>
      </p:sp>
      <p:sp>
        <p:nvSpPr>
          <p:cNvPr id="59" name="Text 57"/>
          <p:cNvSpPr txBox="1"/>
          <p:nvPr/>
        </p:nvSpPr>
        <p:spPr>
          <a:xfrm>
            <a:off x="7424928" y="4206240"/>
            <a:ext cx="4069080" cy="274320"/>
          </a:xfrm>
          <a:prstGeom prst="rect">
            <a:avLst/>
          </a:prstGeom>
          <a:noFill/>
          <a:ln/>
        </p:spPr>
        <p:txBody>
          <a:bodyPr wrap="square" lIns="0" tIns="0" rIns="0" bIns="0" rtlCol="0" anchor="ctr"/>
          <a:lstStyle/>
          <a:p>
            <a:pPr marL="0" indent="0">
              <a:buNone/>
            </a:pPr>
            <a:r>
              <a:rPr lang="en-US" sz="900" dirty="0">
                <a:solidFill>
                  <a:srgbClr val="0B6B50"/>
                </a:solidFill>
                <a:latin typeface="Calibri" pitchFamily="34" charset="0"/>
                <a:ea typeface="Calibri" pitchFamily="34" charset="-122"/>
                <a:cs typeface="Calibri" pitchFamily="34" charset="-120"/>
              </a:rPr>
              <a:t>data seed 2026  ·  sənəd ID overlap 0  ·  canonical hash overlap 0  ·  klaster overlap 0  ·  split-ləri kəsən near-duplicate edge 0</a:t>
            </a:r>
            <a:endParaRPr lang="en-US" sz="900" dirty="0"/>
          </a:p>
        </p:txBody>
      </p:sp>
      <p:sp>
        <p:nvSpPr>
          <p:cNvPr id="71" name="Shape 69"/>
          <p:cNvSpPr/>
          <p:nvPr/>
        </p:nvSpPr>
        <p:spPr>
          <a:xfrm>
            <a:off x="512064" y="5374093"/>
            <a:ext cx="11091672" cy="438912"/>
          </a:xfrm>
          <a:prstGeom prst="roundRect">
            <a:avLst>
              <a:gd name="adj" fmla="val 14583"/>
            </a:avLst>
          </a:prstGeom>
          <a:solidFill>
            <a:srgbClr val="EAF0F4"/>
          </a:solidFill>
          <a:ln/>
        </p:spPr>
      </p:sp>
      <p:sp>
        <p:nvSpPr>
          <p:cNvPr id="72" name="Text 70"/>
          <p:cNvSpPr txBox="1"/>
          <p:nvPr/>
        </p:nvSpPr>
        <p:spPr>
          <a:xfrm>
            <a:off x="676656" y="5392381"/>
            <a:ext cx="10762488" cy="438912"/>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Əsas fikir:  </a:t>
            </a:r>
            <a:r>
              <a:rPr lang="en-US" sz="1200" dirty="0">
                <a:solidFill>
                  <a:srgbClr val="14202E"/>
                </a:solidFill>
                <a:latin typeface="Calibri" pitchFamily="34" charset="0"/>
                <a:ea typeface="Calibri" pitchFamily="34" charset="-122"/>
                <a:cs typeface="Calibri" pitchFamily="34" charset="-120"/>
              </a:rPr>
              <a:t>Final split təsadüfi deyil — duplicate-aware və leakage-safe-dir; qüsur gizlədilməyib, training-dən əvvəl aşkarlanıb və düzəldilib.</a:t>
            </a:r>
            <a:endParaRPr lang="en-US" sz="1200" dirty="0"/>
          </a:p>
        </p:txBody>
      </p:sp>
      <p:sp>
        <p:nvSpPr>
          <p:cNvPr id="73" name="Text 71"/>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Ibrahim Mammadov  ·  IBRAHIM102005</a:t>
            </a:r>
            <a:endParaRPr lang="en-US" sz="950" dirty="0"/>
          </a:p>
        </p:txBody>
      </p:sp>
      <p:sp>
        <p:nvSpPr>
          <p:cNvPr id="74" name="Text 72"/>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data/metadata/leakage_audit.json · near_duplicate_report.json</a:t>
            </a:r>
            <a:endParaRPr lang="en-US" sz="850" dirty="0"/>
          </a:p>
        </p:txBody>
      </p:sp>
      <p:sp>
        <p:nvSpPr>
          <p:cNvPr id="75" name="Text 73"/>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01  /  DATA FOUNDATION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Tokenizer seçimi və bütün modellər üçün eyni 50M token</a:t>
            </a:r>
            <a:endParaRPr lang="en-US" sz="2500" dirty="0"/>
          </a:p>
        </p:txBody>
      </p:sp>
      <p:sp>
        <p:nvSpPr>
          <p:cNvPr id="4" name="Text 2"/>
          <p:cNvSpPr txBox="1"/>
          <p:nvPr/>
        </p:nvSpPr>
        <p:spPr>
          <a:xfrm>
            <a:off x="548640" y="1152144"/>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A  ·  SENTENCEPIECE BPE TOKENIZER</a:t>
            </a:r>
            <a:endParaRPr lang="en-US" sz="1050" dirty="0"/>
          </a:p>
        </p:txBody>
      </p:sp>
      <p:sp>
        <p:nvSpPr>
          <p:cNvPr id="5" name="Text 3"/>
          <p:cNvSpPr txBox="1"/>
          <p:nvPr/>
        </p:nvSpPr>
        <p:spPr>
          <a:xfrm>
            <a:off x="548640" y="1408176"/>
            <a:ext cx="2103120" cy="365760"/>
          </a:xfrm>
          <a:prstGeom prst="rect">
            <a:avLst/>
          </a:prstGeom>
          <a:noFill/>
          <a:ln/>
        </p:spPr>
        <p:txBody>
          <a:bodyPr wrap="square" lIns="0" tIns="0" rIns="0" bIns="0" rtlCol="0" anchor="ctr"/>
          <a:lstStyle/>
          <a:p>
            <a:pPr marL="0" indent="0">
              <a:buNone/>
            </a:pPr>
            <a:r>
              <a:rPr lang="en-US" sz="1500" b="1" dirty="0">
                <a:solidFill>
                  <a:srgbClr val="0E2438"/>
                </a:solidFill>
                <a:latin typeface="Cambria" pitchFamily="34" charset="0"/>
                <a:ea typeface="Cambria" pitchFamily="34" charset="-122"/>
                <a:cs typeface="Cambria" pitchFamily="34" charset="-120"/>
              </a:rPr>
              <a:t>“evlərimizdən”</a:t>
            </a:r>
            <a:endParaRPr lang="en-US" sz="1500" dirty="0"/>
          </a:p>
        </p:txBody>
      </p:sp>
      <p:sp>
        <p:nvSpPr>
          <p:cNvPr id="6" name="Shape 4"/>
          <p:cNvSpPr/>
          <p:nvPr/>
        </p:nvSpPr>
        <p:spPr>
          <a:xfrm>
            <a:off x="2377440" y="1517904"/>
            <a:ext cx="365760" cy="164592"/>
          </a:xfrm>
          <a:prstGeom prst="rightArrow">
            <a:avLst/>
          </a:prstGeom>
          <a:solidFill>
            <a:srgbClr val="C7D3DD"/>
          </a:solidFill>
          <a:ln/>
        </p:spPr>
      </p:sp>
      <p:sp>
        <p:nvSpPr>
          <p:cNvPr id="7" name="Shape 5"/>
          <p:cNvSpPr/>
          <p:nvPr/>
        </p:nvSpPr>
        <p:spPr>
          <a:xfrm>
            <a:off x="2852928" y="1389888"/>
            <a:ext cx="758952" cy="384048"/>
          </a:xfrm>
          <a:prstGeom prst="rect">
            <a:avLst/>
          </a:prstGeom>
          <a:solidFill>
            <a:srgbClr val="F4F7F9"/>
          </a:solidFill>
          <a:ln w="13970">
            <a:solidFill>
              <a:srgbClr val="B9C7D3"/>
            </a:solidFill>
            <a:prstDash val="solid"/>
          </a:ln>
        </p:spPr>
      </p:sp>
      <p:sp>
        <p:nvSpPr>
          <p:cNvPr id="8" name="Text 6"/>
          <p:cNvSpPr txBox="1"/>
          <p:nvPr/>
        </p:nvSpPr>
        <p:spPr>
          <a:xfrm>
            <a:off x="2852928" y="1389888"/>
            <a:ext cx="758952"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ourier New" pitchFamily="34" charset="0"/>
                <a:ea typeface="Courier New" pitchFamily="34" charset="-122"/>
                <a:cs typeface="Courier New" pitchFamily="34" charset="-120"/>
              </a:rPr>
              <a:t>▁ev</a:t>
            </a:r>
            <a:endParaRPr lang="en-US" sz="1150" dirty="0"/>
          </a:p>
        </p:txBody>
      </p:sp>
      <p:sp>
        <p:nvSpPr>
          <p:cNvPr id="9" name="Shape 7"/>
          <p:cNvSpPr/>
          <p:nvPr/>
        </p:nvSpPr>
        <p:spPr>
          <a:xfrm>
            <a:off x="3703320" y="1389888"/>
            <a:ext cx="758952" cy="384048"/>
          </a:xfrm>
          <a:prstGeom prst="rect">
            <a:avLst/>
          </a:prstGeom>
          <a:solidFill>
            <a:srgbClr val="F4F7F9"/>
          </a:solidFill>
          <a:ln w="13970">
            <a:solidFill>
              <a:srgbClr val="B9C7D3"/>
            </a:solidFill>
            <a:prstDash val="solid"/>
          </a:ln>
        </p:spPr>
      </p:sp>
      <p:sp>
        <p:nvSpPr>
          <p:cNvPr id="10" name="Text 8"/>
          <p:cNvSpPr txBox="1"/>
          <p:nvPr/>
        </p:nvSpPr>
        <p:spPr>
          <a:xfrm>
            <a:off x="3703320" y="1389888"/>
            <a:ext cx="758952"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ourier New" pitchFamily="34" charset="0"/>
                <a:ea typeface="Courier New" pitchFamily="34" charset="-122"/>
                <a:cs typeface="Courier New" pitchFamily="34" charset="-120"/>
              </a:rPr>
              <a:t>lər</a:t>
            </a:r>
            <a:endParaRPr lang="en-US" sz="1150" dirty="0"/>
          </a:p>
        </p:txBody>
      </p:sp>
      <p:sp>
        <p:nvSpPr>
          <p:cNvPr id="11" name="Shape 9"/>
          <p:cNvSpPr/>
          <p:nvPr/>
        </p:nvSpPr>
        <p:spPr>
          <a:xfrm>
            <a:off x="4553712" y="1389888"/>
            <a:ext cx="822960" cy="384048"/>
          </a:xfrm>
          <a:prstGeom prst="rect">
            <a:avLst/>
          </a:prstGeom>
          <a:solidFill>
            <a:srgbClr val="F4F7F9"/>
          </a:solidFill>
          <a:ln w="13970">
            <a:solidFill>
              <a:srgbClr val="B9C7D3"/>
            </a:solidFill>
            <a:prstDash val="solid"/>
          </a:ln>
        </p:spPr>
      </p:sp>
      <p:sp>
        <p:nvSpPr>
          <p:cNvPr id="12" name="Text 10"/>
          <p:cNvSpPr txBox="1"/>
          <p:nvPr/>
        </p:nvSpPr>
        <p:spPr>
          <a:xfrm>
            <a:off x="4553712" y="1389888"/>
            <a:ext cx="822960"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ourier New" pitchFamily="34" charset="0"/>
                <a:ea typeface="Courier New" pitchFamily="34" charset="-122"/>
                <a:cs typeface="Courier New" pitchFamily="34" charset="-120"/>
              </a:rPr>
              <a:t>imiz</a:t>
            </a:r>
            <a:endParaRPr lang="en-US" sz="1150" dirty="0"/>
          </a:p>
        </p:txBody>
      </p:sp>
      <p:sp>
        <p:nvSpPr>
          <p:cNvPr id="13" name="Shape 11"/>
          <p:cNvSpPr/>
          <p:nvPr/>
        </p:nvSpPr>
        <p:spPr>
          <a:xfrm>
            <a:off x="5468112" y="1389888"/>
            <a:ext cx="758952" cy="384048"/>
          </a:xfrm>
          <a:prstGeom prst="rect">
            <a:avLst/>
          </a:prstGeom>
          <a:solidFill>
            <a:srgbClr val="F4F7F9"/>
          </a:solidFill>
          <a:ln w="13970">
            <a:solidFill>
              <a:srgbClr val="B9C7D3"/>
            </a:solidFill>
            <a:prstDash val="solid"/>
          </a:ln>
        </p:spPr>
      </p:sp>
      <p:sp>
        <p:nvSpPr>
          <p:cNvPr id="14" name="Text 12"/>
          <p:cNvSpPr txBox="1"/>
          <p:nvPr/>
        </p:nvSpPr>
        <p:spPr>
          <a:xfrm>
            <a:off x="5468112" y="1389888"/>
            <a:ext cx="758952" cy="384048"/>
          </a:xfrm>
          <a:prstGeom prst="rect">
            <a:avLst/>
          </a:prstGeom>
          <a:noFill/>
          <a:ln/>
        </p:spPr>
        <p:txBody>
          <a:bodyPr wrap="square" lIns="0" tIns="0" rIns="0" bIns="0" rtlCol="0" anchor="ctr"/>
          <a:lstStyle/>
          <a:p>
            <a:pPr marL="0" indent="0" algn="ctr">
              <a:buNone/>
            </a:pPr>
            <a:r>
              <a:rPr lang="en-US" sz="1150" dirty="0">
                <a:solidFill>
                  <a:srgbClr val="0E2438"/>
                </a:solidFill>
                <a:latin typeface="Courier New" pitchFamily="34" charset="0"/>
                <a:ea typeface="Courier New" pitchFamily="34" charset="-122"/>
                <a:cs typeface="Courier New" pitchFamily="34" charset="-120"/>
              </a:rPr>
              <a:t>dən</a:t>
            </a:r>
            <a:endParaRPr lang="en-US" sz="1150" dirty="0"/>
          </a:p>
        </p:txBody>
      </p:sp>
      <p:sp>
        <p:nvSpPr>
          <p:cNvPr id="15" name="Text 13"/>
          <p:cNvSpPr txBox="1"/>
          <p:nvPr/>
        </p:nvSpPr>
        <p:spPr>
          <a:xfrm>
            <a:off x="6336792" y="1389888"/>
            <a:ext cx="1371600" cy="384048"/>
          </a:xfrm>
          <a:prstGeom prst="rect">
            <a:avLst/>
          </a:prstGeom>
          <a:noFill/>
          <a:ln/>
        </p:spPr>
        <p:txBody>
          <a:bodyPr wrap="square" lIns="0" tIns="0" rIns="0" bIns="0" rtlCol="0" anchor="ctr"/>
          <a:lstStyle/>
          <a:p>
            <a:pPr marL="0" indent="0">
              <a:buNone/>
            </a:pPr>
            <a:r>
              <a:rPr lang="en-US" sz="1100" dirty="0">
                <a:solidFill>
                  <a:srgbClr val="5F7082"/>
                </a:solidFill>
                <a:latin typeface="Calibri" pitchFamily="34" charset="0"/>
                <a:ea typeface="Calibri" pitchFamily="34" charset="-122"/>
                <a:cs typeface="Calibri" pitchFamily="34" charset="-120"/>
              </a:rPr>
              <a:t>→  token ID-ləri</a:t>
            </a:r>
            <a:endParaRPr lang="en-US" sz="1100" dirty="0"/>
          </a:p>
        </p:txBody>
      </p:sp>
      <p:sp>
        <p:nvSpPr>
          <p:cNvPr id="16" name="Text 14"/>
          <p:cNvSpPr txBox="1"/>
          <p:nvPr/>
        </p:nvSpPr>
        <p:spPr>
          <a:xfrm>
            <a:off x="548640" y="1847088"/>
            <a:ext cx="5486400" cy="274320"/>
          </a:xfrm>
          <a:prstGeom prst="rect">
            <a:avLst/>
          </a:prstGeom>
          <a:noFill/>
          <a:ln/>
        </p:spPr>
        <p:txBody>
          <a:bodyPr wrap="square" lIns="0" tIns="0" rIns="0" bIns="0" rtlCol="0" anchor="ctr"/>
          <a:lstStyle/>
          <a:p>
            <a:pPr marL="0" indent="0">
              <a:buNone/>
            </a:pPr>
            <a:r>
              <a:rPr lang="en-US" sz="1100" i="1" dirty="0">
                <a:solidFill>
                  <a:srgbClr val="5F7082"/>
                </a:solidFill>
                <a:latin typeface="Calibri" pitchFamily="34" charset="0"/>
                <a:ea typeface="Calibri" pitchFamily="34" charset="-122"/>
                <a:cs typeface="Calibri" pitchFamily="34" charset="-120"/>
              </a:rPr>
              <a:t>BPE morfoloji analizator DEYİL: bölgü tezliyə görə öyrənilir, qrammatik morfem sərhədinə görə deyil.</a:t>
            </a:r>
            <a:endParaRPr lang="en-US" sz="1100" dirty="0"/>
          </a:p>
        </p:txBody>
      </p:sp>
      <p:pic>
        <p:nvPicPr>
          <p:cNvPr id="17" name="Image 0" descr="/home/claude/assets/fig_tokenizer.png"/>
          <p:cNvPicPr>
            <a:picLocks noChangeAspect="1"/>
          </p:cNvPicPr>
          <p:nvPr/>
        </p:nvPicPr>
        <p:blipFill>
          <a:blip r:embed="rId3"/>
          <a:stretch>
            <a:fillRect/>
          </a:stretch>
        </p:blipFill>
        <p:spPr>
          <a:xfrm>
            <a:off x="548640" y="2176272"/>
            <a:ext cx="5486400" cy="2295144"/>
          </a:xfrm>
          <a:prstGeom prst="rect">
            <a:avLst/>
          </a:prstGeom>
        </p:spPr>
      </p:pic>
      <p:sp>
        <p:nvSpPr>
          <p:cNvPr id="18" name="Shape 15"/>
          <p:cNvSpPr/>
          <p:nvPr/>
        </p:nvSpPr>
        <p:spPr>
          <a:xfrm>
            <a:off x="548640" y="4553712"/>
            <a:ext cx="5486400" cy="1207008"/>
          </a:xfrm>
          <a:prstGeom prst="roundRect">
            <a:avLst>
              <a:gd name="adj" fmla="val 5303"/>
            </a:avLst>
          </a:prstGeom>
          <a:solidFill>
            <a:srgbClr val="F4F7F9"/>
          </a:solidFill>
          <a:ln/>
        </p:spPr>
      </p:sp>
      <p:sp>
        <p:nvSpPr>
          <p:cNvPr id="19" name="Text 16"/>
          <p:cNvSpPr txBox="1"/>
          <p:nvPr/>
        </p:nvSpPr>
        <p:spPr>
          <a:xfrm>
            <a:off x="731520" y="4663440"/>
            <a:ext cx="5120640" cy="256032"/>
          </a:xfrm>
          <a:prstGeom prst="rect">
            <a:avLst/>
          </a:prstGeom>
          <a:noFill/>
          <a:ln/>
        </p:spPr>
        <p:txBody>
          <a:bodyPr wrap="square" lIns="0" tIns="0" rIns="0" bIns="0" rtlCol="0" anchor="ctr"/>
          <a:lstStyle/>
          <a:p>
            <a:pPr marL="0" indent="0">
              <a:buNone/>
            </a:pPr>
            <a:r>
              <a:rPr lang="en-US" sz="1250" b="1" dirty="0">
                <a:solidFill>
                  <a:srgbClr val="12324F"/>
                </a:solidFill>
                <a:latin typeface="Calibri" pitchFamily="34" charset="0"/>
                <a:ea typeface="Calibri" pitchFamily="34" charset="-122"/>
                <a:cs typeface="Calibri" pitchFamily="34" charset="-120"/>
              </a:rPr>
              <a:t>Seçilmiş tokenizer:  SentencePiece BPE  ·  16 000 vocabulary</a:t>
            </a:r>
            <a:endParaRPr lang="en-US" sz="1250" dirty="0"/>
          </a:p>
        </p:txBody>
      </p:sp>
      <p:sp>
        <p:nvSpPr>
          <p:cNvPr id="20" name="Text 17"/>
          <p:cNvSpPr txBox="1"/>
          <p:nvPr/>
        </p:nvSpPr>
        <p:spPr>
          <a:xfrm>
            <a:off x="731520" y="4919472"/>
            <a:ext cx="5120640" cy="25603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1.674 token/söz  ·  4.689 simvol/token  ·  unknown nisbəti ≈ 1.0×10⁻⁷  ·  character coverage 1.0</a:t>
            </a:r>
            <a:endParaRPr lang="en-US" sz="1050" dirty="0"/>
          </a:p>
        </p:txBody>
      </p:sp>
      <p:sp>
        <p:nvSpPr>
          <p:cNvPr id="21" name="Text 18"/>
          <p:cNvSpPr txBox="1"/>
          <p:nvPr/>
        </p:nvSpPr>
        <p:spPr>
          <a:xfrm>
            <a:off x="731520" y="5193792"/>
            <a:ext cx="5120640" cy="502920"/>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Tokenizer YALNIZ 1 000 000 TRAIN sənədi üzərində öyrədilib — validation və test sənədləri daxil edilməyib ki, tokenizer səviyyəsində leakage yaranmasın.</a:t>
            </a:r>
            <a:endParaRPr lang="en-US" sz="1050" dirty="0"/>
          </a:p>
        </p:txBody>
      </p:sp>
      <p:sp>
        <p:nvSpPr>
          <p:cNvPr id="22" name="Text 19"/>
          <p:cNvSpPr txBox="1"/>
          <p:nvPr/>
        </p:nvSpPr>
        <p:spPr>
          <a:xfrm>
            <a:off x="6400800" y="1152144"/>
            <a:ext cx="521208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B  ·  DƏQİQ 50 000 000 TOKENLİK TRAINING SEQUENCE</a:t>
            </a:r>
            <a:endParaRPr lang="en-US" sz="1050" dirty="0"/>
          </a:p>
        </p:txBody>
      </p:sp>
      <p:sp>
        <p:nvSpPr>
          <p:cNvPr id="23" name="Shape 20"/>
          <p:cNvSpPr/>
          <p:nvPr/>
        </p:nvSpPr>
        <p:spPr>
          <a:xfrm>
            <a:off x="6400800" y="1408176"/>
            <a:ext cx="5239512" cy="1371600"/>
          </a:xfrm>
          <a:prstGeom prst="roundRect">
            <a:avLst>
              <a:gd name="adj" fmla="val 4667"/>
            </a:avLst>
          </a:prstGeom>
          <a:solidFill>
            <a:srgbClr val="F4F7F9"/>
          </a:solidFill>
          <a:ln/>
        </p:spPr>
      </p:sp>
      <p:sp>
        <p:nvSpPr>
          <p:cNvPr id="24" name="Text 21"/>
          <p:cNvSpPr txBox="1"/>
          <p:nvPr/>
        </p:nvSpPr>
        <p:spPr>
          <a:xfrm>
            <a:off x="6620256" y="1517904"/>
            <a:ext cx="2286000" cy="475488"/>
          </a:xfrm>
          <a:prstGeom prst="rect">
            <a:avLst/>
          </a:prstGeom>
          <a:noFill/>
          <a:ln/>
        </p:spPr>
        <p:txBody>
          <a:bodyPr wrap="square" lIns="0" tIns="0" rIns="0" bIns="0" rtlCol="0" anchor="ctr"/>
          <a:lstStyle/>
          <a:p>
            <a:pPr marL="0" indent="0" algn="l">
              <a:buNone/>
            </a:pPr>
            <a:r>
              <a:rPr lang="en-US" sz="2000" b="1" dirty="0">
                <a:solidFill>
                  <a:srgbClr val="12324F"/>
                </a:solidFill>
                <a:latin typeface="Cambria" pitchFamily="34" charset="0"/>
                <a:ea typeface="Cambria" pitchFamily="34" charset="-122"/>
                <a:cs typeface="Cambria" pitchFamily="34" charset="-120"/>
              </a:rPr>
              <a:t>277 027</a:t>
            </a:r>
            <a:endParaRPr lang="en-US" sz="2000" dirty="0"/>
          </a:p>
        </p:txBody>
      </p:sp>
      <p:sp>
        <p:nvSpPr>
          <p:cNvPr id="25" name="Text 22"/>
          <p:cNvSpPr txBox="1"/>
          <p:nvPr/>
        </p:nvSpPr>
        <p:spPr>
          <a:xfrm>
            <a:off x="6620256" y="1993392"/>
            <a:ext cx="2286000" cy="420624"/>
          </a:xfrm>
          <a:prstGeom prst="rect">
            <a:avLst/>
          </a:prstGeom>
          <a:noFill/>
          <a:ln/>
        </p:spPr>
        <p:txBody>
          <a:bodyPr wrap="square" lIns="0" tIns="0" rIns="0" bIns="0" rtlCol="0" anchor="ctr"/>
          <a:lstStyle/>
          <a:p>
            <a:pPr marL="0" indent="0" algn="l">
              <a:buNone/>
            </a:pPr>
            <a:r>
              <a:rPr lang="en-US" sz="1050" dirty="0">
                <a:solidFill>
                  <a:srgbClr val="5F7082"/>
                </a:solidFill>
                <a:latin typeface="Calibri" pitchFamily="34" charset="0"/>
                <a:ea typeface="Calibri" pitchFamily="34" charset="-122"/>
                <a:cs typeface="Calibri" pitchFamily="34" charset="-120"/>
              </a:rPr>
              <a:t>seçilmiş tam sənəd</a:t>
            </a:r>
            <a:endParaRPr lang="en-US" sz="1050" dirty="0"/>
          </a:p>
        </p:txBody>
      </p:sp>
      <p:sp>
        <p:nvSpPr>
          <p:cNvPr id="26" name="Text 23"/>
          <p:cNvSpPr txBox="1"/>
          <p:nvPr/>
        </p:nvSpPr>
        <p:spPr>
          <a:xfrm>
            <a:off x="9052560" y="1517904"/>
            <a:ext cx="2377440" cy="475488"/>
          </a:xfrm>
          <a:prstGeom prst="rect">
            <a:avLst/>
          </a:prstGeom>
          <a:noFill/>
          <a:ln/>
        </p:spPr>
        <p:txBody>
          <a:bodyPr wrap="square" lIns="0" tIns="0" rIns="0" bIns="0" rtlCol="0" anchor="ctr"/>
          <a:lstStyle/>
          <a:p>
            <a:pPr marL="0" indent="0" algn="l">
              <a:buNone/>
            </a:pPr>
            <a:r>
              <a:rPr lang="en-US" sz="2000" b="1" dirty="0">
                <a:solidFill>
                  <a:srgbClr val="12324F"/>
                </a:solidFill>
                <a:latin typeface="Cambria" pitchFamily="34" charset="0"/>
                <a:ea typeface="Cambria" pitchFamily="34" charset="-122"/>
                <a:cs typeface="Cambria" pitchFamily="34" charset="-120"/>
              </a:rPr>
              <a:t>50 062 887</a:t>
            </a:r>
            <a:endParaRPr lang="en-US" sz="2000" dirty="0"/>
          </a:p>
        </p:txBody>
      </p:sp>
      <p:sp>
        <p:nvSpPr>
          <p:cNvPr id="27" name="Text 24"/>
          <p:cNvSpPr txBox="1"/>
          <p:nvPr/>
        </p:nvSpPr>
        <p:spPr>
          <a:xfrm>
            <a:off x="9052560" y="1993392"/>
            <a:ext cx="2377440" cy="420624"/>
          </a:xfrm>
          <a:prstGeom prst="rect">
            <a:avLst/>
          </a:prstGeom>
          <a:noFill/>
          <a:ln/>
        </p:spPr>
        <p:txBody>
          <a:bodyPr wrap="square" lIns="0" tIns="0" rIns="0" bIns="0" rtlCol="0" anchor="ctr"/>
          <a:lstStyle/>
          <a:p>
            <a:pPr marL="0" indent="0" algn="l">
              <a:buNone/>
            </a:pPr>
            <a:r>
              <a:rPr lang="en-US" sz="1050" dirty="0">
                <a:solidFill>
                  <a:srgbClr val="5F7082"/>
                </a:solidFill>
                <a:latin typeface="Calibri" pitchFamily="34" charset="0"/>
                <a:ea typeface="Calibri" pitchFamily="34" charset="-122"/>
                <a:cs typeface="Calibri" pitchFamily="34" charset="-120"/>
              </a:rPr>
              <a:t>manifestdə mövcud token</a:t>
            </a:r>
            <a:endParaRPr lang="en-US" sz="1050" dirty="0"/>
          </a:p>
        </p:txBody>
      </p:sp>
      <p:sp>
        <p:nvSpPr>
          <p:cNvPr id="28" name="Text 25"/>
          <p:cNvSpPr txBox="1"/>
          <p:nvPr/>
        </p:nvSpPr>
        <p:spPr>
          <a:xfrm>
            <a:off x="6620256" y="2395728"/>
            <a:ext cx="4846320" cy="310896"/>
          </a:xfrm>
          <a:prstGeom prst="rect">
            <a:avLst/>
          </a:prstGeom>
          <a:noFill/>
          <a:ln/>
        </p:spPr>
        <p:txBody>
          <a:bodyPr wrap="square" lIns="0" tIns="0" rIns="0" bIns="0" rtlCol="0" anchor="ctr"/>
          <a:lstStyle/>
          <a:p>
            <a:pPr marL="0" indent="0">
              <a:buNone/>
            </a:pPr>
            <a:r>
              <a:rPr lang="en-US" sz="1000" dirty="0">
                <a:solidFill>
                  <a:srgbClr val="5F7082"/>
                </a:solidFill>
                <a:latin typeface="Calibri" pitchFamily="34" charset="0"/>
                <a:ea typeface="Calibri" pitchFamily="34" charset="-122"/>
                <a:cs typeface="Calibri" pitchFamily="34" charset="-120"/>
              </a:rPr>
              <a:t>data seed 2026  ·  sıra: SHA-256(‘order’, seed, sənəd ID) üzrə  ·  model seed sıraya TƏSİR ETMİR</a:t>
            </a:r>
            <a:endParaRPr lang="en-US" sz="1000" dirty="0"/>
          </a:p>
        </p:txBody>
      </p:sp>
      <p:sp>
        <p:nvSpPr>
          <p:cNvPr id="29" name="Text 26"/>
          <p:cNvSpPr txBox="1"/>
          <p:nvPr/>
        </p:nvSpPr>
        <p:spPr>
          <a:xfrm>
            <a:off x="6400800" y="2871216"/>
            <a:ext cx="521208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DƏQİQ SƏRHƏD</a:t>
            </a:r>
            <a:endParaRPr lang="en-US" sz="1050" dirty="0"/>
          </a:p>
        </p:txBody>
      </p:sp>
      <p:sp>
        <p:nvSpPr>
          <p:cNvPr id="30" name="Shape 27"/>
          <p:cNvSpPr/>
          <p:nvPr/>
        </p:nvSpPr>
        <p:spPr>
          <a:xfrm>
            <a:off x="6400800" y="3127248"/>
            <a:ext cx="3749040" cy="420624"/>
          </a:xfrm>
          <a:prstGeom prst="rect">
            <a:avLst/>
          </a:prstGeom>
          <a:solidFill>
            <a:srgbClr val="D6E6F0"/>
          </a:solidFill>
          <a:ln/>
        </p:spPr>
      </p:sp>
      <p:sp>
        <p:nvSpPr>
          <p:cNvPr id="31" name="Text 28"/>
          <p:cNvSpPr txBox="1"/>
          <p:nvPr/>
        </p:nvSpPr>
        <p:spPr>
          <a:xfrm>
            <a:off x="6400800" y="3127248"/>
            <a:ext cx="3749040" cy="420624"/>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49 995 815 token</a:t>
            </a:r>
            <a:endParaRPr lang="en-US" sz="1200" dirty="0"/>
          </a:p>
        </p:txBody>
      </p:sp>
      <p:sp>
        <p:nvSpPr>
          <p:cNvPr id="32" name="Shape 29"/>
          <p:cNvSpPr/>
          <p:nvPr/>
        </p:nvSpPr>
        <p:spPr>
          <a:xfrm>
            <a:off x="10186416" y="3127248"/>
            <a:ext cx="914400" cy="420624"/>
          </a:xfrm>
          <a:prstGeom prst="rect">
            <a:avLst/>
          </a:prstGeom>
          <a:solidFill>
            <a:srgbClr val="FBE3C4"/>
          </a:solidFill>
          <a:ln/>
        </p:spPr>
      </p:sp>
      <p:sp>
        <p:nvSpPr>
          <p:cNvPr id="33" name="Text 30"/>
          <p:cNvSpPr txBox="1"/>
          <p:nvPr/>
        </p:nvSpPr>
        <p:spPr>
          <a:xfrm>
            <a:off x="10186416" y="3127248"/>
            <a:ext cx="914400" cy="420624"/>
          </a:xfrm>
          <a:prstGeom prst="rect">
            <a:avLst/>
          </a:prstGeom>
          <a:noFill/>
          <a:ln/>
        </p:spPr>
        <p:txBody>
          <a:bodyPr wrap="square" lIns="0" tIns="0" rIns="0" bIns="0" rtlCol="0" anchor="ctr"/>
          <a:lstStyle/>
          <a:p>
            <a:pPr marL="0" indent="0" algn="ctr">
              <a:buNone/>
            </a:pPr>
            <a:r>
              <a:rPr lang="en-US" sz="1100" b="1" dirty="0">
                <a:solidFill>
                  <a:srgbClr val="8A5A00"/>
                </a:solidFill>
                <a:latin typeface="Calibri" pitchFamily="34" charset="0"/>
                <a:ea typeface="Calibri" pitchFamily="34" charset="-122"/>
                <a:cs typeface="Calibri" pitchFamily="34" charset="-120"/>
              </a:rPr>
              <a:t>+4 185</a:t>
            </a:r>
            <a:endParaRPr lang="en-US" sz="1100" dirty="0"/>
          </a:p>
        </p:txBody>
      </p:sp>
      <p:sp>
        <p:nvSpPr>
          <p:cNvPr id="34" name="Shape 31"/>
          <p:cNvSpPr/>
          <p:nvPr/>
        </p:nvSpPr>
        <p:spPr>
          <a:xfrm>
            <a:off x="11137392" y="3127248"/>
            <a:ext cx="502920" cy="420624"/>
          </a:xfrm>
          <a:prstGeom prst="rect">
            <a:avLst/>
          </a:prstGeom>
          <a:solidFill>
            <a:srgbClr val="FFFFFF"/>
          </a:solidFill>
          <a:ln w="12700">
            <a:solidFill>
              <a:srgbClr val="D9C2A0"/>
            </a:solidFill>
            <a:prstDash val="solid"/>
          </a:ln>
        </p:spPr>
      </p:sp>
      <p:sp>
        <p:nvSpPr>
          <p:cNvPr id="35" name="Text 32"/>
          <p:cNvSpPr txBox="1"/>
          <p:nvPr/>
        </p:nvSpPr>
        <p:spPr>
          <a:xfrm>
            <a:off x="11137392" y="3127248"/>
            <a:ext cx="502920" cy="420624"/>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2 614</a:t>
            </a:r>
            <a:endParaRPr lang="en-US" sz="850" dirty="0"/>
          </a:p>
        </p:txBody>
      </p:sp>
      <p:sp>
        <p:nvSpPr>
          <p:cNvPr id="36" name="Text 33"/>
          <p:cNvSpPr txBox="1"/>
          <p:nvPr/>
        </p:nvSpPr>
        <p:spPr>
          <a:xfrm>
            <a:off x="6400800" y="3566160"/>
            <a:ext cx="3749040" cy="201168"/>
          </a:xfrm>
          <a:prstGeom prst="rect">
            <a:avLst/>
          </a:prstGeom>
          <a:noFill/>
          <a:ln/>
        </p:spPr>
        <p:txBody>
          <a:bodyPr wrap="square" lIns="0" tIns="0" rIns="0" bIns="0" rtlCol="0" anchor="ctr"/>
          <a:lstStyle/>
          <a:p>
            <a:pPr marL="0" indent="0" algn="ctr">
              <a:buNone/>
            </a:pPr>
            <a:r>
              <a:rPr lang="en-US" sz="850" dirty="0">
                <a:solidFill>
                  <a:srgbClr val="5F7082"/>
                </a:solidFill>
                <a:latin typeface="Calibri" pitchFamily="34" charset="0"/>
                <a:ea typeface="Calibri" pitchFamily="34" charset="-122"/>
                <a:cs typeface="Calibri" pitchFamily="34" charset="-120"/>
              </a:rPr>
              <a:t>əvvəlki sənədlər</a:t>
            </a:r>
            <a:endParaRPr lang="en-US" sz="850" dirty="0"/>
          </a:p>
        </p:txBody>
      </p:sp>
      <p:sp>
        <p:nvSpPr>
          <p:cNvPr id="37" name="Text 34"/>
          <p:cNvSpPr txBox="1"/>
          <p:nvPr/>
        </p:nvSpPr>
        <p:spPr>
          <a:xfrm>
            <a:off x="10058400" y="3566160"/>
            <a:ext cx="1188720" cy="201168"/>
          </a:xfrm>
          <a:prstGeom prst="rect">
            <a:avLst/>
          </a:prstGeom>
          <a:noFill/>
          <a:ln/>
        </p:spPr>
        <p:txBody>
          <a:bodyPr wrap="square" lIns="0" tIns="0" rIns="0" bIns="0" rtlCol="0" anchor="ctr"/>
          <a:lstStyle/>
          <a:p>
            <a:pPr marL="0" indent="0" algn="ctr">
              <a:buNone/>
            </a:pPr>
            <a:r>
              <a:rPr lang="en-US" sz="850" dirty="0">
                <a:solidFill>
                  <a:srgbClr val="5F7082"/>
                </a:solidFill>
                <a:latin typeface="Calibri" pitchFamily="34" charset="0"/>
                <a:ea typeface="Calibri" pitchFamily="34" charset="-122"/>
                <a:cs typeface="Calibri" pitchFamily="34" charset="-120"/>
              </a:rPr>
              <a:t>sərhəd sənədindən</a:t>
            </a:r>
            <a:endParaRPr lang="en-US" sz="850" dirty="0"/>
          </a:p>
        </p:txBody>
      </p:sp>
      <p:sp>
        <p:nvSpPr>
          <p:cNvPr id="38" name="Text 35"/>
          <p:cNvSpPr txBox="1"/>
          <p:nvPr/>
        </p:nvSpPr>
        <p:spPr>
          <a:xfrm>
            <a:off x="11137392" y="3566160"/>
            <a:ext cx="548640" cy="274320"/>
          </a:xfrm>
          <a:prstGeom prst="rect">
            <a:avLst/>
          </a:prstGeom>
          <a:noFill/>
          <a:ln/>
        </p:spPr>
        <p:txBody>
          <a:bodyPr wrap="square" lIns="0" tIns="0" rIns="0" bIns="0" rtlCol="0" anchor="ctr"/>
          <a:lstStyle/>
          <a:p>
            <a:pPr marL="0" indent="0" algn="ctr">
              <a:buNone/>
            </a:pPr>
            <a:r>
              <a:rPr lang="en-US" sz="750" dirty="0">
                <a:solidFill>
                  <a:srgbClr val="8A99A8"/>
                </a:solidFill>
                <a:latin typeface="Calibri" pitchFamily="34" charset="0"/>
                <a:ea typeface="Calibri" pitchFamily="34" charset="-122"/>
                <a:cs typeface="Calibri" pitchFamily="34" charset="-120"/>
              </a:rPr>
              <a:t>istifadə</a:t>
            </a:r>
            <a:endParaRPr lang="en-US" sz="750" dirty="0"/>
          </a:p>
          <a:p>
            <a:pPr marL="0" indent="0" algn="ctr">
              <a:buNone/>
            </a:pPr>
            <a:r>
              <a:rPr lang="en-US" sz="750" dirty="0">
                <a:solidFill>
                  <a:srgbClr val="8A99A8"/>
                </a:solidFill>
                <a:latin typeface="Calibri" pitchFamily="34" charset="0"/>
                <a:ea typeface="Calibri" pitchFamily="34" charset="-122"/>
                <a:cs typeface="Calibri" pitchFamily="34" charset="-120"/>
              </a:rPr>
              <a:t>olunmayıb</a:t>
            </a:r>
            <a:endParaRPr lang="en-US" sz="750" dirty="0"/>
          </a:p>
        </p:txBody>
      </p:sp>
      <p:sp>
        <p:nvSpPr>
          <p:cNvPr id="39" name="Text 36"/>
          <p:cNvSpPr txBox="1"/>
          <p:nvPr/>
        </p:nvSpPr>
        <p:spPr>
          <a:xfrm>
            <a:off x="6400800" y="3822192"/>
            <a:ext cx="5212080" cy="256032"/>
          </a:xfrm>
          <a:prstGeom prst="rect">
            <a:avLst/>
          </a:prstGeom>
          <a:noFill/>
          <a:ln/>
        </p:spPr>
        <p:txBody>
          <a:bodyPr wrap="square" lIns="0" tIns="0" rIns="0" bIns="0" rtlCol="0" anchor="ctr"/>
          <a:lstStyle/>
          <a:p>
            <a:pPr marL="0" indent="0">
              <a:buNone/>
            </a:pPr>
            <a:r>
              <a:rPr lang="en-US" sz="1100" b="1" dirty="0">
                <a:solidFill>
                  <a:srgbClr val="0E2438"/>
                </a:solidFill>
                <a:latin typeface="Calibri" pitchFamily="34" charset="0"/>
                <a:ea typeface="Calibri" pitchFamily="34" charset="-122"/>
                <a:cs typeface="Calibri" pitchFamily="34" charset="-120"/>
              </a:rPr>
              <a:t>=  tam olaraq 50 000 000 token.  Sərhəd sənədinin &lt;eod&gt; tokeni istehlak edilmir.</a:t>
            </a:r>
            <a:endParaRPr lang="en-US" sz="1100" dirty="0"/>
          </a:p>
        </p:txBody>
      </p:sp>
      <p:sp>
        <p:nvSpPr>
          <p:cNvPr id="40" name="Shape 37"/>
          <p:cNvSpPr/>
          <p:nvPr/>
        </p:nvSpPr>
        <p:spPr>
          <a:xfrm>
            <a:off x="6400800" y="4224528"/>
            <a:ext cx="2011680" cy="475488"/>
          </a:xfrm>
          <a:prstGeom prst="rect">
            <a:avLst/>
          </a:prstGeom>
          <a:solidFill>
            <a:srgbClr val="12324F"/>
          </a:solidFill>
          <a:ln/>
        </p:spPr>
      </p:sp>
      <p:sp>
        <p:nvSpPr>
          <p:cNvPr id="41" name="Text 38"/>
          <p:cNvSpPr txBox="1"/>
          <p:nvPr/>
        </p:nvSpPr>
        <p:spPr>
          <a:xfrm>
            <a:off x="6400800" y="4224528"/>
            <a:ext cx="20116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ortaq 50M</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sequence</a:t>
            </a:r>
            <a:endParaRPr lang="en-US" sz="1050" dirty="0"/>
          </a:p>
        </p:txBody>
      </p:sp>
      <p:sp>
        <p:nvSpPr>
          <p:cNvPr id="42" name="Shape 39"/>
          <p:cNvSpPr/>
          <p:nvPr/>
        </p:nvSpPr>
        <p:spPr>
          <a:xfrm>
            <a:off x="8485632" y="4379976"/>
            <a:ext cx="292608" cy="164592"/>
          </a:xfrm>
          <a:prstGeom prst="rightArrow">
            <a:avLst/>
          </a:prstGeom>
          <a:solidFill>
            <a:srgbClr val="C7D3DD"/>
          </a:solidFill>
          <a:ln/>
        </p:spPr>
      </p:sp>
      <p:sp>
        <p:nvSpPr>
          <p:cNvPr id="43" name="Shape 40"/>
          <p:cNvSpPr/>
          <p:nvPr/>
        </p:nvSpPr>
        <p:spPr>
          <a:xfrm>
            <a:off x="8851392" y="4059936"/>
            <a:ext cx="1371600" cy="237744"/>
          </a:xfrm>
          <a:prstGeom prst="roundRect">
            <a:avLst>
              <a:gd name="adj" fmla="val 23077"/>
            </a:avLst>
          </a:prstGeom>
          <a:solidFill>
            <a:srgbClr val="FFFFFF"/>
          </a:solidFill>
          <a:ln w="22225">
            <a:solidFill>
              <a:srgbClr val="CC79A7"/>
            </a:solidFill>
            <a:prstDash val="solid"/>
          </a:ln>
        </p:spPr>
      </p:sp>
      <p:sp>
        <p:nvSpPr>
          <p:cNvPr id="44" name="Text 41"/>
          <p:cNvSpPr txBox="1"/>
          <p:nvPr/>
        </p:nvSpPr>
        <p:spPr>
          <a:xfrm>
            <a:off x="8851392" y="4059936"/>
            <a:ext cx="1371600" cy="237744"/>
          </a:xfrm>
          <a:prstGeom prst="rect">
            <a:avLst/>
          </a:prstGeom>
          <a:noFill/>
          <a:ln/>
        </p:spPr>
        <p:txBody>
          <a:bodyPr wrap="square" lIns="0" tIns="0" rIns="0" bIns="0" rtlCol="0" anchor="ctr"/>
          <a:lstStyle/>
          <a:p>
            <a:pPr marL="0" indent="0" algn="ctr">
              <a:buNone/>
            </a:pPr>
            <a:r>
              <a:rPr lang="en-US" sz="950" b="1" dirty="0">
                <a:solidFill>
                  <a:srgbClr val="CC79A7"/>
                </a:solidFill>
                <a:latin typeface="Calibri" pitchFamily="34" charset="0"/>
                <a:ea typeface="Calibri" pitchFamily="34" charset="-122"/>
                <a:cs typeface="Calibri" pitchFamily="34" charset="-120"/>
              </a:rPr>
              <a:t>Learned</a:t>
            </a:r>
            <a:endParaRPr lang="en-US" sz="950" dirty="0"/>
          </a:p>
        </p:txBody>
      </p:sp>
      <p:sp>
        <p:nvSpPr>
          <p:cNvPr id="45" name="Shape 42"/>
          <p:cNvSpPr/>
          <p:nvPr/>
        </p:nvSpPr>
        <p:spPr>
          <a:xfrm>
            <a:off x="8851392" y="4334256"/>
            <a:ext cx="1371600" cy="237744"/>
          </a:xfrm>
          <a:prstGeom prst="roundRect">
            <a:avLst>
              <a:gd name="adj" fmla="val 23077"/>
            </a:avLst>
          </a:prstGeom>
          <a:solidFill>
            <a:srgbClr val="FFFFFF"/>
          </a:solidFill>
          <a:ln w="22225">
            <a:solidFill>
              <a:srgbClr val="D55E00"/>
            </a:solidFill>
            <a:prstDash val="solid"/>
          </a:ln>
        </p:spPr>
      </p:sp>
      <p:sp>
        <p:nvSpPr>
          <p:cNvPr id="46" name="Text 43"/>
          <p:cNvSpPr txBox="1"/>
          <p:nvPr/>
        </p:nvSpPr>
        <p:spPr>
          <a:xfrm>
            <a:off x="8851392" y="4334256"/>
            <a:ext cx="1371600" cy="237744"/>
          </a:xfrm>
          <a:prstGeom prst="rect">
            <a:avLst/>
          </a:prstGeom>
          <a:noFill/>
          <a:ln/>
        </p:spPr>
        <p:txBody>
          <a:bodyPr wrap="square" lIns="0" tIns="0" rIns="0" bIns="0" rtlCol="0" anchor="ctr"/>
          <a:lstStyle/>
          <a:p>
            <a:pPr marL="0" indent="0" algn="ctr">
              <a:buNone/>
            </a:pPr>
            <a:r>
              <a:rPr lang="en-US" sz="950" b="1" dirty="0">
                <a:solidFill>
                  <a:srgbClr val="D55E00"/>
                </a:solidFill>
                <a:latin typeface="Calibri" pitchFamily="34" charset="0"/>
                <a:ea typeface="Calibri" pitchFamily="34" charset="-122"/>
                <a:cs typeface="Calibri" pitchFamily="34" charset="-120"/>
              </a:rPr>
              <a:t>Sinusoidal</a:t>
            </a:r>
            <a:endParaRPr lang="en-US" sz="950" dirty="0"/>
          </a:p>
        </p:txBody>
      </p:sp>
      <p:sp>
        <p:nvSpPr>
          <p:cNvPr id="47" name="Shape 44"/>
          <p:cNvSpPr/>
          <p:nvPr/>
        </p:nvSpPr>
        <p:spPr>
          <a:xfrm>
            <a:off x="8851392" y="4608576"/>
            <a:ext cx="1371600" cy="237744"/>
          </a:xfrm>
          <a:prstGeom prst="roundRect">
            <a:avLst>
              <a:gd name="adj" fmla="val 23077"/>
            </a:avLst>
          </a:prstGeom>
          <a:solidFill>
            <a:srgbClr val="FFFFFF"/>
          </a:solidFill>
          <a:ln w="22225">
            <a:solidFill>
              <a:srgbClr val="0072B2"/>
            </a:solidFill>
            <a:prstDash val="solid"/>
          </a:ln>
        </p:spPr>
      </p:sp>
      <p:sp>
        <p:nvSpPr>
          <p:cNvPr id="48" name="Text 45"/>
          <p:cNvSpPr txBox="1"/>
          <p:nvPr/>
        </p:nvSpPr>
        <p:spPr>
          <a:xfrm>
            <a:off x="8851392" y="4608576"/>
            <a:ext cx="1371600" cy="237744"/>
          </a:xfrm>
          <a:prstGeom prst="rect">
            <a:avLst/>
          </a:prstGeom>
          <a:noFill/>
          <a:ln/>
        </p:spPr>
        <p:txBody>
          <a:bodyPr wrap="square" lIns="0" tIns="0" rIns="0" bIns="0" rtlCol="0" anchor="ctr"/>
          <a:lstStyle/>
          <a:p>
            <a:pPr marL="0" indent="0" algn="ctr">
              <a:buNone/>
            </a:pPr>
            <a:r>
              <a:rPr lang="en-US" sz="950" b="1" dirty="0">
                <a:solidFill>
                  <a:srgbClr val="0072B2"/>
                </a:solidFill>
                <a:latin typeface="Calibri" pitchFamily="34" charset="0"/>
                <a:ea typeface="Calibri" pitchFamily="34" charset="-122"/>
                <a:cs typeface="Calibri" pitchFamily="34" charset="-120"/>
              </a:rPr>
              <a:t>RoPE</a:t>
            </a:r>
            <a:endParaRPr lang="en-US" sz="950" dirty="0"/>
          </a:p>
        </p:txBody>
      </p:sp>
      <p:sp>
        <p:nvSpPr>
          <p:cNvPr id="49" name="Shape 46"/>
          <p:cNvSpPr/>
          <p:nvPr/>
        </p:nvSpPr>
        <p:spPr>
          <a:xfrm>
            <a:off x="8851392" y="4882896"/>
            <a:ext cx="1371600" cy="237744"/>
          </a:xfrm>
          <a:prstGeom prst="roundRect">
            <a:avLst>
              <a:gd name="adj" fmla="val 23077"/>
            </a:avLst>
          </a:prstGeom>
          <a:solidFill>
            <a:srgbClr val="FFFFFF"/>
          </a:solidFill>
          <a:ln w="22225">
            <a:solidFill>
              <a:srgbClr val="009E73"/>
            </a:solidFill>
            <a:prstDash val="solid"/>
          </a:ln>
        </p:spPr>
      </p:sp>
      <p:sp>
        <p:nvSpPr>
          <p:cNvPr id="50" name="Text 47"/>
          <p:cNvSpPr txBox="1"/>
          <p:nvPr/>
        </p:nvSpPr>
        <p:spPr>
          <a:xfrm>
            <a:off x="8851392" y="4882896"/>
            <a:ext cx="1371600" cy="237744"/>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51" name="Shape 48"/>
          <p:cNvSpPr/>
          <p:nvPr/>
        </p:nvSpPr>
        <p:spPr>
          <a:xfrm>
            <a:off x="8851392" y="5157216"/>
            <a:ext cx="1371600" cy="237744"/>
          </a:xfrm>
          <a:prstGeom prst="roundRect">
            <a:avLst>
              <a:gd name="adj" fmla="val 23077"/>
            </a:avLst>
          </a:prstGeom>
          <a:solidFill>
            <a:srgbClr val="FFFFFF"/>
          </a:solidFill>
          <a:ln w="22225">
            <a:solidFill>
              <a:srgbClr val="E69F00"/>
            </a:solidFill>
            <a:prstDash val="solid"/>
          </a:ln>
        </p:spPr>
      </p:sp>
      <p:sp>
        <p:nvSpPr>
          <p:cNvPr id="52" name="Text 49"/>
          <p:cNvSpPr txBox="1"/>
          <p:nvPr/>
        </p:nvSpPr>
        <p:spPr>
          <a:xfrm>
            <a:off x="8851392" y="5157216"/>
            <a:ext cx="1371600" cy="237744"/>
          </a:xfrm>
          <a:prstGeom prst="rect">
            <a:avLst/>
          </a:prstGeom>
          <a:noFill/>
          <a:ln/>
        </p:spPr>
        <p:txBody>
          <a:bodyPr wrap="square" lIns="0" tIns="0" rIns="0" bIns="0" rtlCol="0" anchor="ctr"/>
          <a:lstStyle/>
          <a:p>
            <a:pPr marL="0" indent="0" algn="ctr">
              <a:buNone/>
            </a:pPr>
            <a:r>
              <a:rPr lang="en-US" sz="950" b="1" dirty="0">
                <a:solidFill>
                  <a:srgbClr val="E69F00"/>
                </a:solidFill>
                <a:latin typeface="Calibri" pitchFamily="34" charset="0"/>
                <a:ea typeface="Calibri" pitchFamily="34" charset="-122"/>
                <a:cs typeface="Calibri" pitchFamily="34" charset="-120"/>
              </a:rPr>
              <a:t>NoPE</a:t>
            </a:r>
            <a:endParaRPr lang="en-US" sz="950" dirty="0"/>
          </a:p>
        </p:txBody>
      </p:sp>
      <p:sp>
        <p:nvSpPr>
          <p:cNvPr id="53" name="Text 50"/>
          <p:cNvSpPr txBox="1"/>
          <p:nvPr/>
        </p:nvSpPr>
        <p:spPr>
          <a:xfrm>
            <a:off x="6400800" y="4864608"/>
            <a:ext cx="2286000" cy="548640"/>
          </a:xfrm>
          <a:prstGeom prst="rect">
            <a:avLst/>
          </a:prstGeom>
          <a:noFill/>
          <a:ln/>
        </p:spPr>
        <p:txBody>
          <a:bodyPr wrap="square" lIns="0" tIns="0" rIns="0" bIns="0" rtlCol="0" anchor="ctr"/>
          <a:lstStyle/>
          <a:p>
            <a:pPr marL="0" indent="0">
              <a:buNone/>
            </a:pPr>
            <a:r>
              <a:rPr lang="en-US" sz="1100" b="1" i="1" dirty="0">
                <a:solidFill>
                  <a:srgbClr val="12324F"/>
                </a:solidFill>
                <a:latin typeface="Calibri" pitchFamily="34" charset="0"/>
                <a:ea typeface="Calibri" pitchFamily="34" charset="-122"/>
                <a:cs typeface="Calibri" pitchFamily="34" charset="-120"/>
              </a:rPr>
              <a:t>“25 run-un hamısı eyni tokenləri eyni ardıcıllıqla görür.”</a:t>
            </a:r>
            <a:endParaRPr lang="en-US" sz="1100" dirty="0"/>
          </a:p>
        </p:txBody>
      </p:sp>
      <p:sp>
        <p:nvSpPr>
          <p:cNvPr id="54" name="Shape 51"/>
          <p:cNvSpPr/>
          <p:nvPr/>
        </p:nvSpPr>
        <p:spPr>
          <a:xfrm>
            <a:off x="548640" y="5870448"/>
            <a:ext cx="11091672" cy="438912"/>
          </a:xfrm>
          <a:prstGeom prst="roundRect">
            <a:avLst>
              <a:gd name="adj" fmla="val 14583"/>
            </a:avLst>
          </a:prstGeom>
          <a:solidFill>
            <a:srgbClr val="EAF0F4"/>
          </a:solidFill>
          <a:ln/>
        </p:spPr>
      </p:sp>
      <p:sp>
        <p:nvSpPr>
          <p:cNvPr id="55" name="Text 52"/>
          <p:cNvSpPr txBox="1"/>
          <p:nvPr/>
        </p:nvSpPr>
        <p:spPr>
          <a:xfrm>
            <a:off x="713232" y="5888736"/>
            <a:ext cx="10762488" cy="438912"/>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Experimental control:  </a:t>
            </a:r>
            <a:r>
              <a:rPr lang="en-US" sz="1200" dirty="0">
                <a:solidFill>
                  <a:srgbClr val="14202E"/>
                </a:solidFill>
                <a:latin typeface="Calibri" pitchFamily="34" charset="0"/>
                <a:ea typeface="Calibri" pitchFamily="34" charset="-122"/>
                <a:cs typeface="Calibri" pitchFamily="34" charset="-120"/>
              </a:rPr>
              <a:t>Tokenizer train-only datada öyrədilib, training ardıcıllığı deterministikdir və hər run üçün dəqiq 50 000 000 token istehlak olunur.</a:t>
            </a:r>
            <a:endParaRPr lang="en-US" sz="1200" dirty="0"/>
          </a:p>
        </p:txBody>
      </p:sp>
      <p:sp>
        <p:nvSpPr>
          <p:cNvPr id="56" name="Text 53"/>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Ibrahim Mammadov  ·  IBRAHIM102005</a:t>
            </a:r>
            <a:endParaRPr lang="en-US" sz="950" dirty="0"/>
          </a:p>
        </p:txBody>
      </p:sp>
      <p:sp>
        <p:nvSpPr>
          <p:cNvPr id="57" name="Text 54"/>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data/metadata/tokenizer_audit.json · training_data_contract.json</a:t>
            </a:r>
            <a:endParaRPr lang="en-US" sz="850" dirty="0"/>
          </a:p>
        </p:txBody>
      </p:sp>
      <p:sp>
        <p:nvSpPr>
          <p:cNvPr id="58" name="Text 55"/>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02  /  MODEL DESIGN</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Eyni Transformer, beş fərqli mövqe strategiyası</a:t>
            </a:r>
            <a:endParaRPr lang="en-US" sz="2500" dirty="0"/>
          </a:p>
        </p:txBody>
      </p:sp>
      <p:sp>
        <p:nvSpPr>
          <p:cNvPr id="4" name="Text 2"/>
          <p:cNvSpPr txBox="1"/>
          <p:nvPr/>
        </p:nvSpPr>
        <p:spPr>
          <a:xfrm>
            <a:off x="548640" y="1170432"/>
            <a:ext cx="310896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ORTAQ ARXİTEKTURA</a:t>
            </a:r>
            <a:endParaRPr lang="en-US" sz="1050" dirty="0"/>
          </a:p>
        </p:txBody>
      </p:sp>
      <p:sp>
        <p:nvSpPr>
          <p:cNvPr id="5" name="Shape 3"/>
          <p:cNvSpPr/>
          <p:nvPr/>
        </p:nvSpPr>
        <p:spPr>
          <a:xfrm>
            <a:off x="548640" y="1463040"/>
            <a:ext cx="3154680" cy="310896"/>
          </a:xfrm>
          <a:prstGeom prst="rect">
            <a:avLst/>
          </a:prstGeom>
          <a:solidFill>
            <a:srgbClr val="F4F7F9"/>
          </a:solidFill>
          <a:ln/>
        </p:spPr>
      </p:sp>
      <p:sp>
        <p:nvSpPr>
          <p:cNvPr id="6" name="Text 4"/>
          <p:cNvSpPr txBox="1"/>
          <p:nvPr/>
        </p:nvSpPr>
        <p:spPr>
          <a:xfrm>
            <a:off x="658368" y="1463040"/>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Tip</a:t>
            </a:r>
            <a:endParaRPr lang="en-US" sz="1050" dirty="0"/>
          </a:p>
        </p:txBody>
      </p:sp>
      <p:sp>
        <p:nvSpPr>
          <p:cNvPr id="7" name="Text 5"/>
          <p:cNvSpPr txBox="1"/>
          <p:nvPr/>
        </p:nvSpPr>
        <p:spPr>
          <a:xfrm>
            <a:off x="1847088" y="1463040"/>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decoder-only causal LM</a:t>
            </a:r>
            <a:endParaRPr lang="en-US" sz="1050" dirty="0"/>
          </a:p>
        </p:txBody>
      </p:sp>
      <p:sp>
        <p:nvSpPr>
          <p:cNvPr id="8" name="Shape 6"/>
          <p:cNvSpPr/>
          <p:nvPr/>
        </p:nvSpPr>
        <p:spPr>
          <a:xfrm>
            <a:off x="548640" y="1810512"/>
            <a:ext cx="3154680" cy="310896"/>
          </a:xfrm>
          <a:prstGeom prst="rect">
            <a:avLst/>
          </a:prstGeom>
          <a:solidFill>
            <a:srgbClr val="FFFFFF"/>
          </a:solidFill>
          <a:ln/>
        </p:spPr>
      </p:sp>
      <p:sp>
        <p:nvSpPr>
          <p:cNvPr id="9" name="Text 7"/>
          <p:cNvSpPr txBox="1"/>
          <p:nvPr/>
        </p:nvSpPr>
        <p:spPr>
          <a:xfrm>
            <a:off x="658368" y="1810512"/>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Layer</a:t>
            </a:r>
            <a:endParaRPr lang="en-US" sz="1050" dirty="0"/>
          </a:p>
        </p:txBody>
      </p:sp>
      <p:sp>
        <p:nvSpPr>
          <p:cNvPr id="10" name="Text 8"/>
          <p:cNvSpPr txBox="1"/>
          <p:nvPr/>
        </p:nvSpPr>
        <p:spPr>
          <a:xfrm>
            <a:off x="1847088" y="1810512"/>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6</a:t>
            </a:r>
            <a:endParaRPr lang="en-US" sz="1050" dirty="0"/>
          </a:p>
        </p:txBody>
      </p:sp>
      <p:sp>
        <p:nvSpPr>
          <p:cNvPr id="11" name="Shape 9"/>
          <p:cNvSpPr/>
          <p:nvPr/>
        </p:nvSpPr>
        <p:spPr>
          <a:xfrm>
            <a:off x="548640" y="2157984"/>
            <a:ext cx="3154680" cy="310896"/>
          </a:xfrm>
          <a:prstGeom prst="rect">
            <a:avLst/>
          </a:prstGeom>
          <a:solidFill>
            <a:srgbClr val="F4F7F9"/>
          </a:solidFill>
          <a:ln/>
        </p:spPr>
      </p:sp>
      <p:sp>
        <p:nvSpPr>
          <p:cNvPr id="12" name="Text 10"/>
          <p:cNvSpPr txBox="1"/>
          <p:nvPr/>
        </p:nvSpPr>
        <p:spPr>
          <a:xfrm>
            <a:off x="658368" y="2157984"/>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d_model</a:t>
            </a:r>
            <a:endParaRPr lang="en-US" sz="1050" dirty="0"/>
          </a:p>
        </p:txBody>
      </p:sp>
      <p:sp>
        <p:nvSpPr>
          <p:cNvPr id="13" name="Text 11"/>
          <p:cNvSpPr txBox="1"/>
          <p:nvPr/>
        </p:nvSpPr>
        <p:spPr>
          <a:xfrm>
            <a:off x="1847088" y="2157984"/>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256</a:t>
            </a:r>
            <a:endParaRPr lang="en-US" sz="1050" dirty="0"/>
          </a:p>
        </p:txBody>
      </p:sp>
      <p:sp>
        <p:nvSpPr>
          <p:cNvPr id="14" name="Shape 12"/>
          <p:cNvSpPr/>
          <p:nvPr/>
        </p:nvSpPr>
        <p:spPr>
          <a:xfrm>
            <a:off x="548640" y="2505456"/>
            <a:ext cx="3154680" cy="310896"/>
          </a:xfrm>
          <a:prstGeom prst="rect">
            <a:avLst/>
          </a:prstGeom>
          <a:solidFill>
            <a:srgbClr val="FFFFFF"/>
          </a:solidFill>
          <a:ln/>
        </p:spPr>
      </p:sp>
      <p:sp>
        <p:nvSpPr>
          <p:cNvPr id="15" name="Text 13"/>
          <p:cNvSpPr txBox="1"/>
          <p:nvPr/>
        </p:nvSpPr>
        <p:spPr>
          <a:xfrm>
            <a:off x="658368" y="2505456"/>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Attention head</a:t>
            </a:r>
            <a:endParaRPr lang="en-US" sz="1050" dirty="0"/>
          </a:p>
        </p:txBody>
      </p:sp>
      <p:sp>
        <p:nvSpPr>
          <p:cNvPr id="16" name="Text 14"/>
          <p:cNvSpPr txBox="1"/>
          <p:nvPr/>
        </p:nvSpPr>
        <p:spPr>
          <a:xfrm>
            <a:off x="1847088" y="2505456"/>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8  ·  head ölçüsü 32</a:t>
            </a:r>
            <a:endParaRPr lang="en-US" sz="1050" dirty="0"/>
          </a:p>
        </p:txBody>
      </p:sp>
      <p:sp>
        <p:nvSpPr>
          <p:cNvPr id="17" name="Shape 15"/>
          <p:cNvSpPr/>
          <p:nvPr/>
        </p:nvSpPr>
        <p:spPr>
          <a:xfrm>
            <a:off x="548640" y="2852928"/>
            <a:ext cx="3154680" cy="310896"/>
          </a:xfrm>
          <a:prstGeom prst="rect">
            <a:avLst/>
          </a:prstGeom>
          <a:solidFill>
            <a:srgbClr val="F4F7F9"/>
          </a:solidFill>
          <a:ln/>
        </p:spPr>
      </p:sp>
      <p:sp>
        <p:nvSpPr>
          <p:cNvPr id="18" name="Text 16"/>
          <p:cNvSpPr txBox="1"/>
          <p:nvPr/>
        </p:nvSpPr>
        <p:spPr>
          <a:xfrm>
            <a:off x="658368" y="2852928"/>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FFN (d_ff)</a:t>
            </a:r>
            <a:endParaRPr lang="en-US" sz="1050" dirty="0"/>
          </a:p>
        </p:txBody>
      </p:sp>
      <p:sp>
        <p:nvSpPr>
          <p:cNvPr id="19" name="Text 17"/>
          <p:cNvSpPr txBox="1"/>
          <p:nvPr/>
        </p:nvSpPr>
        <p:spPr>
          <a:xfrm>
            <a:off x="1847088" y="2852928"/>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1024  ·  GELU</a:t>
            </a:r>
            <a:endParaRPr lang="en-US" sz="1050" dirty="0"/>
          </a:p>
        </p:txBody>
      </p:sp>
      <p:sp>
        <p:nvSpPr>
          <p:cNvPr id="20" name="Shape 18"/>
          <p:cNvSpPr/>
          <p:nvPr/>
        </p:nvSpPr>
        <p:spPr>
          <a:xfrm>
            <a:off x="548640" y="3200400"/>
            <a:ext cx="3154680" cy="310896"/>
          </a:xfrm>
          <a:prstGeom prst="rect">
            <a:avLst/>
          </a:prstGeom>
          <a:solidFill>
            <a:srgbClr val="FFFFFF"/>
          </a:solidFill>
          <a:ln/>
        </p:spPr>
      </p:sp>
      <p:sp>
        <p:nvSpPr>
          <p:cNvPr id="21" name="Text 19"/>
          <p:cNvSpPr txBox="1"/>
          <p:nvPr/>
        </p:nvSpPr>
        <p:spPr>
          <a:xfrm>
            <a:off x="658368" y="3200400"/>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Context</a:t>
            </a:r>
            <a:endParaRPr lang="en-US" sz="1050" dirty="0"/>
          </a:p>
        </p:txBody>
      </p:sp>
      <p:sp>
        <p:nvSpPr>
          <p:cNvPr id="22" name="Text 20"/>
          <p:cNvSpPr txBox="1"/>
          <p:nvPr/>
        </p:nvSpPr>
        <p:spPr>
          <a:xfrm>
            <a:off x="1847088" y="3200400"/>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512 token</a:t>
            </a:r>
            <a:endParaRPr lang="en-US" sz="1050" dirty="0"/>
          </a:p>
        </p:txBody>
      </p:sp>
      <p:sp>
        <p:nvSpPr>
          <p:cNvPr id="23" name="Shape 21"/>
          <p:cNvSpPr/>
          <p:nvPr/>
        </p:nvSpPr>
        <p:spPr>
          <a:xfrm>
            <a:off x="548640" y="3547872"/>
            <a:ext cx="3154680" cy="310896"/>
          </a:xfrm>
          <a:prstGeom prst="rect">
            <a:avLst/>
          </a:prstGeom>
          <a:solidFill>
            <a:srgbClr val="F4F7F9"/>
          </a:solidFill>
          <a:ln/>
        </p:spPr>
      </p:sp>
      <p:sp>
        <p:nvSpPr>
          <p:cNvPr id="24" name="Text 22"/>
          <p:cNvSpPr txBox="1"/>
          <p:nvPr/>
        </p:nvSpPr>
        <p:spPr>
          <a:xfrm>
            <a:off x="658368" y="3547872"/>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Vocabulary</a:t>
            </a:r>
            <a:endParaRPr lang="en-US" sz="1050" dirty="0"/>
          </a:p>
        </p:txBody>
      </p:sp>
      <p:sp>
        <p:nvSpPr>
          <p:cNvPr id="25" name="Text 23"/>
          <p:cNvSpPr txBox="1"/>
          <p:nvPr/>
        </p:nvSpPr>
        <p:spPr>
          <a:xfrm>
            <a:off x="1847088" y="3547872"/>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16 000</a:t>
            </a:r>
            <a:endParaRPr lang="en-US" sz="1050" dirty="0"/>
          </a:p>
        </p:txBody>
      </p:sp>
      <p:sp>
        <p:nvSpPr>
          <p:cNvPr id="26" name="Shape 24"/>
          <p:cNvSpPr/>
          <p:nvPr/>
        </p:nvSpPr>
        <p:spPr>
          <a:xfrm>
            <a:off x="548640" y="3895344"/>
            <a:ext cx="3154680" cy="310896"/>
          </a:xfrm>
          <a:prstGeom prst="rect">
            <a:avLst/>
          </a:prstGeom>
          <a:solidFill>
            <a:srgbClr val="FFFFFF"/>
          </a:solidFill>
          <a:ln/>
        </p:spPr>
      </p:sp>
      <p:sp>
        <p:nvSpPr>
          <p:cNvPr id="27" name="Text 25"/>
          <p:cNvSpPr txBox="1"/>
          <p:nvPr/>
        </p:nvSpPr>
        <p:spPr>
          <a:xfrm>
            <a:off x="658368" y="3895344"/>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Dropout</a:t>
            </a:r>
            <a:endParaRPr lang="en-US" sz="1050" dirty="0"/>
          </a:p>
        </p:txBody>
      </p:sp>
      <p:sp>
        <p:nvSpPr>
          <p:cNvPr id="28" name="Text 26"/>
          <p:cNvSpPr txBox="1"/>
          <p:nvPr/>
        </p:nvSpPr>
        <p:spPr>
          <a:xfrm>
            <a:off x="1847088" y="3895344"/>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0.0</a:t>
            </a:r>
            <a:endParaRPr lang="en-US" sz="1050" dirty="0"/>
          </a:p>
        </p:txBody>
      </p:sp>
      <p:sp>
        <p:nvSpPr>
          <p:cNvPr id="29" name="Shape 27"/>
          <p:cNvSpPr/>
          <p:nvPr/>
        </p:nvSpPr>
        <p:spPr>
          <a:xfrm>
            <a:off x="548640" y="4242816"/>
            <a:ext cx="3154680" cy="310896"/>
          </a:xfrm>
          <a:prstGeom prst="rect">
            <a:avLst/>
          </a:prstGeom>
          <a:solidFill>
            <a:srgbClr val="F4F7F9"/>
          </a:solidFill>
          <a:ln/>
        </p:spPr>
      </p:sp>
      <p:sp>
        <p:nvSpPr>
          <p:cNvPr id="30" name="Text 28"/>
          <p:cNvSpPr txBox="1"/>
          <p:nvPr/>
        </p:nvSpPr>
        <p:spPr>
          <a:xfrm>
            <a:off x="658368" y="4242816"/>
            <a:ext cx="1188720" cy="310896"/>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Init</a:t>
            </a:r>
            <a:endParaRPr lang="en-US" sz="1050" dirty="0"/>
          </a:p>
        </p:txBody>
      </p:sp>
      <p:sp>
        <p:nvSpPr>
          <p:cNvPr id="31" name="Text 29"/>
          <p:cNvSpPr txBox="1"/>
          <p:nvPr/>
        </p:nvSpPr>
        <p:spPr>
          <a:xfrm>
            <a:off x="1847088" y="4242816"/>
            <a:ext cx="1828800" cy="31089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Pythia sxemi  ·  embedding tied deyil</a:t>
            </a:r>
            <a:endParaRPr lang="en-US" sz="1050" dirty="0"/>
          </a:p>
        </p:txBody>
      </p:sp>
      <p:sp>
        <p:nvSpPr>
          <p:cNvPr id="32" name="Shape 30"/>
          <p:cNvSpPr/>
          <p:nvPr/>
        </p:nvSpPr>
        <p:spPr>
          <a:xfrm>
            <a:off x="548640" y="4626864"/>
            <a:ext cx="3154680" cy="786384"/>
          </a:xfrm>
          <a:prstGeom prst="roundRect">
            <a:avLst>
              <a:gd name="adj" fmla="val 8140"/>
            </a:avLst>
          </a:prstGeom>
          <a:solidFill>
            <a:srgbClr val="EAF0F4"/>
          </a:solidFill>
          <a:ln/>
        </p:spPr>
      </p:sp>
      <p:sp>
        <p:nvSpPr>
          <p:cNvPr id="33" name="Text 31"/>
          <p:cNvSpPr txBox="1"/>
          <p:nvPr/>
        </p:nvSpPr>
        <p:spPr>
          <a:xfrm>
            <a:off x="676656" y="4700016"/>
            <a:ext cx="2926080" cy="256032"/>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 12.93M parametr  (learned variantda 13.06M)</a:t>
            </a:r>
            <a:endParaRPr lang="en-US" sz="1100" dirty="0"/>
          </a:p>
        </p:txBody>
      </p:sp>
      <p:sp>
        <p:nvSpPr>
          <p:cNvPr id="34" name="Text 32"/>
          <p:cNvSpPr txBox="1"/>
          <p:nvPr/>
        </p:nvSpPr>
        <p:spPr>
          <a:xfrm>
            <a:off x="676656" y="4956048"/>
            <a:ext cx="2926080" cy="402336"/>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Fərq yalnız Learned metodunun 512 × 256 ölçülü mövqe cədvəlidir (131 072 parametr).</a:t>
            </a:r>
            <a:endParaRPr lang="en-US" sz="950" dirty="0"/>
          </a:p>
        </p:txBody>
      </p:sp>
      <p:sp>
        <p:nvSpPr>
          <p:cNvPr id="35" name="Shape 33"/>
          <p:cNvSpPr/>
          <p:nvPr/>
        </p:nvSpPr>
        <p:spPr>
          <a:xfrm>
            <a:off x="4160520" y="1170432"/>
            <a:ext cx="3200400" cy="310896"/>
          </a:xfrm>
          <a:prstGeom prst="rect">
            <a:avLst/>
          </a:prstGeom>
          <a:solidFill>
            <a:srgbClr val="FFFFFF"/>
          </a:solidFill>
          <a:ln w="15240">
            <a:solidFill>
              <a:srgbClr val="B9C7D3"/>
            </a:solidFill>
            <a:prstDash val="solid"/>
          </a:ln>
        </p:spPr>
      </p:sp>
      <p:sp>
        <p:nvSpPr>
          <p:cNvPr id="36" name="Text 34"/>
          <p:cNvSpPr txBox="1"/>
          <p:nvPr/>
        </p:nvSpPr>
        <p:spPr>
          <a:xfrm>
            <a:off x="4160520" y="1170432"/>
            <a:ext cx="3200400" cy="310896"/>
          </a:xfrm>
          <a:prstGeom prst="rect">
            <a:avLst/>
          </a:prstGeom>
          <a:noFill/>
          <a:ln/>
        </p:spPr>
        <p:txBody>
          <a:bodyPr wrap="square" lIns="0" tIns="0" rIns="0" bIns="0" rtlCol="0" anchor="ctr"/>
          <a:lstStyle/>
          <a:p>
            <a:pPr marL="0" indent="0" algn="ctr">
              <a:buNone/>
            </a:pPr>
            <a:r>
              <a:rPr lang="en-US" sz="1100" dirty="0">
                <a:solidFill>
                  <a:srgbClr val="0E2438"/>
                </a:solidFill>
                <a:latin typeface="Calibri" pitchFamily="34" charset="0"/>
                <a:ea typeface="Calibri" pitchFamily="34" charset="-122"/>
                <a:cs typeface="Calibri" pitchFamily="34" charset="-120"/>
              </a:rPr>
              <a:t>Token ID-ləri  (B × 512)</a:t>
            </a:r>
            <a:endParaRPr lang="en-US" sz="1100" dirty="0"/>
          </a:p>
        </p:txBody>
      </p:sp>
      <p:sp>
        <p:nvSpPr>
          <p:cNvPr id="37" name="Shape 35"/>
          <p:cNvSpPr/>
          <p:nvPr/>
        </p:nvSpPr>
        <p:spPr>
          <a:xfrm>
            <a:off x="5696712" y="1517904"/>
            <a:ext cx="128016" cy="146304"/>
          </a:xfrm>
          <a:prstGeom prst="downArrow">
            <a:avLst/>
          </a:prstGeom>
          <a:solidFill>
            <a:srgbClr val="C7D3DD"/>
          </a:solidFill>
          <a:ln/>
        </p:spPr>
      </p:sp>
      <p:sp>
        <p:nvSpPr>
          <p:cNvPr id="38" name="Shape 36"/>
          <p:cNvSpPr/>
          <p:nvPr/>
        </p:nvSpPr>
        <p:spPr>
          <a:xfrm>
            <a:off x="4160520" y="1682496"/>
            <a:ext cx="3200400" cy="310896"/>
          </a:xfrm>
          <a:prstGeom prst="rect">
            <a:avLst/>
          </a:prstGeom>
          <a:solidFill>
            <a:srgbClr val="EAF0F4"/>
          </a:solidFill>
          <a:ln w="15240">
            <a:solidFill>
              <a:srgbClr val="B9C7D3"/>
            </a:solidFill>
            <a:prstDash val="solid"/>
          </a:ln>
        </p:spPr>
      </p:sp>
      <p:sp>
        <p:nvSpPr>
          <p:cNvPr id="39" name="Text 37"/>
          <p:cNvSpPr txBox="1"/>
          <p:nvPr/>
        </p:nvSpPr>
        <p:spPr>
          <a:xfrm>
            <a:off x="4160520" y="1682496"/>
            <a:ext cx="3200400" cy="310896"/>
          </a:xfrm>
          <a:prstGeom prst="rect">
            <a:avLst/>
          </a:prstGeom>
          <a:noFill/>
          <a:ln/>
        </p:spPr>
        <p:txBody>
          <a:bodyPr wrap="square" lIns="0" tIns="0" rIns="0" bIns="0" rtlCol="0" anchor="ctr"/>
          <a:lstStyle/>
          <a:p>
            <a:pPr marL="0" indent="0" algn="ctr">
              <a:buNone/>
            </a:pPr>
            <a:r>
              <a:rPr lang="en-US" sz="1100" dirty="0">
                <a:solidFill>
                  <a:srgbClr val="0E2438"/>
                </a:solidFill>
                <a:latin typeface="Calibri" pitchFamily="34" charset="0"/>
                <a:ea typeface="Calibri" pitchFamily="34" charset="-122"/>
                <a:cs typeface="Calibri" pitchFamily="34" charset="-120"/>
              </a:rPr>
              <a:t>Token embedding  16 000 × 256</a:t>
            </a:r>
            <a:endParaRPr lang="en-US" sz="1100" dirty="0"/>
          </a:p>
        </p:txBody>
      </p:sp>
      <p:sp>
        <p:nvSpPr>
          <p:cNvPr id="40" name="Shape 38"/>
          <p:cNvSpPr/>
          <p:nvPr/>
        </p:nvSpPr>
        <p:spPr>
          <a:xfrm>
            <a:off x="5696712" y="2029968"/>
            <a:ext cx="128016" cy="146304"/>
          </a:xfrm>
          <a:prstGeom prst="downArrow">
            <a:avLst/>
          </a:prstGeom>
          <a:solidFill>
            <a:srgbClr val="C7D3DD"/>
          </a:solidFill>
          <a:ln/>
        </p:spPr>
      </p:sp>
      <p:sp>
        <p:nvSpPr>
          <p:cNvPr id="41" name="Shape 39"/>
          <p:cNvSpPr/>
          <p:nvPr/>
        </p:nvSpPr>
        <p:spPr>
          <a:xfrm>
            <a:off x="4160520" y="2212848"/>
            <a:ext cx="3200400" cy="2084832"/>
          </a:xfrm>
          <a:prstGeom prst="rect">
            <a:avLst/>
          </a:prstGeom>
          <a:solidFill>
            <a:srgbClr val="F4F7F9"/>
          </a:solidFill>
          <a:ln w="17780">
            <a:solidFill>
              <a:srgbClr val="12324F"/>
            </a:solidFill>
            <a:prstDash val="solid"/>
          </a:ln>
        </p:spPr>
      </p:sp>
      <p:sp>
        <p:nvSpPr>
          <p:cNvPr id="42" name="Text 40"/>
          <p:cNvSpPr txBox="1"/>
          <p:nvPr/>
        </p:nvSpPr>
        <p:spPr>
          <a:xfrm>
            <a:off x="4160520" y="2267712"/>
            <a:ext cx="3200400" cy="219456"/>
          </a:xfrm>
          <a:prstGeom prst="rect">
            <a:avLst/>
          </a:prstGeom>
          <a:noFill/>
          <a:ln/>
        </p:spPr>
        <p:txBody>
          <a:bodyPr wrap="square" lIns="0" tIns="0" rIns="0" bIns="0" rtlCol="0" anchor="ctr"/>
          <a:lstStyle/>
          <a:p>
            <a:pPr marL="0" indent="0" algn="ctr">
              <a:buNone/>
            </a:pPr>
            <a:r>
              <a:rPr lang="en-US" sz="1050" b="1" dirty="0">
                <a:solidFill>
                  <a:srgbClr val="12324F"/>
                </a:solidFill>
                <a:latin typeface="Calibri" pitchFamily="34" charset="0"/>
                <a:ea typeface="Calibri" pitchFamily="34" charset="-122"/>
                <a:cs typeface="Calibri" pitchFamily="34" charset="-120"/>
              </a:rPr>
              <a:t>Transformer block  × 6</a:t>
            </a:r>
            <a:endParaRPr lang="en-US" sz="1050" dirty="0"/>
          </a:p>
        </p:txBody>
      </p:sp>
      <p:sp>
        <p:nvSpPr>
          <p:cNvPr id="43" name="Shape 41"/>
          <p:cNvSpPr/>
          <p:nvPr/>
        </p:nvSpPr>
        <p:spPr>
          <a:xfrm>
            <a:off x="4361688" y="2523744"/>
            <a:ext cx="2798064" cy="274320"/>
          </a:xfrm>
          <a:prstGeom prst="rect">
            <a:avLst/>
          </a:prstGeom>
          <a:solidFill>
            <a:srgbClr val="FFFFFF"/>
          </a:solidFill>
          <a:ln w="12700">
            <a:solidFill>
              <a:srgbClr val="C7D3DD"/>
            </a:solidFill>
            <a:prstDash val="solid"/>
          </a:ln>
        </p:spPr>
      </p:sp>
      <p:sp>
        <p:nvSpPr>
          <p:cNvPr id="44" name="Text 42"/>
          <p:cNvSpPr txBox="1"/>
          <p:nvPr/>
        </p:nvSpPr>
        <p:spPr>
          <a:xfrm>
            <a:off x="4361688" y="2523744"/>
            <a:ext cx="2798064" cy="274320"/>
          </a:xfrm>
          <a:prstGeom prst="rect">
            <a:avLst/>
          </a:prstGeom>
          <a:noFill/>
          <a:ln/>
        </p:spPr>
        <p:txBody>
          <a:bodyPr wrap="square" lIns="0" tIns="0" rIns="0" bIns="0" rtlCol="0" anchor="ctr"/>
          <a:lstStyle/>
          <a:p>
            <a:pPr marL="0" indent="0" algn="ctr">
              <a:buNone/>
            </a:pPr>
            <a:r>
              <a:rPr lang="en-US" sz="1000" dirty="0">
                <a:solidFill>
                  <a:srgbClr val="14202E"/>
                </a:solidFill>
                <a:latin typeface="Calibri" pitchFamily="34" charset="0"/>
                <a:ea typeface="Calibri" pitchFamily="34" charset="-122"/>
                <a:cs typeface="Calibri" pitchFamily="34" charset="-120"/>
              </a:rPr>
              <a:t>LayerNorm</a:t>
            </a:r>
            <a:endParaRPr lang="en-US" sz="1000" dirty="0"/>
          </a:p>
        </p:txBody>
      </p:sp>
      <p:sp>
        <p:nvSpPr>
          <p:cNvPr id="45" name="Shape 43"/>
          <p:cNvSpPr/>
          <p:nvPr/>
        </p:nvSpPr>
        <p:spPr>
          <a:xfrm>
            <a:off x="4361688" y="2852928"/>
            <a:ext cx="2798064" cy="566928"/>
          </a:xfrm>
          <a:prstGeom prst="rect">
            <a:avLst/>
          </a:prstGeom>
          <a:solidFill>
            <a:srgbClr val="DCE9F2"/>
          </a:solidFill>
          <a:ln w="16510">
            <a:solidFill>
              <a:srgbClr val="0072B2"/>
            </a:solidFill>
            <a:prstDash val="solid"/>
          </a:ln>
        </p:spPr>
      </p:sp>
      <p:sp>
        <p:nvSpPr>
          <p:cNvPr id="46" name="Text 44"/>
          <p:cNvSpPr txBox="1"/>
          <p:nvPr/>
        </p:nvSpPr>
        <p:spPr>
          <a:xfrm>
            <a:off x="4361688" y="2889504"/>
            <a:ext cx="2798064" cy="237744"/>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Multi-Head Self-Attention  (8 head)</a:t>
            </a:r>
            <a:endParaRPr lang="en-US" sz="1000" dirty="0"/>
          </a:p>
        </p:txBody>
      </p:sp>
      <p:sp>
        <p:nvSpPr>
          <p:cNvPr id="47" name="Text 45"/>
          <p:cNvSpPr txBox="1"/>
          <p:nvPr/>
        </p:nvSpPr>
        <p:spPr>
          <a:xfrm>
            <a:off x="4361688" y="3127248"/>
            <a:ext cx="2798064" cy="237744"/>
          </a:xfrm>
          <a:prstGeom prst="rect">
            <a:avLst/>
          </a:prstGeom>
          <a:noFill/>
          <a:ln/>
        </p:spPr>
        <p:txBody>
          <a:bodyPr wrap="square" lIns="0" tIns="0" rIns="0" bIns="0" rtlCol="0" anchor="ctr"/>
          <a:lstStyle/>
          <a:p>
            <a:pPr marL="0" indent="0" algn="ctr">
              <a:buNone/>
            </a:pPr>
            <a:r>
              <a:rPr lang="en-US" sz="900" b="1" dirty="0">
                <a:solidFill>
                  <a:srgbClr val="B26B00"/>
                </a:solidFill>
                <a:latin typeface="Calibri" pitchFamily="34" charset="0"/>
                <a:ea typeface="Calibri" pitchFamily="34" charset="-122"/>
                <a:cs typeface="Calibri" pitchFamily="34" charset="-120"/>
              </a:rPr>
              <a:t>◀  MÖVQE MEXANİZMİ BURADADIR  ▶</a:t>
            </a:r>
            <a:endParaRPr lang="en-US" sz="900" dirty="0"/>
          </a:p>
        </p:txBody>
      </p:sp>
      <p:sp>
        <p:nvSpPr>
          <p:cNvPr id="48" name="Shape 46"/>
          <p:cNvSpPr/>
          <p:nvPr/>
        </p:nvSpPr>
        <p:spPr>
          <a:xfrm>
            <a:off x="4361688" y="3474720"/>
            <a:ext cx="2798064" cy="310896"/>
          </a:xfrm>
          <a:prstGeom prst="rect">
            <a:avLst/>
          </a:prstGeom>
          <a:solidFill>
            <a:srgbClr val="FFFFFF"/>
          </a:solidFill>
          <a:ln w="12700">
            <a:solidFill>
              <a:srgbClr val="C7D3DD"/>
            </a:solidFill>
            <a:prstDash val="solid"/>
          </a:ln>
        </p:spPr>
      </p:sp>
      <p:sp>
        <p:nvSpPr>
          <p:cNvPr id="49" name="Text 47"/>
          <p:cNvSpPr txBox="1"/>
          <p:nvPr/>
        </p:nvSpPr>
        <p:spPr>
          <a:xfrm>
            <a:off x="4361688" y="3474720"/>
            <a:ext cx="2798064" cy="310896"/>
          </a:xfrm>
          <a:prstGeom prst="rect">
            <a:avLst/>
          </a:prstGeom>
          <a:noFill/>
          <a:ln/>
        </p:spPr>
        <p:txBody>
          <a:bodyPr wrap="square" lIns="0" tIns="0" rIns="0" bIns="0" rtlCol="0" anchor="ctr"/>
          <a:lstStyle/>
          <a:p>
            <a:pPr marL="0" indent="0" algn="ctr">
              <a:buNone/>
            </a:pPr>
            <a:r>
              <a:rPr lang="en-US" sz="1000" dirty="0">
                <a:solidFill>
                  <a:srgbClr val="14202E"/>
                </a:solidFill>
                <a:latin typeface="Calibri" pitchFamily="34" charset="0"/>
                <a:ea typeface="Calibri" pitchFamily="34" charset="-122"/>
                <a:cs typeface="Calibri" pitchFamily="34" charset="-120"/>
              </a:rPr>
              <a:t>MLP  256 → 1024 → 256  (GELU)</a:t>
            </a:r>
            <a:endParaRPr lang="en-US" sz="1000" dirty="0"/>
          </a:p>
        </p:txBody>
      </p:sp>
      <p:sp>
        <p:nvSpPr>
          <p:cNvPr id="50" name="Text 48"/>
          <p:cNvSpPr txBox="1"/>
          <p:nvPr/>
        </p:nvSpPr>
        <p:spPr>
          <a:xfrm>
            <a:off x="4361688" y="3858768"/>
            <a:ext cx="2798064" cy="274320"/>
          </a:xfrm>
          <a:prstGeom prst="rect">
            <a:avLst/>
          </a:prstGeom>
          <a:noFill/>
          <a:ln/>
        </p:spPr>
        <p:txBody>
          <a:bodyPr wrap="square" lIns="0" tIns="0" rIns="0" bIns="0" rtlCol="0" anchor="ctr"/>
          <a:lstStyle/>
          <a:p>
            <a:pPr marL="0" indent="0" algn="ctr">
              <a:buNone/>
            </a:pPr>
            <a:r>
              <a:rPr lang="en-US" sz="950" i="1" dirty="0">
                <a:solidFill>
                  <a:srgbClr val="5F7082"/>
                </a:solidFill>
                <a:latin typeface="Calibri" pitchFamily="34" charset="0"/>
                <a:ea typeface="Calibri" pitchFamily="34" charset="-122"/>
                <a:cs typeface="Calibri" pitchFamily="34" charset="-120"/>
              </a:rPr>
              <a:t>parallel residual:   x + Attn(LN(x)) + MLP(LN(x))</a:t>
            </a:r>
            <a:endParaRPr lang="en-US" sz="950" dirty="0"/>
          </a:p>
        </p:txBody>
      </p:sp>
      <p:sp>
        <p:nvSpPr>
          <p:cNvPr id="51" name="Shape 49"/>
          <p:cNvSpPr/>
          <p:nvPr/>
        </p:nvSpPr>
        <p:spPr>
          <a:xfrm>
            <a:off x="5696712" y="4334256"/>
            <a:ext cx="128016" cy="146304"/>
          </a:xfrm>
          <a:prstGeom prst="downArrow">
            <a:avLst/>
          </a:prstGeom>
          <a:solidFill>
            <a:srgbClr val="C7D3DD"/>
          </a:solidFill>
          <a:ln/>
        </p:spPr>
      </p:sp>
      <p:sp>
        <p:nvSpPr>
          <p:cNvPr id="52" name="Shape 50"/>
          <p:cNvSpPr/>
          <p:nvPr/>
        </p:nvSpPr>
        <p:spPr>
          <a:xfrm>
            <a:off x="4160520" y="4517136"/>
            <a:ext cx="3200400" cy="292608"/>
          </a:xfrm>
          <a:prstGeom prst="rect">
            <a:avLst/>
          </a:prstGeom>
          <a:solidFill>
            <a:srgbClr val="FFFFFF"/>
          </a:solidFill>
          <a:ln w="15240">
            <a:solidFill>
              <a:srgbClr val="B9C7D3"/>
            </a:solidFill>
            <a:prstDash val="solid"/>
          </a:ln>
        </p:spPr>
      </p:sp>
      <p:sp>
        <p:nvSpPr>
          <p:cNvPr id="53" name="Text 51"/>
          <p:cNvSpPr txBox="1"/>
          <p:nvPr/>
        </p:nvSpPr>
        <p:spPr>
          <a:xfrm>
            <a:off x="4160520" y="4517136"/>
            <a:ext cx="3200400" cy="292608"/>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Final LayerNorm</a:t>
            </a:r>
            <a:endParaRPr lang="en-US" sz="1000" dirty="0"/>
          </a:p>
        </p:txBody>
      </p:sp>
      <p:sp>
        <p:nvSpPr>
          <p:cNvPr id="54" name="Shape 52"/>
          <p:cNvSpPr/>
          <p:nvPr/>
        </p:nvSpPr>
        <p:spPr>
          <a:xfrm>
            <a:off x="5696712" y="4846320"/>
            <a:ext cx="128016" cy="128016"/>
          </a:xfrm>
          <a:prstGeom prst="downArrow">
            <a:avLst/>
          </a:prstGeom>
          <a:solidFill>
            <a:srgbClr val="C7D3DD"/>
          </a:solidFill>
          <a:ln/>
        </p:spPr>
      </p:sp>
      <p:sp>
        <p:nvSpPr>
          <p:cNvPr id="55" name="Shape 53"/>
          <p:cNvSpPr/>
          <p:nvPr/>
        </p:nvSpPr>
        <p:spPr>
          <a:xfrm>
            <a:off x="4160520" y="5010912"/>
            <a:ext cx="3200400" cy="292608"/>
          </a:xfrm>
          <a:prstGeom prst="rect">
            <a:avLst/>
          </a:prstGeom>
          <a:solidFill>
            <a:srgbClr val="EAF0F4"/>
          </a:solidFill>
          <a:ln w="15240">
            <a:solidFill>
              <a:srgbClr val="B9C7D3"/>
            </a:solidFill>
            <a:prstDash val="solid"/>
          </a:ln>
        </p:spPr>
      </p:sp>
      <p:sp>
        <p:nvSpPr>
          <p:cNvPr id="56" name="Text 54"/>
          <p:cNvSpPr txBox="1"/>
          <p:nvPr/>
        </p:nvSpPr>
        <p:spPr>
          <a:xfrm>
            <a:off x="4160520" y="5010912"/>
            <a:ext cx="3200400" cy="292608"/>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LM head  →  16 000 logit</a:t>
            </a:r>
            <a:endParaRPr lang="en-US" sz="1000" dirty="0"/>
          </a:p>
        </p:txBody>
      </p:sp>
      <p:sp>
        <p:nvSpPr>
          <p:cNvPr id="57" name="Shape 55"/>
          <p:cNvSpPr/>
          <p:nvPr/>
        </p:nvSpPr>
        <p:spPr>
          <a:xfrm>
            <a:off x="5696712" y="5340096"/>
            <a:ext cx="128016" cy="128016"/>
          </a:xfrm>
          <a:prstGeom prst="downArrow">
            <a:avLst/>
          </a:prstGeom>
          <a:solidFill>
            <a:srgbClr val="C7D3DD"/>
          </a:solidFill>
          <a:ln/>
        </p:spPr>
      </p:sp>
      <p:sp>
        <p:nvSpPr>
          <p:cNvPr id="58" name="Shape 56"/>
          <p:cNvSpPr/>
          <p:nvPr/>
        </p:nvSpPr>
        <p:spPr>
          <a:xfrm>
            <a:off x="4160520" y="5504688"/>
            <a:ext cx="3200400" cy="292608"/>
          </a:xfrm>
          <a:prstGeom prst="rect">
            <a:avLst/>
          </a:prstGeom>
          <a:solidFill>
            <a:srgbClr val="FFFFFF"/>
          </a:solidFill>
          <a:ln w="15240">
            <a:solidFill>
              <a:srgbClr val="B9C7D3"/>
            </a:solidFill>
            <a:prstDash val="solid"/>
          </a:ln>
        </p:spPr>
      </p:sp>
      <p:sp>
        <p:nvSpPr>
          <p:cNvPr id="59" name="Text 57"/>
          <p:cNvSpPr txBox="1"/>
          <p:nvPr/>
        </p:nvSpPr>
        <p:spPr>
          <a:xfrm>
            <a:off x="4160520" y="5504688"/>
            <a:ext cx="3200400" cy="292608"/>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növbəti token ehtimalları</a:t>
            </a:r>
            <a:endParaRPr lang="en-US" sz="1000" dirty="0"/>
          </a:p>
        </p:txBody>
      </p:sp>
      <p:sp>
        <p:nvSpPr>
          <p:cNvPr id="60" name="Text 58"/>
          <p:cNvSpPr txBox="1"/>
          <p:nvPr/>
        </p:nvSpPr>
        <p:spPr>
          <a:xfrm>
            <a:off x="7635240" y="1170432"/>
            <a:ext cx="4005072"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EKSPERİMENTAL DƏYİŞƏN</a:t>
            </a:r>
            <a:endParaRPr lang="en-US" sz="1050" dirty="0"/>
          </a:p>
        </p:txBody>
      </p:sp>
      <p:sp>
        <p:nvSpPr>
          <p:cNvPr id="61" name="Shape 59"/>
          <p:cNvSpPr/>
          <p:nvPr/>
        </p:nvSpPr>
        <p:spPr>
          <a:xfrm>
            <a:off x="7635240" y="1463040"/>
            <a:ext cx="4005072" cy="1572768"/>
          </a:xfrm>
          <a:prstGeom prst="roundRect">
            <a:avLst>
              <a:gd name="adj" fmla="val 4070"/>
            </a:avLst>
          </a:prstGeom>
          <a:solidFill>
            <a:srgbClr val="FDF3EC"/>
          </a:solidFill>
          <a:ln/>
        </p:spPr>
      </p:sp>
      <p:sp>
        <p:nvSpPr>
          <p:cNvPr id="62" name="Text 60"/>
          <p:cNvSpPr txBox="1"/>
          <p:nvPr/>
        </p:nvSpPr>
        <p:spPr>
          <a:xfrm>
            <a:off x="7818120" y="1572768"/>
            <a:ext cx="3657600" cy="566928"/>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Yuxarıdakı sxemdə YALNIZ bir qutu dəyişir — attention daxilindəki mövqe mexanizmi. Qalan hər şey beş variantda bayt-bayt eynidir.</a:t>
            </a:r>
            <a:endParaRPr lang="en-US" sz="1100" dirty="0"/>
          </a:p>
        </p:txBody>
      </p:sp>
      <p:sp>
        <p:nvSpPr>
          <p:cNvPr id="63" name="Shape 61"/>
          <p:cNvSpPr/>
          <p:nvPr/>
        </p:nvSpPr>
        <p:spPr>
          <a:xfrm>
            <a:off x="7818120" y="2176272"/>
            <a:ext cx="1152144" cy="310896"/>
          </a:xfrm>
          <a:prstGeom prst="roundRect">
            <a:avLst>
              <a:gd name="adj" fmla="val 17647"/>
            </a:avLst>
          </a:prstGeom>
          <a:solidFill>
            <a:srgbClr val="FFFFFF"/>
          </a:solidFill>
          <a:ln w="22225">
            <a:solidFill>
              <a:srgbClr val="CC79A7"/>
            </a:solidFill>
            <a:prstDash val="solid"/>
          </a:ln>
        </p:spPr>
      </p:sp>
      <p:sp>
        <p:nvSpPr>
          <p:cNvPr id="64" name="Text 62"/>
          <p:cNvSpPr txBox="1"/>
          <p:nvPr/>
        </p:nvSpPr>
        <p:spPr>
          <a:xfrm>
            <a:off x="7818120" y="2176272"/>
            <a:ext cx="1152144" cy="310896"/>
          </a:xfrm>
          <a:prstGeom prst="rect">
            <a:avLst/>
          </a:prstGeom>
          <a:noFill/>
          <a:ln/>
        </p:spPr>
        <p:txBody>
          <a:bodyPr wrap="square" lIns="0" tIns="0" rIns="0" bIns="0" rtlCol="0" anchor="ctr"/>
          <a:lstStyle/>
          <a:p>
            <a:pPr marL="0" indent="0" algn="ctr">
              <a:buNone/>
            </a:pPr>
            <a:r>
              <a:rPr lang="en-US" sz="1000" b="1" dirty="0">
                <a:solidFill>
                  <a:srgbClr val="CC79A7"/>
                </a:solidFill>
                <a:latin typeface="Calibri" pitchFamily="34" charset="0"/>
                <a:ea typeface="Calibri" pitchFamily="34" charset="-122"/>
                <a:cs typeface="Calibri" pitchFamily="34" charset="-120"/>
              </a:rPr>
              <a:t>Learned</a:t>
            </a:r>
            <a:endParaRPr lang="en-US" sz="1000" dirty="0"/>
          </a:p>
        </p:txBody>
      </p:sp>
      <p:sp>
        <p:nvSpPr>
          <p:cNvPr id="65" name="Shape 63"/>
          <p:cNvSpPr/>
          <p:nvPr/>
        </p:nvSpPr>
        <p:spPr>
          <a:xfrm>
            <a:off x="9061704" y="2176272"/>
            <a:ext cx="1152144" cy="310896"/>
          </a:xfrm>
          <a:prstGeom prst="roundRect">
            <a:avLst>
              <a:gd name="adj" fmla="val 17647"/>
            </a:avLst>
          </a:prstGeom>
          <a:solidFill>
            <a:srgbClr val="FFFFFF"/>
          </a:solidFill>
          <a:ln w="22225">
            <a:solidFill>
              <a:srgbClr val="D55E00"/>
            </a:solidFill>
            <a:prstDash val="solid"/>
          </a:ln>
        </p:spPr>
      </p:sp>
      <p:sp>
        <p:nvSpPr>
          <p:cNvPr id="66" name="Text 64"/>
          <p:cNvSpPr txBox="1"/>
          <p:nvPr/>
        </p:nvSpPr>
        <p:spPr>
          <a:xfrm>
            <a:off x="9061704" y="2176272"/>
            <a:ext cx="1152144" cy="310896"/>
          </a:xfrm>
          <a:prstGeom prst="rect">
            <a:avLst/>
          </a:prstGeom>
          <a:noFill/>
          <a:ln/>
        </p:spPr>
        <p:txBody>
          <a:bodyPr wrap="square" lIns="0" tIns="0" rIns="0" bIns="0" rtlCol="0" anchor="ctr"/>
          <a:lstStyle/>
          <a:p>
            <a:pPr marL="0" indent="0" algn="ctr">
              <a:buNone/>
            </a:pPr>
            <a:r>
              <a:rPr lang="en-US" sz="1000" b="1" dirty="0">
                <a:solidFill>
                  <a:srgbClr val="D55E00"/>
                </a:solidFill>
                <a:latin typeface="Calibri" pitchFamily="34" charset="0"/>
                <a:ea typeface="Calibri" pitchFamily="34" charset="-122"/>
                <a:cs typeface="Calibri" pitchFamily="34" charset="-120"/>
              </a:rPr>
              <a:t>Sinusoidal</a:t>
            </a:r>
            <a:endParaRPr lang="en-US" sz="1000" dirty="0"/>
          </a:p>
        </p:txBody>
      </p:sp>
      <p:sp>
        <p:nvSpPr>
          <p:cNvPr id="67" name="Shape 65"/>
          <p:cNvSpPr/>
          <p:nvPr/>
        </p:nvSpPr>
        <p:spPr>
          <a:xfrm>
            <a:off x="10305288" y="2176272"/>
            <a:ext cx="1152144" cy="310896"/>
          </a:xfrm>
          <a:prstGeom prst="roundRect">
            <a:avLst>
              <a:gd name="adj" fmla="val 17647"/>
            </a:avLst>
          </a:prstGeom>
          <a:solidFill>
            <a:srgbClr val="FFFFFF"/>
          </a:solidFill>
          <a:ln w="22225">
            <a:solidFill>
              <a:srgbClr val="0072B2"/>
            </a:solidFill>
            <a:prstDash val="solid"/>
          </a:ln>
        </p:spPr>
      </p:sp>
      <p:sp>
        <p:nvSpPr>
          <p:cNvPr id="68" name="Text 66"/>
          <p:cNvSpPr txBox="1"/>
          <p:nvPr/>
        </p:nvSpPr>
        <p:spPr>
          <a:xfrm>
            <a:off x="10305288" y="2176272"/>
            <a:ext cx="1152144" cy="310896"/>
          </a:xfrm>
          <a:prstGeom prst="rect">
            <a:avLst/>
          </a:prstGeom>
          <a:noFill/>
          <a:ln/>
        </p:spPr>
        <p:txBody>
          <a:bodyPr wrap="square" lIns="0" tIns="0" rIns="0" bIns="0" rtlCol="0" anchor="ctr"/>
          <a:lstStyle/>
          <a:p>
            <a:pPr marL="0" indent="0" algn="ctr">
              <a:buNone/>
            </a:pPr>
            <a:r>
              <a:rPr lang="en-US" sz="1000" b="1" dirty="0">
                <a:solidFill>
                  <a:srgbClr val="0072B2"/>
                </a:solidFill>
                <a:latin typeface="Calibri" pitchFamily="34" charset="0"/>
                <a:ea typeface="Calibri" pitchFamily="34" charset="-122"/>
                <a:cs typeface="Calibri" pitchFamily="34" charset="-120"/>
              </a:rPr>
              <a:t>RoPE</a:t>
            </a:r>
            <a:endParaRPr lang="en-US" sz="1000" dirty="0"/>
          </a:p>
        </p:txBody>
      </p:sp>
      <p:sp>
        <p:nvSpPr>
          <p:cNvPr id="69" name="Shape 67"/>
          <p:cNvSpPr/>
          <p:nvPr/>
        </p:nvSpPr>
        <p:spPr>
          <a:xfrm>
            <a:off x="7818120" y="2560320"/>
            <a:ext cx="1152144" cy="310896"/>
          </a:xfrm>
          <a:prstGeom prst="roundRect">
            <a:avLst>
              <a:gd name="adj" fmla="val 17647"/>
            </a:avLst>
          </a:prstGeom>
          <a:solidFill>
            <a:srgbClr val="FFFFFF"/>
          </a:solidFill>
          <a:ln w="22225">
            <a:solidFill>
              <a:srgbClr val="009E73"/>
            </a:solidFill>
            <a:prstDash val="solid"/>
          </a:ln>
        </p:spPr>
      </p:sp>
      <p:sp>
        <p:nvSpPr>
          <p:cNvPr id="70" name="Text 68"/>
          <p:cNvSpPr txBox="1"/>
          <p:nvPr/>
        </p:nvSpPr>
        <p:spPr>
          <a:xfrm>
            <a:off x="7818120" y="2560320"/>
            <a:ext cx="1152144" cy="310896"/>
          </a:xfrm>
          <a:prstGeom prst="rect">
            <a:avLst/>
          </a:prstGeom>
          <a:noFill/>
          <a:ln/>
        </p:spPr>
        <p:txBody>
          <a:bodyPr wrap="square" lIns="0" tIns="0" rIns="0" bIns="0" rtlCol="0" anchor="ctr"/>
          <a:lstStyle/>
          <a:p>
            <a:pPr marL="0" indent="0" algn="ctr">
              <a:buNone/>
            </a:pPr>
            <a:r>
              <a:rPr lang="en-US" sz="1000" b="1" dirty="0">
                <a:solidFill>
                  <a:srgbClr val="009E73"/>
                </a:solidFill>
                <a:latin typeface="Calibri" pitchFamily="34" charset="0"/>
                <a:ea typeface="Calibri" pitchFamily="34" charset="-122"/>
                <a:cs typeface="Calibri" pitchFamily="34" charset="-120"/>
              </a:rPr>
              <a:t>ALiBi</a:t>
            </a:r>
            <a:endParaRPr lang="en-US" sz="1000" dirty="0"/>
          </a:p>
        </p:txBody>
      </p:sp>
      <p:sp>
        <p:nvSpPr>
          <p:cNvPr id="71" name="Shape 69"/>
          <p:cNvSpPr/>
          <p:nvPr/>
        </p:nvSpPr>
        <p:spPr>
          <a:xfrm>
            <a:off x="9061704" y="2560320"/>
            <a:ext cx="1152144" cy="310896"/>
          </a:xfrm>
          <a:prstGeom prst="roundRect">
            <a:avLst>
              <a:gd name="adj" fmla="val 17647"/>
            </a:avLst>
          </a:prstGeom>
          <a:solidFill>
            <a:srgbClr val="FFFFFF"/>
          </a:solidFill>
          <a:ln w="22225">
            <a:solidFill>
              <a:srgbClr val="E69F00"/>
            </a:solidFill>
            <a:prstDash val="solid"/>
          </a:ln>
        </p:spPr>
      </p:sp>
      <p:sp>
        <p:nvSpPr>
          <p:cNvPr id="72" name="Text 70"/>
          <p:cNvSpPr txBox="1"/>
          <p:nvPr/>
        </p:nvSpPr>
        <p:spPr>
          <a:xfrm>
            <a:off x="9061704" y="2560320"/>
            <a:ext cx="1152144" cy="310896"/>
          </a:xfrm>
          <a:prstGeom prst="rect">
            <a:avLst/>
          </a:prstGeom>
          <a:noFill/>
          <a:ln/>
        </p:spPr>
        <p:txBody>
          <a:bodyPr wrap="square" lIns="0" tIns="0" rIns="0" bIns="0" rtlCol="0" anchor="ctr"/>
          <a:lstStyle/>
          <a:p>
            <a:pPr marL="0" indent="0" algn="ctr">
              <a:buNone/>
            </a:pPr>
            <a:r>
              <a:rPr lang="en-US" sz="1000" b="1" dirty="0">
                <a:solidFill>
                  <a:srgbClr val="E69F00"/>
                </a:solidFill>
                <a:latin typeface="Calibri" pitchFamily="34" charset="0"/>
                <a:ea typeface="Calibri" pitchFamily="34" charset="-122"/>
                <a:cs typeface="Calibri" pitchFamily="34" charset="-120"/>
              </a:rPr>
              <a:t>NoPE</a:t>
            </a:r>
            <a:endParaRPr lang="en-US" sz="1000" dirty="0"/>
          </a:p>
        </p:txBody>
      </p:sp>
      <p:sp>
        <p:nvSpPr>
          <p:cNvPr id="73" name="Text 71"/>
          <p:cNvSpPr txBox="1"/>
          <p:nvPr/>
        </p:nvSpPr>
        <p:spPr>
          <a:xfrm>
            <a:off x="7635240" y="3200400"/>
            <a:ext cx="4005072"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NİYƏ MƏHZ BU ÖLÇÜ?</a:t>
            </a:r>
            <a:endParaRPr lang="en-US" sz="1050" dirty="0"/>
          </a:p>
        </p:txBody>
      </p:sp>
      <p:sp>
        <p:nvSpPr>
          <p:cNvPr id="74" name="Text 72"/>
          <p:cNvSpPr txBox="1"/>
          <p:nvPr/>
        </p:nvSpPr>
        <p:spPr>
          <a:xfrm>
            <a:off x="7635240" y="3474720"/>
            <a:ext cx="4005072" cy="658368"/>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≈13M parametrlik model 50M tokenlik büdcə ilə balanslıdır: beş metodu beş seed-lə tam öyrətmək üçün compute kifayət edir, model isə həddindən artıq az da deyil.</a:t>
            </a:r>
            <a:endParaRPr lang="en-US" sz="1100" dirty="0"/>
          </a:p>
        </p:txBody>
      </p:sp>
      <p:sp>
        <p:nvSpPr>
          <p:cNvPr id="75" name="Text 73"/>
          <p:cNvSpPr txBox="1"/>
          <p:nvPr/>
        </p:nvSpPr>
        <p:spPr>
          <a:xfrm>
            <a:off x="7635240" y="4224528"/>
            <a:ext cx="4005072"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DROPOUT = 0 NİYƏ?</a:t>
            </a:r>
            <a:endParaRPr lang="en-US" sz="1050" dirty="0"/>
          </a:p>
        </p:txBody>
      </p:sp>
      <p:sp>
        <p:nvSpPr>
          <p:cNvPr id="76" name="Text 74"/>
          <p:cNvSpPr txBox="1"/>
          <p:nvPr/>
        </p:nvSpPr>
        <p:spPr>
          <a:xfrm>
            <a:off x="7635240" y="4498848"/>
            <a:ext cx="4005072" cy="658368"/>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Dropout təsadüfi bir mənbə əlavə edərdi. Onu söndürərək run-lar arasındakı fərqi yalnız initialization və mövqe mexanizmi ilə məhdudlaşdırdıq.</a:t>
            </a:r>
            <a:endParaRPr lang="en-US" sz="1100" dirty="0"/>
          </a:p>
        </p:txBody>
      </p:sp>
      <p:sp>
        <p:nvSpPr>
          <p:cNvPr id="79" name="Text 77"/>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Yasin Veliyev  ·  YasinVeliyev</a:t>
            </a:r>
            <a:endParaRPr lang="en-US" sz="950" dirty="0"/>
          </a:p>
        </p:txBody>
      </p:sp>
      <p:sp>
        <p:nvSpPr>
          <p:cNvPr id="80" name="Text 78"/>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configs/model_base.json · configs/pe/*.json</a:t>
            </a:r>
            <a:endParaRPr lang="en-US" sz="850" dirty="0"/>
          </a:p>
        </p:txBody>
      </p:sp>
      <p:sp>
        <p:nvSpPr>
          <p:cNvPr id="81" name="Text 79"/>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5 yanaşma  ×  5 seed  =  25 nəzarətli training run</a:t>
            </a:r>
            <a:endParaRPr lang="en-US" sz="2500" dirty="0"/>
          </a:p>
        </p:txBody>
      </p:sp>
      <p:sp>
        <p:nvSpPr>
          <p:cNvPr id="4" name="Text 2"/>
          <p:cNvSpPr txBox="1"/>
          <p:nvPr/>
        </p:nvSpPr>
        <p:spPr>
          <a:xfrm>
            <a:off x="2395728" y="1243584"/>
            <a:ext cx="6492240" cy="219456"/>
          </a:xfrm>
          <a:prstGeom prst="rect">
            <a:avLst/>
          </a:prstGeom>
          <a:noFill/>
          <a:ln/>
        </p:spPr>
        <p:txBody>
          <a:bodyPr wrap="square" lIns="0" tIns="0" rIns="0" bIns="0" rtlCol="0" anchor="ctr"/>
          <a:lstStyle/>
          <a:p>
            <a:pPr marL="0" indent="0" algn="ctr">
              <a:buNone/>
            </a:pPr>
            <a:r>
              <a:rPr lang="en-US" sz="1000" b="1" kern="0" spc="120" dirty="0">
                <a:solidFill>
                  <a:srgbClr val="8A99A8"/>
                </a:solidFill>
                <a:latin typeface="Calibri" pitchFamily="34" charset="0"/>
                <a:ea typeface="Calibri" pitchFamily="34" charset="-122"/>
                <a:cs typeface="Calibri" pitchFamily="34" charset="-120"/>
              </a:rPr>
              <a:t>model seed</a:t>
            </a:r>
            <a:endParaRPr lang="en-US" sz="1000" dirty="0"/>
          </a:p>
        </p:txBody>
      </p:sp>
      <p:sp>
        <p:nvSpPr>
          <p:cNvPr id="5" name="Text 3"/>
          <p:cNvSpPr txBox="1"/>
          <p:nvPr/>
        </p:nvSpPr>
        <p:spPr>
          <a:xfrm>
            <a:off x="2395728" y="1481328"/>
            <a:ext cx="1225296"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17</a:t>
            </a:r>
            <a:endParaRPr lang="en-US" sz="1200" dirty="0"/>
          </a:p>
        </p:txBody>
      </p:sp>
      <p:sp>
        <p:nvSpPr>
          <p:cNvPr id="6" name="Text 4"/>
          <p:cNvSpPr txBox="1"/>
          <p:nvPr/>
        </p:nvSpPr>
        <p:spPr>
          <a:xfrm>
            <a:off x="3694176" y="1481328"/>
            <a:ext cx="1225296"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42</a:t>
            </a:r>
            <a:endParaRPr lang="en-US" sz="1200" dirty="0"/>
          </a:p>
        </p:txBody>
      </p:sp>
      <p:sp>
        <p:nvSpPr>
          <p:cNvPr id="7" name="Text 5"/>
          <p:cNvSpPr txBox="1"/>
          <p:nvPr/>
        </p:nvSpPr>
        <p:spPr>
          <a:xfrm>
            <a:off x="4992624" y="1481328"/>
            <a:ext cx="1225296"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1234</a:t>
            </a:r>
            <a:endParaRPr lang="en-US" sz="1200" dirty="0"/>
          </a:p>
        </p:txBody>
      </p:sp>
      <p:sp>
        <p:nvSpPr>
          <p:cNvPr id="8" name="Text 6"/>
          <p:cNvSpPr txBox="1"/>
          <p:nvPr/>
        </p:nvSpPr>
        <p:spPr>
          <a:xfrm>
            <a:off x="6291072" y="1481328"/>
            <a:ext cx="1225296"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2027</a:t>
            </a:r>
            <a:endParaRPr lang="en-US" sz="1200" dirty="0"/>
          </a:p>
        </p:txBody>
      </p:sp>
      <p:sp>
        <p:nvSpPr>
          <p:cNvPr id="9" name="Text 7"/>
          <p:cNvSpPr txBox="1"/>
          <p:nvPr/>
        </p:nvSpPr>
        <p:spPr>
          <a:xfrm>
            <a:off x="7589520" y="1481328"/>
            <a:ext cx="1225296"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5003</a:t>
            </a:r>
            <a:endParaRPr lang="en-US" sz="1200" dirty="0"/>
          </a:p>
        </p:txBody>
      </p:sp>
      <p:sp>
        <p:nvSpPr>
          <p:cNvPr id="10" name="Shape 8"/>
          <p:cNvSpPr/>
          <p:nvPr/>
        </p:nvSpPr>
        <p:spPr>
          <a:xfrm>
            <a:off x="548640" y="1883664"/>
            <a:ext cx="1691640" cy="402336"/>
          </a:xfrm>
          <a:prstGeom prst="roundRect">
            <a:avLst>
              <a:gd name="adj" fmla="val 13636"/>
            </a:avLst>
          </a:prstGeom>
          <a:solidFill>
            <a:srgbClr val="FFFFFF"/>
          </a:solidFill>
          <a:ln w="22225">
            <a:solidFill>
              <a:srgbClr val="CC79A7"/>
            </a:solidFill>
            <a:prstDash val="solid"/>
          </a:ln>
        </p:spPr>
      </p:sp>
      <p:sp>
        <p:nvSpPr>
          <p:cNvPr id="11" name="Text 9"/>
          <p:cNvSpPr txBox="1"/>
          <p:nvPr/>
        </p:nvSpPr>
        <p:spPr>
          <a:xfrm>
            <a:off x="548640" y="1883664"/>
            <a:ext cx="1691640" cy="402336"/>
          </a:xfrm>
          <a:prstGeom prst="rect">
            <a:avLst/>
          </a:prstGeom>
          <a:noFill/>
          <a:ln/>
        </p:spPr>
        <p:txBody>
          <a:bodyPr wrap="square" lIns="0" tIns="0" rIns="0" bIns="0" rtlCol="0" anchor="ctr"/>
          <a:lstStyle/>
          <a:p>
            <a:pPr marL="0" indent="0" algn="ctr">
              <a:buNone/>
            </a:pPr>
            <a:r>
              <a:rPr lang="en-US" sz="1100" b="1" dirty="0">
                <a:solidFill>
                  <a:srgbClr val="CC79A7"/>
                </a:solidFill>
                <a:latin typeface="Calibri" pitchFamily="34" charset="0"/>
                <a:ea typeface="Calibri" pitchFamily="34" charset="-122"/>
                <a:cs typeface="Calibri" pitchFamily="34" charset="-120"/>
              </a:rPr>
              <a:t>Learned</a:t>
            </a:r>
            <a:endParaRPr lang="en-US" sz="1100" dirty="0"/>
          </a:p>
        </p:txBody>
      </p:sp>
      <p:sp>
        <p:nvSpPr>
          <p:cNvPr id="12" name="Shape 10"/>
          <p:cNvSpPr/>
          <p:nvPr/>
        </p:nvSpPr>
        <p:spPr>
          <a:xfrm>
            <a:off x="2395728" y="1810512"/>
            <a:ext cx="1225296" cy="548640"/>
          </a:xfrm>
          <a:prstGeom prst="rect">
            <a:avLst/>
          </a:prstGeom>
          <a:solidFill>
            <a:srgbClr val="F3F8F6"/>
          </a:solidFill>
          <a:ln w="13970">
            <a:solidFill>
              <a:srgbClr val="CC79A7"/>
            </a:solidFill>
            <a:prstDash val="solid"/>
          </a:ln>
        </p:spPr>
      </p:sp>
      <p:sp>
        <p:nvSpPr>
          <p:cNvPr id="13" name="Text 11"/>
          <p:cNvSpPr txBox="1"/>
          <p:nvPr/>
        </p:nvSpPr>
        <p:spPr>
          <a:xfrm>
            <a:off x="2395728" y="1883664"/>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14" name="Text 12"/>
          <p:cNvSpPr txBox="1"/>
          <p:nvPr/>
        </p:nvSpPr>
        <p:spPr>
          <a:xfrm>
            <a:off x="2395728" y="2084832"/>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15" name="Shape 13"/>
          <p:cNvSpPr/>
          <p:nvPr/>
        </p:nvSpPr>
        <p:spPr>
          <a:xfrm>
            <a:off x="3694176" y="1810512"/>
            <a:ext cx="1225296" cy="548640"/>
          </a:xfrm>
          <a:prstGeom prst="rect">
            <a:avLst/>
          </a:prstGeom>
          <a:solidFill>
            <a:srgbClr val="F3F8F6"/>
          </a:solidFill>
          <a:ln w="13970">
            <a:solidFill>
              <a:srgbClr val="CC79A7"/>
            </a:solidFill>
            <a:prstDash val="solid"/>
          </a:ln>
        </p:spPr>
      </p:sp>
      <p:sp>
        <p:nvSpPr>
          <p:cNvPr id="16" name="Text 14"/>
          <p:cNvSpPr txBox="1"/>
          <p:nvPr/>
        </p:nvSpPr>
        <p:spPr>
          <a:xfrm>
            <a:off x="3694176" y="1883664"/>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17" name="Text 15"/>
          <p:cNvSpPr txBox="1"/>
          <p:nvPr/>
        </p:nvSpPr>
        <p:spPr>
          <a:xfrm>
            <a:off x="3694176" y="2084832"/>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18" name="Shape 16"/>
          <p:cNvSpPr/>
          <p:nvPr/>
        </p:nvSpPr>
        <p:spPr>
          <a:xfrm>
            <a:off x="4992624" y="1810512"/>
            <a:ext cx="1225296" cy="548640"/>
          </a:xfrm>
          <a:prstGeom prst="rect">
            <a:avLst/>
          </a:prstGeom>
          <a:solidFill>
            <a:srgbClr val="F3F8F6"/>
          </a:solidFill>
          <a:ln w="13970">
            <a:solidFill>
              <a:srgbClr val="CC79A7"/>
            </a:solidFill>
            <a:prstDash val="solid"/>
          </a:ln>
        </p:spPr>
      </p:sp>
      <p:sp>
        <p:nvSpPr>
          <p:cNvPr id="19" name="Text 17"/>
          <p:cNvSpPr txBox="1"/>
          <p:nvPr/>
        </p:nvSpPr>
        <p:spPr>
          <a:xfrm>
            <a:off x="4992624" y="1883664"/>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20" name="Text 18"/>
          <p:cNvSpPr txBox="1"/>
          <p:nvPr/>
        </p:nvSpPr>
        <p:spPr>
          <a:xfrm>
            <a:off x="4992624" y="2084832"/>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21" name="Shape 19"/>
          <p:cNvSpPr/>
          <p:nvPr/>
        </p:nvSpPr>
        <p:spPr>
          <a:xfrm>
            <a:off x="6291072" y="1810512"/>
            <a:ext cx="1225296" cy="548640"/>
          </a:xfrm>
          <a:prstGeom prst="rect">
            <a:avLst/>
          </a:prstGeom>
          <a:solidFill>
            <a:srgbClr val="F3F8F6"/>
          </a:solidFill>
          <a:ln w="13970">
            <a:solidFill>
              <a:srgbClr val="CC79A7"/>
            </a:solidFill>
            <a:prstDash val="solid"/>
          </a:ln>
        </p:spPr>
      </p:sp>
      <p:sp>
        <p:nvSpPr>
          <p:cNvPr id="22" name="Text 20"/>
          <p:cNvSpPr txBox="1"/>
          <p:nvPr/>
        </p:nvSpPr>
        <p:spPr>
          <a:xfrm>
            <a:off x="6291072" y="1883664"/>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23" name="Text 21"/>
          <p:cNvSpPr txBox="1"/>
          <p:nvPr/>
        </p:nvSpPr>
        <p:spPr>
          <a:xfrm>
            <a:off x="6291072" y="2084832"/>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24" name="Shape 22"/>
          <p:cNvSpPr/>
          <p:nvPr/>
        </p:nvSpPr>
        <p:spPr>
          <a:xfrm>
            <a:off x="7589520" y="1810512"/>
            <a:ext cx="1225296" cy="548640"/>
          </a:xfrm>
          <a:prstGeom prst="rect">
            <a:avLst/>
          </a:prstGeom>
          <a:solidFill>
            <a:srgbClr val="F3F8F6"/>
          </a:solidFill>
          <a:ln w="13970">
            <a:solidFill>
              <a:srgbClr val="CC79A7"/>
            </a:solidFill>
            <a:prstDash val="solid"/>
          </a:ln>
        </p:spPr>
      </p:sp>
      <p:sp>
        <p:nvSpPr>
          <p:cNvPr id="25" name="Text 23"/>
          <p:cNvSpPr txBox="1"/>
          <p:nvPr/>
        </p:nvSpPr>
        <p:spPr>
          <a:xfrm>
            <a:off x="7589520" y="1883664"/>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26" name="Text 24"/>
          <p:cNvSpPr txBox="1"/>
          <p:nvPr/>
        </p:nvSpPr>
        <p:spPr>
          <a:xfrm>
            <a:off x="7589520" y="2084832"/>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27" name="Shape 25"/>
          <p:cNvSpPr/>
          <p:nvPr/>
        </p:nvSpPr>
        <p:spPr>
          <a:xfrm>
            <a:off x="548640" y="2542032"/>
            <a:ext cx="1691640" cy="402336"/>
          </a:xfrm>
          <a:prstGeom prst="roundRect">
            <a:avLst>
              <a:gd name="adj" fmla="val 13636"/>
            </a:avLst>
          </a:prstGeom>
          <a:solidFill>
            <a:srgbClr val="FFFFFF"/>
          </a:solidFill>
          <a:ln w="22225">
            <a:solidFill>
              <a:srgbClr val="D55E00"/>
            </a:solidFill>
            <a:prstDash val="solid"/>
          </a:ln>
        </p:spPr>
      </p:sp>
      <p:sp>
        <p:nvSpPr>
          <p:cNvPr id="28" name="Text 26"/>
          <p:cNvSpPr txBox="1"/>
          <p:nvPr/>
        </p:nvSpPr>
        <p:spPr>
          <a:xfrm>
            <a:off x="548640" y="2542032"/>
            <a:ext cx="1691640" cy="402336"/>
          </a:xfrm>
          <a:prstGeom prst="rect">
            <a:avLst/>
          </a:prstGeom>
          <a:noFill/>
          <a:ln/>
        </p:spPr>
        <p:txBody>
          <a:bodyPr wrap="square" lIns="0" tIns="0" rIns="0" bIns="0" rtlCol="0" anchor="ctr"/>
          <a:lstStyle/>
          <a:p>
            <a:pPr marL="0" indent="0" algn="ctr">
              <a:buNone/>
            </a:pPr>
            <a:r>
              <a:rPr lang="en-US" sz="1100" b="1" dirty="0">
                <a:solidFill>
                  <a:srgbClr val="D55E00"/>
                </a:solidFill>
                <a:latin typeface="Calibri" pitchFamily="34" charset="0"/>
                <a:ea typeface="Calibri" pitchFamily="34" charset="-122"/>
                <a:cs typeface="Calibri" pitchFamily="34" charset="-120"/>
              </a:rPr>
              <a:t>Sinusoidal</a:t>
            </a:r>
            <a:endParaRPr lang="en-US" sz="1100" dirty="0"/>
          </a:p>
        </p:txBody>
      </p:sp>
      <p:sp>
        <p:nvSpPr>
          <p:cNvPr id="29" name="Shape 27"/>
          <p:cNvSpPr/>
          <p:nvPr/>
        </p:nvSpPr>
        <p:spPr>
          <a:xfrm>
            <a:off x="2395728" y="2468880"/>
            <a:ext cx="1225296" cy="548640"/>
          </a:xfrm>
          <a:prstGeom prst="rect">
            <a:avLst/>
          </a:prstGeom>
          <a:solidFill>
            <a:srgbClr val="F3F8F6"/>
          </a:solidFill>
          <a:ln w="13970">
            <a:solidFill>
              <a:srgbClr val="D55E00"/>
            </a:solidFill>
            <a:prstDash val="solid"/>
          </a:ln>
        </p:spPr>
      </p:sp>
      <p:sp>
        <p:nvSpPr>
          <p:cNvPr id="30" name="Text 28"/>
          <p:cNvSpPr txBox="1"/>
          <p:nvPr/>
        </p:nvSpPr>
        <p:spPr>
          <a:xfrm>
            <a:off x="2395728" y="2542032"/>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31" name="Text 29"/>
          <p:cNvSpPr txBox="1"/>
          <p:nvPr/>
        </p:nvSpPr>
        <p:spPr>
          <a:xfrm>
            <a:off x="2395728" y="2743200"/>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32" name="Shape 30"/>
          <p:cNvSpPr/>
          <p:nvPr/>
        </p:nvSpPr>
        <p:spPr>
          <a:xfrm>
            <a:off x="3694176" y="2468880"/>
            <a:ext cx="1225296" cy="548640"/>
          </a:xfrm>
          <a:prstGeom prst="rect">
            <a:avLst/>
          </a:prstGeom>
          <a:solidFill>
            <a:srgbClr val="F3F8F6"/>
          </a:solidFill>
          <a:ln w="13970">
            <a:solidFill>
              <a:srgbClr val="D55E00"/>
            </a:solidFill>
            <a:prstDash val="solid"/>
          </a:ln>
        </p:spPr>
      </p:sp>
      <p:sp>
        <p:nvSpPr>
          <p:cNvPr id="33" name="Text 31"/>
          <p:cNvSpPr txBox="1"/>
          <p:nvPr/>
        </p:nvSpPr>
        <p:spPr>
          <a:xfrm>
            <a:off x="3694176" y="2542032"/>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34" name="Text 32"/>
          <p:cNvSpPr txBox="1"/>
          <p:nvPr/>
        </p:nvSpPr>
        <p:spPr>
          <a:xfrm>
            <a:off x="3694176" y="2743200"/>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35" name="Shape 33"/>
          <p:cNvSpPr/>
          <p:nvPr/>
        </p:nvSpPr>
        <p:spPr>
          <a:xfrm>
            <a:off x="4992624" y="2468880"/>
            <a:ext cx="1225296" cy="548640"/>
          </a:xfrm>
          <a:prstGeom prst="rect">
            <a:avLst/>
          </a:prstGeom>
          <a:solidFill>
            <a:srgbClr val="F3F8F6"/>
          </a:solidFill>
          <a:ln w="13970">
            <a:solidFill>
              <a:srgbClr val="D55E00"/>
            </a:solidFill>
            <a:prstDash val="solid"/>
          </a:ln>
        </p:spPr>
      </p:sp>
      <p:sp>
        <p:nvSpPr>
          <p:cNvPr id="36" name="Text 34"/>
          <p:cNvSpPr txBox="1"/>
          <p:nvPr/>
        </p:nvSpPr>
        <p:spPr>
          <a:xfrm>
            <a:off x="4992624" y="2542032"/>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37" name="Text 35"/>
          <p:cNvSpPr txBox="1"/>
          <p:nvPr/>
        </p:nvSpPr>
        <p:spPr>
          <a:xfrm>
            <a:off x="4992624" y="2743200"/>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38" name="Shape 36"/>
          <p:cNvSpPr/>
          <p:nvPr/>
        </p:nvSpPr>
        <p:spPr>
          <a:xfrm>
            <a:off x="6291072" y="2468880"/>
            <a:ext cx="1225296" cy="548640"/>
          </a:xfrm>
          <a:prstGeom prst="rect">
            <a:avLst/>
          </a:prstGeom>
          <a:solidFill>
            <a:srgbClr val="F3F8F6"/>
          </a:solidFill>
          <a:ln w="13970">
            <a:solidFill>
              <a:srgbClr val="D55E00"/>
            </a:solidFill>
            <a:prstDash val="solid"/>
          </a:ln>
        </p:spPr>
      </p:sp>
      <p:sp>
        <p:nvSpPr>
          <p:cNvPr id="39" name="Text 37"/>
          <p:cNvSpPr txBox="1"/>
          <p:nvPr/>
        </p:nvSpPr>
        <p:spPr>
          <a:xfrm>
            <a:off x="6291072" y="2542032"/>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40" name="Text 38"/>
          <p:cNvSpPr txBox="1"/>
          <p:nvPr/>
        </p:nvSpPr>
        <p:spPr>
          <a:xfrm>
            <a:off x="6291072" y="2743200"/>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41" name="Shape 39"/>
          <p:cNvSpPr/>
          <p:nvPr/>
        </p:nvSpPr>
        <p:spPr>
          <a:xfrm>
            <a:off x="7589520" y="2468880"/>
            <a:ext cx="1225296" cy="548640"/>
          </a:xfrm>
          <a:prstGeom prst="rect">
            <a:avLst/>
          </a:prstGeom>
          <a:solidFill>
            <a:srgbClr val="F3F8F6"/>
          </a:solidFill>
          <a:ln w="13970">
            <a:solidFill>
              <a:srgbClr val="D55E00"/>
            </a:solidFill>
            <a:prstDash val="solid"/>
          </a:ln>
        </p:spPr>
      </p:sp>
      <p:sp>
        <p:nvSpPr>
          <p:cNvPr id="42" name="Text 40"/>
          <p:cNvSpPr txBox="1"/>
          <p:nvPr/>
        </p:nvSpPr>
        <p:spPr>
          <a:xfrm>
            <a:off x="7589520" y="2542032"/>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43" name="Text 41"/>
          <p:cNvSpPr txBox="1"/>
          <p:nvPr/>
        </p:nvSpPr>
        <p:spPr>
          <a:xfrm>
            <a:off x="7589520" y="2743200"/>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44" name="Shape 42"/>
          <p:cNvSpPr/>
          <p:nvPr/>
        </p:nvSpPr>
        <p:spPr>
          <a:xfrm>
            <a:off x="548640" y="3200400"/>
            <a:ext cx="1691640" cy="402336"/>
          </a:xfrm>
          <a:prstGeom prst="roundRect">
            <a:avLst>
              <a:gd name="adj" fmla="val 13636"/>
            </a:avLst>
          </a:prstGeom>
          <a:solidFill>
            <a:srgbClr val="FFFFFF"/>
          </a:solidFill>
          <a:ln w="22225">
            <a:solidFill>
              <a:srgbClr val="0072B2"/>
            </a:solidFill>
            <a:prstDash val="solid"/>
          </a:ln>
        </p:spPr>
      </p:sp>
      <p:sp>
        <p:nvSpPr>
          <p:cNvPr id="45" name="Text 43"/>
          <p:cNvSpPr txBox="1"/>
          <p:nvPr/>
        </p:nvSpPr>
        <p:spPr>
          <a:xfrm>
            <a:off x="548640" y="3200400"/>
            <a:ext cx="1691640" cy="402336"/>
          </a:xfrm>
          <a:prstGeom prst="rect">
            <a:avLst/>
          </a:prstGeom>
          <a:noFill/>
          <a:ln/>
        </p:spPr>
        <p:txBody>
          <a:bodyPr wrap="square" lIns="0" tIns="0" rIns="0" bIns="0" rtlCol="0" anchor="ctr"/>
          <a:lstStyle/>
          <a:p>
            <a:pPr marL="0" indent="0" algn="ctr">
              <a:buNone/>
            </a:pPr>
            <a:r>
              <a:rPr lang="en-US" sz="1100" b="1" dirty="0">
                <a:solidFill>
                  <a:srgbClr val="0072B2"/>
                </a:solidFill>
                <a:latin typeface="Calibri" pitchFamily="34" charset="0"/>
                <a:ea typeface="Calibri" pitchFamily="34" charset="-122"/>
                <a:cs typeface="Calibri" pitchFamily="34" charset="-120"/>
              </a:rPr>
              <a:t>RoPE</a:t>
            </a:r>
            <a:endParaRPr lang="en-US" sz="1100" dirty="0"/>
          </a:p>
        </p:txBody>
      </p:sp>
      <p:sp>
        <p:nvSpPr>
          <p:cNvPr id="46" name="Shape 44"/>
          <p:cNvSpPr/>
          <p:nvPr/>
        </p:nvSpPr>
        <p:spPr>
          <a:xfrm>
            <a:off x="2395728" y="3127248"/>
            <a:ext cx="1225296" cy="548640"/>
          </a:xfrm>
          <a:prstGeom prst="rect">
            <a:avLst/>
          </a:prstGeom>
          <a:solidFill>
            <a:srgbClr val="F3F8F6"/>
          </a:solidFill>
          <a:ln w="13970">
            <a:solidFill>
              <a:srgbClr val="0072B2"/>
            </a:solidFill>
            <a:prstDash val="solid"/>
          </a:ln>
        </p:spPr>
      </p:sp>
      <p:sp>
        <p:nvSpPr>
          <p:cNvPr id="47" name="Text 45"/>
          <p:cNvSpPr txBox="1"/>
          <p:nvPr/>
        </p:nvSpPr>
        <p:spPr>
          <a:xfrm>
            <a:off x="2395728" y="3200400"/>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48" name="Text 46"/>
          <p:cNvSpPr txBox="1"/>
          <p:nvPr/>
        </p:nvSpPr>
        <p:spPr>
          <a:xfrm>
            <a:off x="2395728" y="3401568"/>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49" name="Shape 47"/>
          <p:cNvSpPr/>
          <p:nvPr/>
        </p:nvSpPr>
        <p:spPr>
          <a:xfrm>
            <a:off x="3694176" y="3127248"/>
            <a:ext cx="1225296" cy="548640"/>
          </a:xfrm>
          <a:prstGeom prst="rect">
            <a:avLst/>
          </a:prstGeom>
          <a:solidFill>
            <a:srgbClr val="F3F8F6"/>
          </a:solidFill>
          <a:ln w="13970">
            <a:solidFill>
              <a:srgbClr val="0072B2"/>
            </a:solidFill>
            <a:prstDash val="solid"/>
          </a:ln>
        </p:spPr>
      </p:sp>
      <p:sp>
        <p:nvSpPr>
          <p:cNvPr id="50" name="Text 48"/>
          <p:cNvSpPr txBox="1"/>
          <p:nvPr/>
        </p:nvSpPr>
        <p:spPr>
          <a:xfrm>
            <a:off x="3694176" y="3200400"/>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51" name="Text 49"/>
          <p:cNvSpPr txBox="1"/>
          <p:nvPr/>
        </p:nvSpPr>
        <p:spPr>
          <a:xfrm>
            <a:off x="3694176" y="3401568"/>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52" name="Shape 50"/>
          <p:cNvSpPr/>
          <p:nvPr/>
        </p:nvSpPr>
        <p:spPr>
          <a:xfrm>
            <a:off x="4992624" y="3127248"/>
            <a:ext cx="1225296" cy="548640"/>
          </a:xfrm>
          <a:prstGeom prst="rect">
            <a:avLst/>
          </a:prstGeom>
          <a:solidFill>
            <a:srgbClr val="F3F8F6"/>
          </a:solidFill>
          <a:ln w="13970">
            <a:solidFill>
              <a:srgbClr val="0072B2"/>
            </a:solidFill>
            <a:prstDash val="solid"/>
          </a:ln>
        </p:spPr>
      </p:sp>
      <p:sp>
        <p:nvSpPr>
          <p:cNvPr id="53" name="Text 51"/>
          <p:cNvSpPr txBox="1"/>
          <p:nvPr/>
        </p:nvSpPr>
        <p:spPr>
          <a:xfrm>
            <a:off x="4992624" y="3200400"/>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54" name="Text 52"/>
          <p:cNvSpPr txBox="1"/>
          <p:nvPr/>
        </p:nvSpPr>
        <p:spPr>
          <a:xfrm>
            <a:off x="4992624" y="3401568"/>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55" name="Shape 53"/>
          <p:cNvSpPr/>
          <p:nvPr/>
        </p:nvSpPr>
        <p:spPr>
          <a:xfrm>
            <a:off x="6291072" y="3127248"/>
            <a:ext cx="1225296" cy="548640"/>
          </a:xfrm>
          <a:prstGeom prst="rect">
            <a:avLst/>
          </a:prstGeom>
          <a:solidFill>
            <a:srgbClr val="F3F8F6"/>
          </a:solidFill>
          <a:ln w="13970">
            <a:solidFill>
              <a:srgbClr val="0072B2"/>
            </a:solidFill>
            <a:prstDash val="solid"/>
          </a:ln>
        </p:spPr>
      </p:sp>
      <p:sp>
        <p:nvSpPr>
          <p:cNvPr id="56" name="Text 54"/>
          <p:cNvSpPr txBox="1"/>
          <p:nvPr/>
        </p:nvSpPr>
        <p:spPr>
          <a:xfrm>
            <a:off x="6291072" y="3200400"/>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57" name="Text 55"/>
          <p:cNvSpPr txBox="1"/>
          <p:nvPr/>
        </p:nvSpPr>
        <p:spPr>
          <a:xfrm>
            <a:off x="6291072" y="3401568"/>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58" name="Shape 56"/>
          <p:cNvSpPr/>
          <p:nvPr/>
        </p:nvSpPr>
        <p:spPr>
          <a:xfrm>
            <a:off x="7589520" y="3127248"/>
            <a:ext cx="1225296" cy="548640"/>
          </a:xfrm>
          <a:prstGeom prst="rect">
            <a:avLst/>
          </a:prstGeom>
          <a:solidFill>
            <a:srgbClr val="F3F8F6"/>
          </a:solidFill>
          <a:ln w="13970">
            <a:solidFill>
              <a:srgbClr val="0072B2"/>
            </a:solidFill>
            <a:prstDash val="solid"/>
          </a:ln>
        </p:spPr>
      </p:sp>
      <p:sp>
        <p:nvSpPr>
          <p:cNvPr id="59" name="Text 57"/>
          <p:cNvSpPr txBox="1"/>
          <p:nvPr/>
        </p:nvSpPr>
        <p:spPr>
          <a:xfrm>
            <a:off x="7589520" y="3200400"/>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60" name="Text 58"/>
          <p:cNvSpPr txBox="1"/>
          <p:nvPr/>
        </p:nvSpPr>
        <p:spPr>
          <a:xfrm>
            <a:off x="7589520" y="3401568"/>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61" name="Shape 59"/>
          <p:cNvSpPr/>
          <p:nvPr/>
        </p:nvSpPr>
        <p:spPr>
          <a:xfrm>
            <a:off x="548640" y="3858768"/>
            <a:ext cx="1691640" cy="402336"/>
          </a:xfrm>
          <a:prstGeom prst="roundRect">
            <a:avLst>
              <a:gd name="adj" fmla="val 13636"/>
            </a:avLst>
          </a:prstGeom>
          <a:solidFill>
            <a:srgbClr val="FFFFFF"/>
          </a:solidFill>
          <a:ln w="22225">
            <a:solidFill>
              <a:srgbClr val="009E73"/>
            </a:solidFill>
            <a:prstDash val="solid"/>
          </a:ln>
        </p:spPr>
      </p:sp>
      <p:sp>
        <p:nvSpPr>
          <p:cNvPr id="62" name="Text 60"/>
          <p:cNvSpPr txBox="1"/>
          <p:nvPr/>
        </p:nvSpPr>
        <p:spPr>
          <a:xfrm>
            <a:off x="548640" y="3858768"/>
            <a:ext cx="1691640" cy="402336"/>
          </a:xfrm>
          <a:prstGeom prst="rect">
            <a:avLst/>
          </a:prstGeom>
          <a:noFill/>
          <a:ln/>
        </p:spPr>
        <p:txBody>
          <a:bodyPr wrap="square" lIns="0" tIns="0" rIns="0" bIns="0" rtlCol="0" anchor="ctr"/>
          <a:lstStyle/>
          <a:p>
            <a:pPr marL="0" indent="0" algn="ctr">
              <a:buNone/>
            </a:pPr>
            <a:r>
              <a:rPr lang="en-US" sz="1100" b="1" dirty="0">
                <a:solidFill>
                  <a:srgbClr val="009E73"/>
                </a:solidFill>
                <a:latin typeface="Calibri" pitchFamily="34" charset="0"/>
                <a:ea typeface="Calibri" pitchFamily="34" charset="-122"/>
                <a:cs typeface="Calibri" pitchFamily="34" charset="-120"/>
              </a:rPr>
              <a:t>ALiBi</a:t>
            </a:r>
            <a:endParaRPr lang="en-US" sz="1100" dirty="0"/>
          </a:p>
        </p:txBody>
      </p:sp>
      <p:sp>
        <p:nvSpPr>
          <p:cNvPr id="63" name="Shape 61"/>
          <p:cNvSpPr/>
          <p:nvPr/>
        </p:nvSpPr>
        <p:spPr>
          <a:xfrm>
            <a:off x="2395728" y="3785616"/>
            <a:ext cx="1225296" cy="548640"/>
          </a:xfrm>
          <a:prstGeom prst="rect">
            <a:avLst/>
          </a:prstGeom>
          <a:solidFill>
            <a:srgbClr val="F3F8F6"/>
          </a:solidFill>
          <a:ln w="13970">
            <a:solidFill>
              <a:srgbClr val="009E73"/>
            </a:solidFill>
            <a:prstDash val="solid"/>
          </a:ln>
        </p:spPr>
      </p:sp>
      <p:sp>
        <p:nvSpPr>
          <p:cNvPr id="64" name="Text 62"/>
          <p:cNvSpPr txBox="1"/>
          <p:nvPr/>
        </p:nvSpPr>
        <p:spPr>
          <a:xfrm>
            <a:off x="2395728" y="3858768"/>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65" name="Text 63"/>
          <p:cNvSpPr txBox="1"/>
          <p:nvPr/>
        </p:nvSpPr>
        <p:spPr>
          <a:xfrm>
            <a:off x="2395728" y="4059936"/>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66" name="Shape 64"/>
          <p:cNvSpPr/>
          <p:nvPr/>
        </p:nvSpPr>
        <p:spPr>
          <a:xfrm>
            <a:off x="3694176" y="3785616"/>
            <a:ext cx="1225296" cy="548640"/>
          </a:xfrm>
          <a:prstGeom prst="rect">
            <a:avLst/>
          </a:prstGeom>
          <a:solidFill>
            <a:srgbClr val="F3F8F6"/>
          </a:solidFill>
          <a:ln w="13970">
            <a:solidFill>
              <a:srgbClr val="009E73"/>
            </a:solidFill>
            <a:prstDash val="solid"/>
          </a:ln>
        </p:spPr>
      </p:sp>
      <p:sp>
        <p:nvSpPr>
          <p:cNvPr id="67" name="Text 65"/>
          <p:cNvSpPr txBox="1"/>
          <p:nvPr/>
        </p:nvSpPr>
        <p:spPr>
          <a:xfrm>
            <a:off x="3694176" y="3858768"/>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68" name="Text 66"/>
          <p:cNvSpPr txBox="1"/>
          <p:nvPr/>
        </p:nvSpPr>
        <p:spPr>
          <a:xfrm>
            <a:off x="3694176" y="4059936"/>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69" name="Shape 67"/>
          <p:cNvSpPr/>
          <p:nvPr/>
        </p:nvSpPr>
        <p:spPr>
          <a:xfrm>
            <a:off x="4992624" y="3785616"/>
            <a:ext cx="1225296" cy="548640"/>
          </a:xfrm>
          <a:prstGeom prst="rect">
            <a:avLst/>
          </a:prstGeom>
          <a:solidFill>
            <a:srgbClr val="F3F8F6"/>
          </a:solidFill>
          <a:ln w="13970">
            <a:solidFill>
              <a:srgbClr val="009E73"/>
            </a:solidFill>
            <a:prstDash val="solid"/>
          </a:ln>
        </p:spPr>
      </p:sp>
      <p:sp>
        <p:nvSpPr>
          <p:cNvPr id="70" name="Text 68"/>
          <p:cNvSpPr txBox="1"/>
          <p:nvPr/>
        </p:nvSpPr>
        <p:spPr>
          <a:xfrm>
            <a:off x="4992624" y="3858768"/>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71" name="Text 69"/>
          <p:cNvSpPr txBox="1"/>
          <p:nvPr/>
        </p:nvSpPr>
        <p:spPr>
          <a:xfrm>
            <a:off x="4992624" y="4059936"/>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72" name="Shape 70"/>
          <p:cNvSpPr/>
          <p:nvPr/>
        </p:nvSpPr>
        <p:spPr>
          <a:xfrm>
            <a:off x="6291072" y="3785616"/>
            <a:ext cx="1225296" cy="548640"/>
          </a:xfrm>
          <a:prstGeom prst="rect">
            <a:avLst/>
          </a:prstGeom>
          <a:solidFill>
            <a:srgbClr val="F3F8F6"/>
          </a:solidFill>
          <a:ln w="13970">
            <a:solidFill>
              <a:srgbClr val="009E73"/>
            </a:solidFill>
            <a:prstDash val="solid"/>
          </a:ln>
        </p:spPr>
      </p:sp>
      <p:sp>
        <p:nvSpPr>
          <p:cNvPr id="73" name="Text 71"/>
          <p:cNvSpPr txBox="1"/>
          <p:nvPr/>
        </p:nvSpPr>
        <p:spPr>
          <a:xfrm>
            <a:off x="6291072" y="3858768"/>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74" name="Text 72"/>
          <p:cNvSpPr txBox="1"/>
          <p:nvPr/>
        </p:nvSpPr>
        <p:spPr>
          <a:xfrm>
            <a:off x="6291072" y="4059936"/>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75" name="Shape 73"/>
          <p:cNvSpPr/>
          <p:nvPr/>
        </p:nvSpPr>
        <p:spPr>
          <a:xfrm>
            <a:off x="7589520" y="3785616"/>
            <a:ext cx="1225296" cy="548640"/>
          </a:xfrm>
          <a:prstGeom prst="rect">
            <a:avLst/>
          </a:prstGeom>
          <a:solidFill>
            <a:srgbClr val="F3F8F6"/>
          </a:solidFill>
          <a:ln w="13970">
            <a:solidFill>
              <a:srgbClr val="009E73"/>
            </a:solidFill>
            <a:prstDash val="solid"/>
          </a:ln>
        </p:spPr>
      </p:sp>
      <p:sp>
        <p:nvSpPr>
          <p:cNvPr id="76" name="Text 74"/>
          <p:cNvSpPr txBox="1"/>
          <p:nvPr/>
        </p:nvSpPr>
        <p:spPr>
          <a:xfrm>
            <a:off x="7589520" y="3858768"/>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77" name="Text 75"/>
          <p:cNvSpPr txBox="1"/>
          <p:nvPr/>
        </p:nvSpPr>
        <p:spPr>
          <a:xfrm>
            <a:off x="7589520" y="4059936"/>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78" name="Shape 76"/>
          <p:cNvSpPr/>
          <p:nvPr/>
        </p:nvSpPr>
        <p:spPr>
          <a:xfrm>
            <a:off x="548640" y="4517136"/>
            <a:ext cx="1691640" cy="402336"/>
          </a:xfrm>
          <a:prstGeom prst="roundRect">
            <a:avLst>
              <a:gd name="adj" fmla="val 13636"/>
            </a:avLst>
          </a:prstGeom>
          <a:solidFill>
            <a:srgbClr val="FFFFFF"/>
          </a:solidFill>
          <a:ln w="22225">
            <a:solidFill>
              <a:srgbClr val="E69F00"/>
            </a:solidFill>
            <a:prstDash val="solid"/>
          </a:ln>
        </p:spPr>
      </p:sp>
      <p:sp>
        <p:nvSpPr>
          <p:cNvPr id="79" name="Text 77"/>
          <p:cNvSpPr txBox="1"/>
          <p:nvPr/>
        </p:nvSpPr>
        <p:spPr>
          <a:xfrm>
            <a:off x="548640" y="4517136"/>
            <a:ext cx="1691640" cy="402336"/>
          </a:xfrm>
          <a:prstGeom prst="rect">
            <a:avLst/>
          </a:prstGeom>
          <a:noFill/>
          <a:ln/>
        </p:spPr>
        <p:txBody>
          <a:bodyPr wrap="square" lIns="0" tIns="0" rIns="0" bIns="0" rtlCol="0" anchor="ctr"/>
          <a:lstStyle/>
          <a:p>
            <a:pPr marL="0" indent="0" algn="ctr">
              <a:buNone/>
            </a:pPr>
            <a:r>
              <a:rPr lang="en-US" sz="1100" b="1" dirty="0">
                <a:solidFill>
                  <a:srgbClr val="E69F00"/>
                </a:solidFill>
                <a:latin typeface="Calibri" pitchFamily="34" charset="0"/>
                <a:ea typeface="Calibri" pitchFamily="34" charset="-122"/>
                <a:cs typeface="Calibri" pitchFamily="34" charset="-120"/>
              </a:rPr>
              <a:t>NoPE</a:t>
            </a:r>
            <a:endParaRPr lang="en-US" sz="1100" dirty="0"/>
          </a:p>
        </p:txBody>
      </p:sp>
      <p:sp>
        <p:nvSpPr>
          <p:cNvPr id="80" name="Shape 78"/>
          <p:cNvSpPr/>
          <p:nvPr/>
        </p:nvSpPr>
        <p:spPr>
          <a:xfrm>
            <a:off x="2395728" y="4443984"/>
            <a:ext cx="1225296" cy="548640"/>
          </a:xfrm>
          <a:prstGeom prst="rect">
            <a:avLst/>
          </a:prstGeom>
          <a:solidFill>
            <a:srgbClr val="F3F8F6"/>
          </a:solidFill>
          <a:ln w="13970">
            <a:solidFill>
              <a:srgbClr val="E69F00"/>
            </a:solidFill>
            <a:prstDash val="solid"/>
          </a:ln>
        </p:spPr>
      </p:sp>
      <p:sp>
        <p:nvSpPr>
          <p:cNvPr id="81" name="Text 79"/>
          <p:cNvSpPr txBox="1"/>
          <p:nvPr/>
        </p:nvSpPr>
        <p:spPr>
          <a:xfrm>
            <a:off x="2395728" y="4517136"/>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82" name="Text 80"/>
          <p:cNvSpPr txBox="1"/>
          <p:nvPr/>
        </p:nvSpPr>
        <p:spPr>
          <a:xfrm>
            <a:off x="2395728" y="4718304"/>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83" name="Shape 81"/>
          <p:cNvSpPr/>
          <p:nvPr/>
        </p:nvSpPr>
        <p:spPr>
          <a:xfrm>
            <a:off x="3694176" y="4443984"/>
            <a:ext cx="1225296" cy="548640"/>
          </a:xfrm>
          <a:prstGeom prst="rect">
            <a:avLst/>
          </a:prstGeom>
          <a:solidFill>
            <a:srgbClr val="F3F8F6"/>
          </a:solidFill>
          <a:ln w="13970">
            <a:solidFill>
              <a:srgbClr val="E69F00"/>
            </a:solidFill>
            <a:prstDash val="solid"/>
          </a:ln>
        </p:spPr>
      </p:sp>
      <p:sp>
        <p:nvSpPr>
          <p:cNvPr id="84" name="Text 82"/>
          <p:cNvSpPr txBox="1"/>
          <p:nvPr/>
        </p:nvSpPr>
        <p:spPr>
          <a:xfrm>
            <a:off x="3694176" y="4517136"/>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85" name="Text 83"/>
          <p:cNvSpPr txBox="1"/>
          <p:nvPr/>
        </p:nvSpPr>
        <p:spPr>
          <a:xfrm>
            <a:off x="3694176" y="4718304"/>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86" name="Shape 84"/>
          <p:cNvSpPr/>
          <p:nvPr/>
        </p:nvSpPr>
        <p:spPr>
          <a:xfrm>
            <a:off x="4992624" y="4443984"/>
            <a:ext cx="1225296" cy="548640"/>
          </a:xfrm>
          <a:prstGeom prst="rect">
            <a:avLst/>
          </a:prstGeom>
          <a:solidFill>
            <a:srgbClr val="F3F8F6"/>
          </a:solidFill>
          <a:ln w="13970">
            <a:solidFill>
              <a:srgbClr val="E69F00"/>
            </a:solidFill>
            <a:prstDash val="solid"/>
          </a:ln>
        </p:spPr>
      </p:sp>
      <p:sp>
        <p:nvSpPr>
          <p:cNvPr id="87" name="Text 85"/>
          <p:cNvSpPr txBox="1"/>
          <p:nvPr/>
        </p:nvSpPr>
        <p:spPr>
          <a:xfrm>
            <a:off x="4992624" y="4517136"/>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88" name="Text 86"/>
          <p:cNvSpPr txBox="1"/>
          <p:nvPr/>
        </p:nvSpPr>
        <p:spPr>
          <a:xfrm>
            <a:off x="4992624" y="4718304"/>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89" name="Shape 87"/>
          <p:cNvSpPr/>
          <p:nvPr/>
        </p:nvSpPr>
        <p:spPr>
          <a:xfrm>
            <a:off x="6291072" y="4443984"/>
            <a:ext cx="1225296" cy="548640"/>
          </a:xfrm>
          <a:prstGeom prst="rect">
            <a:avLst/>
          </a:prstGeom>
          <a:solidFill>
            <a:srgbClr val="F3F8F6"/>
          </a:solidFill>
          <a:ln w="13970">
            <a:solidFill>
              <a:srgbClr val="E69F00"/>
            </a:solidFill>
            <a:prstDash val="solid"/>
          </a:ln>
        </p:spPr>
      </p:sp>
      <p:sp>
        <p:nvSpPr>
          <p:cNvPr id="90" name="Text 88"/>
          <p:cNvSpPr txBox="1"/>
          <p:nvPr/>
        </p:nvSpPr>
        <p:spPr>
          <a:xfrm>
            <a:off x="6291072" y="4517136"/>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91" name="Text 89"/>
          <p:cNvSpPr txBox="1"/>
          <p:nvPr/>
        </p:nvSpPr>
        <p:spPr>
          <a:xfrm>
            <a:off x="6291072" y="4718304"/>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92" name="Shape 90"/>
          <p:cNvSpPr/>
          <p:nvPr/>
        </p:nvSpPr>
        <p:spPr>
          <a:xfrm>
            <a:off x="7589520" y="4443984"/>
            <a:ext cx="1225296" cy="548640"/>
          </a:xfrm>
          <a:prstGeom prst="rect">
            <a:avLst/>
          </a:prstGeom>
          <a:solidFill>
            <a:srgbClr val="F3F8F6"/>
          </a:solidFill>
          <a:ln w="13970">
            <a:solidFill>
              <a:srgbClr val="E69F00"/>
            </a:solidFill>
            <a:prstDash val="solid"/>
          </a:ln>
        </p:spPr>
      </p:sp>
      <p:sp>
        <p:nvSpPr>
          <p:cNvPr id="93" name="Text 91"/>
          <p:cNvSpPr txBox="1"/>
          <p:nvPr/>
        </p:nvSpPr>
        <p:spPr>
          <a:xfrm>
            <a:off x="7589520" y="4517136"/>
            <a:ext cx="1225296" cy="201168"/>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COMPLETED</a:t>
            </a:r>
            <a:endParaRPr lang="en-US" sz="800" dirty="0"/>
          </a:p>
        </p:txBody>
      </p:sp>
      <p:sp>
        <p:nvSpPr>
          <p:cNvPr id="94" name="Text 92"/>
          <p:cNvSpPr txBox="1"/>
          <p:nvPr/>
        </p:nvSpPr>
        <p:spPr>
          <a:xfrm>
            <a:off x="7589520" y="4718304"/>
            <a:ext cx="1225296" cy="182880"/>
          </a:xfrm>
          <a:prstGeom prst="rect">
            <a:avLst/>
          </a:prstGeom>
          <a:noFill/>
          <a:ln/>
        </p:spPr>
        <p:txBody>
          <a:bodyPr wrap="square" lIns="0" tIns="0" rIns="0" bIns="0" rtlCol="0" anchor="ctr"/>
          <a:lstStyle/>
          <a:p>
            <a:pPr marL="0" indent="0" algn="ctr">
              <a:buNone/>
            </a:pPr>
            <a:r>
              <a:rPr lang="en-US" sz="750" dirty="0">
                <a:solidFill>
                  <a:srgbClr val="5F7082"/>
                </a:solidFill>
                <a:latin typeface="Calibri" pitchFamily="34" charset="0"/>
                <a:ea typeface="Calibri" pitchFamily="34" charset="-122"/>
                <a:cs typeface="Calibri" pitchFamily="34" charset="-120"/>
              </a:rPr>
              <a:t>50 000 000 token</a:t>
            </a:r>
            <a:endParaRPr lang="en-US" sz="750" dirty="0"/>
          </a:p>
        </p:txBody>
      </p:sp>
      <p:sp>
        <p:nvSpPr>
          <p:cNvPr id="95" name="Shape 93"/>
          <p:cNvSpPr/>
          <p:nvPr/>
        </p:nvSpPr>
        <p:spPr>
          <a:xfrm>
            <a:off x="9144000" y="1481328"/>
            <a:ext cx="2496312" cy="1481328"/>
          </a:xfrm>
          <a:prstGeom prst="roundRect">
            <a:avLst>
              <a:gd name="adj" fmla="val 4321"/>
            </a:avLst>
          </a:prstGeom>
          <a:solidFill>
            <a:srgbClr val="F4F7F9"/>
          </a:solidFill>
          <a:ln/>
        </p:spPr>
      </p:sp>
      <p:sp>
        <p:nvSpPr>
          <p:cNvPr id="96" name="Text 94"/>
          <p:cNvSpPr txBox="1"/>
          <p:nvPr/>
        </p:nvSpPr>
        <p:spPr>
          <a:xfrm>
            <a:off x="9308592" y="1591056"/>
            <a:ext cx="219456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NİYƏ 5 SEED?</a:t>
            </a:r>
            <a:endParaRPr lang="en-US" sz="1050" dirty="0"/>
          </a:p>
        </p:txBody>
      </p:sp>
      <p:sp>
        <p:nvSpPr>
          <p:cNvPr id="97" name="Text 95"/>
          <p:cNvSpPr txBox="1"/>
          <p:nvPr/>
        </p:nvSpPr>
        <p:spPr>
          <a:xfrm>
            <a:off x="9308592" y="1865376"/>
            <a:ext cx="2194560" cy="9692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Tək bir run təsadüfi uğurlu initialization-dan faydalana bilər. Beş seed ilə fərqin sabit olub-olmadığını yoxlaya bilirik.</a:t>
            </a:r>
            <a:endParaRPr lang="en-US" sz="1050" dirty="0"/>
          </a:p>
        </p:txBody>
      </p:sp>
      <p:sp>
        <p:nvSpPr>
          <p:cNvPr id="98" name="Shape 96"/>
          <p:cNvSpPr/>
          <p:nvPr/>
        </p:nvSpPr>
        <p:spPr>
          <a:xfrm>
            <a:off x="9144000" y="3072384"/>
            <a:ext cx="2496312" cy="1591056"/>
          </a:xfrm>
          <a:prstGeom prst="roundRect">
            <a:avLst>
              <a:gd name="adj" fmla="val 4023"/>
            </a:avLst>
          </a:prstGeom>
          <a:solidFill>
            <a:srgbClr val="EAF0F4"/>
          </a:solidFill>
          <a:ln/>
        </p:spPr>
      </p:sp>
      <p:sp>
        <p:nvSpPr>
          <p:cNvPr id="99" name="Text 97"/>
          <p:cNvSpPr txBox="1"/>
          <p:nvPr/>
        </p:nvSpPr>
        <p:spPr>
          <a:xfrm>
            <a:off x="9308592" y="3182112"/>
            <a:ext cx="219456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UYĞUNLAŞDIRILMIŞ SEED</a:t>
            </a:r>
            <a:endParaRPr lang="en-US" sz="1050" dirty="0"/>
          </a:p>
        </p:txBody>
      </p:sp>
      <p:sp>
        <p:nvSpPr>
          <p:cNvPr id="100" name="Text 98"/>
          <p:cNvSpPr txBox="1"/>
          <p:nvPr/>
        </p:nvSpPr>
        <p:spPr>
          <a:xfrm>
            <a:off x="9308592" y="3456432"/>
            <a:ext cx="2194560" cy="1097280"/>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Bir seed daxilində beş metod EYNİ initialization seed-i paylaşır. Beləliklə müqayisə cütləşdirilmiş olur və şans faktoru azalır.</a:t>
            </a:r>
            <a:endParaRPr lang="en-US" sz="1050" dirty="0"/>
          </a:p>
        </p:txBody>
      </p:sp>
      <p:sp>
        <p:nvSpPr>
          <p:cNvPr id="101" name="Shape 99"/>
          <p:cNvSpPr/>
          <p:nvPr/>
        </p:nvSpPr>
        <p:spPr>
          <a:xfrm>
            <a:off x="9144000" y="4773168"/>
            <a:ext cx="2496312" cy="1060704"/>
          </a:xfrm>
          <a:prstGeom prst="roundRect">
            <a:avLst>
              <a:gd name="adj" fmla="val 6034"/>
            </a:avLst>
          </a:prstGeom>
          <a:solidFill>
            <a:srgbClr val="FDF3EC"/>
          </a:solidFill>
          <a:ln/>
        </p:spPr>
      </p:sp>
      <p:sp>
        <p:nvSpPr>
          <p:cNvPr id="102" name="Text 100"/>
          <p:cNvSpPr txBox="1"/>
          <p:nvPr/>
        </p:nvSpPr>
        <p:spPr>
          <a:xfrm>
            <a:off x="9308592" y="4882896"/>
            <a:ext cx="2194560" cy="237744"/>
          </a:xfrm>
          <a:prstGeom prst="rect">
            <a:avLst/>
          </a:prstGeom>
          <a:noFill/>
          <a:ln/>
        </p:spPr>
        <p:txBody>
          <a:bodyPr wrap="square" lIns="0" tIns="0" rIns="0" bIns="0" rtlCol="0" anchor="ctr"/>
          <a:lstStyle/>
          <a:p>
            <a:pPr marL="0" indent="0">
              <a:buNone/>
            </a:pPr>
            <a:r>
              <a:rPr lang="en-US" sz="1150" b="1" dirty="0">
                <a:solidFill>
                  <a:srgbClr val="8A5A00"/>
                </a:solidFill>
                <a:latin typeface="Courier New" pitchFamily="34" charset="0"/>
                <a:ea typeface="Courier New" pitchFamily="34" charset="-122"/>
                <a:cs typeface="Courier New" pitchFamily="34" charset="-120"/>
              </a:rPr>
              <a:t>data_seed = 2026</a:t>
            </a:r>
            <a:endParaRPr lang="en-US" sz="1150" dirty="0"/>
          </a:p>
        </p:txBody>
      </p:sp>
      <p:sp>
        <p:nvSpPr>
          <p:cNvPr id="103" name="Text 101"/>
          <p:cNvSpPr txBox="1"/>
          <p:nvPr/>
        </p:nvSpPr>
        <p:spPr>
          <a:xfrm>
            <a:off x="9308592" y="5138928"/>
            <a:ext cx="2194560" cy="621792"/>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Sənəd seçimi və sırası bu seed ilə donub və model seed-indən ASILI DEYİL.</a:t>
            </a:r>
            <a:endParaRPr lang="en-US" sz="1000" dirty="0"/>
          </a:p>
        </p:txBody>
      </p:sp>
      <p:sp>
        <p:nvSpPr>
          <p:cNvPr id="104" name="Shape 102"/>
          <p:cNvSpPr/>
          <p:nvPr/>
        </p:nvSpPr>
        <p:spPr>
          <a:xfrm>
            <a:off x="548640" y="5230368"/>
            <a:ext cx="8339328" cy="566928"/>
          </a:xfrm>
          <a:prstGeom prst="roundRect">
            <a:avLst>
              <a:gd name="adj" fmla="val 11290"/>
            </a:avLst>
          </a:prstGeom>
          <a:solidFill>
            <a:srgbClr val="EAF0F4"/>
          </a:solidFill>
          <a:ln/>
        </p:spPr>
      </p:sp>
      <p:sp>
        <p:nvSpPr>
          <p:cNvPr id="105" name="Text 103"/>
          <p:cNvSpPr txBox="1"/>
          <p:nvPr/>
        </p:nvSpPr>
        <p:spPr>
          <a:xfrm>
            <a:off x="713232" y="5248656"/>
            <a:ext cx="8010144" cy="566928"/>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Əsas fikir:  </a:t>
            </a:r>
            <a:r>
              <a:rPr lang="en-US" sz="1200" dirty="0">
                <a:solidFill>
                  <a:srgbClr val="14202E"/>
                </a:solidFill>
                <a:latin typeface="Calibri" pitchFamily="34" charset="0"/>
                <a:ea typeface="Calibri" pitchFamily="34" charset="-122"/>
                <a:cs typeface="Calibri" pitchFamily="34" charset="-120"/>
              </a:rPr>
              <a:t>Data sırası bütün 25 run üçün sabitdir; dəyişən yalnız model initialization-dır. Beləliklə seed-lər arasındakı fərq datadan deyil, modeldən gəlir.</a:t>
            </a:r>
            <a:endParaRPr lang="en-US" sz="1200" dirty="0"/>
          </a:p>
        </p:txBody>
      </p:sp>
      <p:sp>
        <p:nvSpPr>
          <p:cNvPr id="106" name="Text 104"/>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107" name="Text 105"/>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configs/run_matrix.json · results/evaluation/workspace.json</a:t>
            </a:r>
            <a:endParaRPr lang="en-US" sz="850" dirty="0"/>
          </a:p>
        </p:txBody>
      </p:sp>
      <p:sp>
        <p:nvSpPr>
          <p:cNvPr id="108" name="Text 106"/>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Training protokolu: hər run üçün dəqiq 50M token</a:t>
            </a:r>
            <a:endParaRPr lang="en-US" sz="2500" dirty="0"/>
          </a:p>
        </p:txBody>
      </p:sp>
      <p:sp>
        <p:nvSpPr>
          <p:cNvPr id="4" name="Shape 2"/>
          <p:cNvSpPr/>
          <p:nvPr/>
        </p:nvSpPr>
        <p:spPr>
          <a:xfrm>
            <a:off x="548640" y="1188720"/>
            <a:ext cx="2633472" cy="804672"/>
          </a:xfrm>
          <a:prstGeom prst="roundRect">
            <a:avLst>
              <a:gd name="adj" fmla="val 7955"/>
            </a:avLst>
          </a:prstGeom>
          <a:solidFill>
            <a:srgbClr val="F4F7F9"/>
          </a:solidFill>
          <a:ln w="12700">
            <a:solidFill>
              <a:srgbClr val="E3E9EF"/>
            </a:solidFill>
            <a:prstDash val="solid"/>
          </a:ln>
        </p:spPr>
      </p:sp>
      <p:sp>
        <p:nvSpPr>
          <p:cNvPr id="5" name="Text 3"/>
          <p:cNvSpPr txBox="1"/>
          <p:nvPr/>
        </p:nvSpPr>
        <p:spPr>
          <a:xfrm>
            <a:off x="694944" y="12618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Context</a:t>
            </a:r>
            <a:endParaRPr lang="en-US" sz="950" dirty="0"/>
          </a:p>
        </p:txBody>
      </p:sp>
      <p:sp>
        <p:nvSpPr>
          <p:cNvPr id="6" name="Text 4"/>
          <p:cNvSpPr txBox="1"/>
          <p:nvPr/>
        </p:nvSpPr>
        <p:spPr>
          <a:xfrm>
            <a:off x="694944" y="14447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512</a:t>
            </a:r>
            <a:endParaRPr lang="en-US" sz="1700" dirty="0"/>
          </a:p>
        </p:txBody>
      </p:sp>
      <p:sp>
        <p:nvSpPr>
          <p:cNvPr id="7" name="Text 5"/>
          <p:cNvSpPr txBox="1"/>
          <p:nvPr/>
        </p:nvSpPr>
        <p:spPr>
          <a:xfrm>
            <a:off x="694944" y="17556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token / sequence</a:t>
            </a:r>
            <a:endParaRPr lang="en-US" sz="850" dirty="0"/>
          </a:p>
        </p:txBody>
      </p:sp>
      <p:sp>
        <p:nvSpPr>
          <p:cNvPr id="8" name="Shape 6"/>
          <p:cNvSpPr/>
          <p:nvPr/>
        </p:nvSpPr>
        <p:spPr>
          <a:xfrm>
            <a:off x="3346704" y="1188720"/>
            <a:ext cx="2633472" cy="804672"/>
          </a:xfrm>
          <a:prstGeom prst="roundRect">
            <a:avLst>
              <a:gd name="adj" fmla="val 7955"/>
            </a:avLst>
          </a:prstGeom>
          <a:solidFill>
            <a:srgbClr val="FFFFFF"/>
          </a:solidFill>
          <a:ln w="12700">
            <a:solidFill>
              <a:srgbClr val="E3E9EF"/>
            </a:solidFill>
            <a:prstDash val="solid"/>
          </a:ln>
        </p:spPr>
      </p:sp>
      <p:sp>
        <p:nvSpPr>
          <p:cNvPr id="9" name="Text 7"/>
          <p:cNvSpPr txBox="1"/>
          <p:nvPr/>
        </p:nvSpPr>
        <p:spPr>
          <a:xfrm>
            <a:off x="3493008" y="12618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Precision</a:t>
            </a:r>
            <a:endParaRPr lang="en-US" sz="950" dirty="0"/>
          </a:p>
        </p:txBody>
      </p:sp>
      <p:sp>
        <p:nvSpPr>
          <p:cNvPr id="10" name="Text 8"/>
          <p:cNvSpPr txBox="1"/>
          <p:nvPr/>
        </p:nvSpPr>
        <p:spPr>
          <a:xfrm>
            <a:off x="3493008" y="14447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BF16</a:t>
            </a:r>
            <a:endParaRPr lang="en-US" sz="1700" dirty="0"/>
          </a:p>
        </p:txBody>
      </p:sp>
      <p:sp>
        <p:nvSpPr>
          <p:cNvPr id="11" name="Text 9"/>
          <p:cNvSpPr txBox="1"/>
          <p:nvPr/>
        </p:nvSpPr>
        <p:spPr>
          <a:xfrm>
            <a:off x="3493008" y="17556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A100-də dəstəklənir</a:t>
            </a:r>
            <a:endParaRPr lang="en-US" sz="850" dirty="0"/>
          </a:p>
        </p:txBody>
      </p:sp>
      <p:sp>
        <p:nvSpPr>
          <p:cNvPr id="12" name="Shape 10"/>
          <p:cNvSpPr/>
          <p:nvPr/>
        </p:nvSpPr>
        <p:spPr>
          <a:xfrm>
            <a:off x="6144768" y="1188720"/>
            <a:ext cx="2633472" cy="804672"/>
          </a:xfrm>
          <a:prstGeom prst="roundRect">
            <a:avLst>
              <a:gd name="adj" fmla="val 7955"/>
            </a:avLst>
          </a:prstGeom>
          <a:solidFill>
            <a:srgbClr val="F4F7F9"/>
          </a:solidFill>
          <a:ln w="12700">
            <a:solidFill>
              <a:srgbClr val="E3E9EF"/>
            </a:solidFill>
            <a:prstDash val="solid"/>
          </a:ln>
        </p:spPr>
      </p:sp>
      <p:sp>
        <p:nvSpPr>
          <p:cNvPr id="13" name="Text 11"/>
          <p:cNvSpPr txBox="1"/>
          <p:nvPr/>
        </p:nvSpPr>
        <p:spPr>
          <a:xfrm>
            <a:off x="6291072" y="12618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Dropout</a:t>
            </a:r>
            <a:endParaRPr lang="en-US" sz="950" dirty="0"/>
          </a:p>
        </p:txBody>
      </p:sp>
      <p:sp>
        <p:nvSpPr>
          <p:cNvPr id="14" name="Text 12"/>
          <p:cNvSpPr txBox="1"/>
          <p:nvPr/>
        </p:nvSpPr>
        <p:spPr>
          <a:xfrm>
            <a:off x="6291072" y="14447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0.0</a:t>
            </a:r>
            <a:endParaRPr lang="en-US" sz="1700" dirty="0"/>
          </a:p>
        </p:txBody>
      </p:sp>
      <p:sp>
        <p:nvSpPr>
          <p:cNvPr id="15" name="Text 13"/>
          <p:cNvSpPr txBox="1"/>
          <p:nvPr/>
        </p:nvSpPr>
        <p:spPr>
          <a:xfrm>
            <a:off x="6291072" y="17556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əlavə təsadüfilik yoxdur</a:t>
            </a:r>
            <a:endParaRPr lang="en-US" sz="850" dirty="0"/>
          </a:p>
        </p:txBody>
      </p:sp>
      <p:sp>
        <p:nvSpPr>
          <p:cNvPr id="16" name="Shape 14"/>
          <p:cNvSpPr/>
          <p:nvPr/>
        </p:nvSpPr>
        <p:spPr>
          <a:xfrm>
            <a:off x="8942832" y="1188720"/>
            <a:ext cx="2633472" cy="804672"/>
          </a:xfrm>
          <a:prstGeom prst="roundRect">
            <a:avLst>
              <a:gd name="adj" fmla="val 7955"/>
            </a:avLst>
          </a:prstGeom>
          <a:solidFill>
            <a:srgbClr val="FFFFFF"/>
          </a:solidFill>
          <a:ln w="12700">
            <a:solidFill>
              <a:srgbClr val="E3E9EF"/>
            </a:solidFill>
            <a:prstDash val="solid"/>
          </a:ln>
        </p:spPr>
      </p:sp>
      <p:sp>
        <p:nvSpPr>
          <p:cNvPr id="17" name="Text 15"/>
          <p:cNvSpPr txBox="1"/>
          <p:nvPr/>
        </p:nvSpPr>
        <p:spPr>
          <a:xfrm>
            <a:off x="9089136" y="12618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Microbatch</a:t>
            </a:r>
            <a:endParaRPr lang="en-US" sz="950" dirty="0"/>
          </a:p>
        </p:txBody>
      </p:sp>
      <p:sp>
        <p:nvSpPr>
          <p:cNvPr id="18" name="Text 16"/>
          <p:cNvSpPr txBox="1"/>
          <p:nvPr/>
        </p:nvSpPr>
        <p:spPr>
          <a:xfrm>
            <a:off x="9089136" y="14447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64</a:t>
            </a:r>
            <a:endParaRPr lang="en-US" sz="1700" dirty="0"/>
          </a:p>
        </p:txBody>
      </p:sp>
      <p:sp>
        <p:nvSpPr>
          <p:cNvPr id="19" name="Text 17"/>
          <p:cNvSpPr txBox="1"/>
          <p:nvPr/>
        </p:nvSpPr>
        <p:spPr>
          <a:xfrm>
            <a:off x="9089136" y="17556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sequence / addım</a:t>
            </a:r>
            <a:endParaRPr lang="en-US" sz="850" dirty="0"/>
          </a:p>
        </p:txBody>
      </p:sp>
      <p:sp>
        <p:nvSpPr>
          <p:cNvPr id="20" name="Shape 18"/>
          <p:cNvSpPr/>
          <p:nvPr/>
        </p:nvSpPr>
        <p:spPr>
          <a:xfrm>
            <a:off x="548640" y="2103120"/>
            <a:ext cx="2633472" cy="804672"/>
          </a:xfrm>
          <a:prstGeom prst="roundRect">
            <a:avLst>
              <a:gd name="adj" fmla="val 7955"/>
            </a:avLst>
          </a:prstGeom>
          <a:solidFill>
            <a:srgbClr val="F4F7F9"/>
          </a:solidFill>
          <a:ln w="12700">
            <a:solidFill>
              <a:srgbClr val="E3E9EF"/>
            </a:solidFill>
            <a:prstDash val="solid"/>
          </a:ln>
        </p:spPr>
      </p:sp>
      <p:sp>
        <p:nvSpPr>
          <p:cNvPr id="21" name="Text 19"/>
          <p:cNvSpPr txBox="1"/>
          <p:nvPr/>
        </p:nvSpPr>
        <p:spPr>
          <a:xfrm>
            <a:off x="694944" y="21762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Gradient accum.</a:t>
            </a:r>
            <a:endParaRPr lang="en-US" sz="950" dirty="0"/>
          </a:p>
        </p:txBody>
      </p:sp>
      <p:sp>
        <p:nvSpPr>
          <p:cNvPr id="22" name="Text 20"/>
          <p:cNvSpPr txBox="1"/>
          <p:nvPr/>
        </p:nvSpPr>
        <p:spPr>
          <a:xfrm>
            <a:off x="694944" y="23591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 2</a:t>
            </a:r>
            <a:endParaRPr lang="en-US" sz="1700" dirty="0"/>
          </a:p>
        </p:txBody>
      </p:sp>
      <p:sp>
        <p:nvSpPr>
          <p:cNvPr id="23" name="Text 21"/>
          <p:cNvSpPr txBox="1"/>
          <p:nvPr/>
        </p:nvSpPr>
        <p:spPr>
          <a:xfrm>
            <a:off x="694944" y="26700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addım başına toplama</a:t>
            </a:r>
            <a:endParaRPr lang="en-US" sz="850" dirty="0"/>
          </a:p>
        </p:txBody>
      </p:sp>
      <p:sp>
        <p:nvSpPr>
          <p:cNvPr id="24" name="Shape 22"/>
          <p:cNvSpPr/>
          <p:nvPr/>
        </p:nvSpPr>
        <p:spPr>
          <a:xfrm>
            <a:off x="3346704" y="2103120"/>
            <a:ext cx="2633472" cy="804672"/>
          </a:xfrm>
          <a:prstGeom prst="roundRect">
            <a:avLst>
              <a:gd name="adj" fmla="val 7955"/>
            </a:avLst>
          </a:prstGeom>
          <a:solidFill>
            <a:srgbClr val="FFFFFF"/>
          </a:solidFill>
          <a:ln w="12700">
            <a:solidFill>
              <a:srgbClr val="E3E9EF"/>
            </a:solidFill>
            <a:prstDash val="solid"/>
          </a:ln>
        </p:spPr>
      </p:sp>
      <p:sp>
        <p:nvSpPr>
          <p:cNvPr id="25" name="Text 23"/>
          <p:cNvSpPr txBox="1"/>
          <p:nvPr/>
        </p:nvSpPr>
        <p:spPr>
          <a:xfrm>
            <a:off x="3493008" y="21762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Global batch</a:t>
            </a:r>
            <a:endParaRPr lang="en-US" sz="950" dirty="0"/>
          </a:p>
        </p:txBody>
      </p:sp>
      <p:sp>
        <p:nvSpPr>
          <p:cNvPr id="26" name="Text 24"/>
          <p:cNvSpPr txBox="1"/>
          <p:nvPr/>
        </p:nvSpPr>
        <p:spPr>
          <a:xfrm>
            <a:off x="3493008" y="23591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65 536</a:t>
            </a:r>
            <a:endParaRPr lang="en-US" sz="1700" dirty="0"/>
          </a:p>
        </p:txBody>
      </p:sp>
      <p:sp>
        <p:nvSpPr>
          <p:cNvPr id="27" name="Text 25"/>
          <p:cNvSpPr txBox="1"/>
          <p:nvPr/>
        </p:nvSpPr>
        <p:spPr>
          <a:xfrm>
            <a:off x="3493008" y="26700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token / optimizer addımı</a:t>
            </a:r>
            <a:endParaRPr lang="en-US" sz="850" dirty="0"/>
          </a:p>
        </p:txBody>
      </p:sp>
      <p:sp>
        <p:nvSpPr>
          <p:cNvPr id="28" name="Shape 26"/>
          <p:cNvSpPr/>
          <p:nvPr/>
        </p:nvSpPr>
        <p:spPr>
          <a:xfrm>
            <a:off x="6144768" y="2103120"/>
            <a:ext cx="2633472" cy="804672"/>
          </a:xfrm>
          <a:prstGeom prst="roundRect">
            <a:avLst>
              <a:gd name="adj" fmla="val 7955"/>
            </a:avLst>
          </a:prstGeom>
          <a:solidFill>
            <a:srgbClr val="F4F7F9"/>
          </a:solidFill>
          <a:ln w="12700">
            <a:solidFill>
              <a:srgbClr val="E3E9EF"/>
            </a:solidFill>
            <a:prstDash val="solid"/>
          </a:ln>
        </p:spPr>
      </p:sp>
      <p:sp>
        <p:nvSpPr>
          <p:cNvPr id="29" name="Text 27"/>
          <p:cNvSpPr txBox="1"/>
          <p:nvPr/>
        </p:nvSpPr>
        <p:spPr>
          <a:xfrm>
            <a:off x="6291072" y="21762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Optimizer</a:t>
            </a:r>
            <a:endParaRPr lang="en-US" sz="950" dirty="0"/>
          </a:p>
        </p:txBody>
      </p:sp>
      <p:sp>
        <p:nvSpPr>
          <p:cNvPr id="30" name="Text 28"/>
          <p:cNvSpPr txBox="1"/>
          <p:nvPr/>
        </p:nvSpPr>
        <p:spPr>
          <a:xfrm>
            <a:off x="6291072" y="23591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AdamW</a:t>
            </a:r>
            <a:endParaRPr lang="en-US" sz="1700" dirty="0"/>
          </a:p>
        </p:txBody>
      </p:sp>
      <p:sp>
        <p:nvSpPr>
          <p:cNvPr id="31" name="Text 29"/>
          <p:cNvSpPr txBox="1"/>
          <p:nvPr/>
        </p:nvSpPr>
        <p:spPr>
          <a:xfrm>
            <a:off x="6291072" y="26700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β = (0.9, 0.95),  ε = 1e-8</a:t>
            </a:r>
            <a:endParaRPr lang="en-US" sz="850" dirty="0"/>
          </a:p>
        </p:txBody>
      </p:sp>
      <p:sp>
        <p:nvSpPr>
          <p:cNvPr id="32" name="Shape 30"/>
          <p:cNvSpPr/>
          <p:nvPr/>
        </p:nvSpPr>
        <p:spPr>
          <a:xfrm>
            <a:off x="8942832" y="2103120"/>
            <a:ext cx="2633472" cy="804672"/>
          </a:xfrm>
          <a:prstGeom prst="roundRect">
            <a:avLst>
              <a:gd name="adj" fmla="val 7955"/>
            </a:avLst>
          </a:prstGeom>
          <a:solidFill>
            <a:srgbClr val="FFFFFF"/>
          </a:solidFill>
          <a:ln w="12700">
            <a:solidFill>
              <a:srgbClr val="E3E9EF"/>
            </a:solidFill>
            <a:prstDash val="solid"/>
          </a:ln>
        </p:spPr>
      </p:sp>
      <p:sp>
        <p:nvSpPr>
          <p:cNvPr id="33" name="Text 31"/>
          <p:cNvSpPr txBox="1"/>
          <p:nvPr/>
        </p:nvSpPr>
        <p:spPr>
          <a:xfrm>
            <a:off x="9089136" y="21762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Peak LR</a:t>
            </a:r>
            <a:endParaRPr lang="en-US" sz="950" dirty="0"/>
          </a:p>
        </p:txBody>
      </p:sp>
      <p:sp>
        <p:nvSpPr>
          <p:cNvPr id="34" name="Text 32"/>
          <p:cNvSpPr txBox="1"/>
          <p:nvPr/>
        </p:nvSpPr>
        <p:spPr>
          <a:xfrm>
            <a:off x="9089136" y="23591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6 × 10⁻⁴</a:t>
            </a:r>
            <a:endParaRPr lang="en-US" sz="1700" dirty="0"/>
          </a:p>
        </p:txBody>
      </p:sp>
      <p:sp>
        <p:nvSpPr>
          <p:cNvPr id="35" name="Text 33"/>
          <p:cNvSpPr txBox="1"/>
          <p:nvPr/>
        </p:nvSpPr>
        <p:spPr>
          <a:xfrm>
            <a:off x="9089136" y="26700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1% linear warmup + cosine</a:t>
            </a:r>
            <a:endParaRPr lang="en-US" sz="850" dirty="0"/>
          </a:p>
        </p:txBody>
      </p:sp>
      <p:sp>
        <p:nvSpPr>
          <p:cNvPr id="36" name="Shape 34"/>
          <p:cNvSpPr/>
          <p:nvPr/>
        </p:nvSpPr>
        <p:spPr>
          <a:xfrm>
            <a:off x="548640" y="3017520"/>
            <a:ext cx="2633472" cy="804672"/>
          </a:xfrm>
          <a:prstGeom prst="roundRect">
            <a:avLst>
              <a:gd name="adj" fmla="val 7955"/>
            </a:avLst>
          </a:prstGeom>
          <a:solidFill>
            <a:srgbClr val="F4F7F9"/>
          </a:solidFill>
          <a:ln w="12700">
            <a:solidFill>
              <a:srgbClr val="E3E9EF"/>
            </a:solidFill>
            <a:prstDash val="solid"/>
          </a:ln>
        </p:spPr>
      </p:sp>
      <p:sp>
        <p:nvSpPr>
          <p:cNvPr id="37" name="Text 35"/>
          <p:cNvSpPr txBox="1"/>
          <p:nvPr/>
        </p:nvSpPr>
        <p:spPr>
          <a:xfrm>
            <a:off x="694944" y="30906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Weight decay</a:t>
            </a:r>
            <a:endParaRPr lang="en-US" sz="950" dirty="0"/>
          </a:p>
        </p:txBody>
      </p:sp>
      <p:sp>
        <p:nvSpPr>
          <p:cNvPr id="38" name="Text 36"/>
          <p:cNvSpPr txBox="1"/>
          <p:nvPr/>
        </p:nvSpPr>
        <p:spPr>
          <a:xfrm>
            <a:off x="694944" y="32735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0.1</a:t>
            </a:r>
            <a:endParaRPr lang="en-US" sz="1700" dirty="0"/>
          </a:p>
        </p:txBody>
      </p:sp>
      <p:sp>
        <p:nvSpPr>
          <p:cNvPr id="39" name="Text 37"/>
          <p:cNvSpPr txBox="1"/>
          <p:nvPr/>
        </p:nvSpPr>
        <p:spPr>
          <a:xfrm>
            <a:off x="694944" y="35844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mövqe cədvəli istisna</a:t>
            </a:r>
            <a:endParaRPr lang="en-US" sz="850" dirty="0"/>
          </a:p>
        </p:txBody>
      </p:sp>
      <p:sp>
        <p:nvSpPr>
          <p:cNvPr id="40" name="Shape 38"/>
          <p:cNvSpPr/>
          <p:nvPr/>
        </p:nvSpPr>
        <p:spPr>
          <a:xfrm>
            <a:off x="3346704" y="3017520"/>
            <a:ext cx="2633472" cy="804672"/>
          </a:xfrm>
          <a:prstGeom prst="roundRect">
            <a:avLst>
              <a:gd name="adj" fmla="val 7955"/>
            </a:avLst>
          </a:prstGeom>
          <a:solidFill>
            <a:srgbClr val="FFFFFF"/>
          </a:solidFill>
          <a:ln w="12700">
            <a:solidFill>
              <a:srgbClr val="E3E9EF"/>
            </a:solidFill>
            <a:prstDash val="solid"/>
          </a:ln>
        </p:spPr>
      </p:sp>
      <p:sp>
        <p:nvSpPr>
          <p:cNvPr id="41" name="Text 39"/>
          <p:cNvSpPr txBox="1"/>
          <p:nvPr/>
        </p:nvSpPr>
        <p:spPr>
          <a:xfrm>
            <a:off x="3493008" y="30906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Gradient clip</a:t>
            </a:r>
            <a:endParaRPr lang="en-US" sz="950" dirty="0"/>
          </a:p>
        </p:txBody>
      </p:sp>
      <p:sp>
        <p:nvSpPr>
          <p:cNvPr id="42" name="Text 40"/>
          <p:cNvSpPr txBox="1"/>
          <p:nvPr/>
        </p:nvSpPr>
        <p:spPr>
          <a:xfrm>
            <a:off x="3493008" y="32735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1.0</a:t>
            </a:r>
            <a:endParaRPr lang="en-US" sz="1700" dirty="0"/>
          </a:p>
        </p:txBody>
      </p:sp>
      <p:sp>
        <p:nvSpPr>
          <p:cNvPr id="43" name="Text 41"/>
          <p:cNvSpPr txBox="1"/>
          <p:nvPr/>
        </p:nvSpPr>
        <p:spPr>
          <a:xfrm>
            <a:off x="3493008" y="35844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qlobal norma</a:t>
            </a:r>
            <a:endParaRPr lang="en-US" sz="850" dirty="0"/>
          </a:p>
        </p:txBody>
      </p:sp>
      <p:sp>
        <p:nvSpPr>
          <p:cNvPr id="44" name="Shape 42"/>
          <p:cNvSpPr/>
          <p:nvPr/>
        </p:nvSpPr>
        <p:spPr>
          <a:xfrm>
            <a:off x="6144768" y="3017520"/>
            <a:ext cx="2633472" cy="804672"/>
          </a:xfrm>
          <a:prstGeom prst="roundRect">
            <a:avLst>
              <a:gd name="adj" fmla="val 7955"/>
            </a:avLst>
          </a:prstGeom>
          <a:solidFill>
            <a:srgbClr val="F4F7F9"/>
          </a:solidFill>
          <a:ln w="12700">
            <a:solidFill>
              <a:srgbClr val="E3E9EF"/>
            </a:solidFill>
            <a:prstDash val="solid"/>
          </a:ln>
        </p:spPr>
      </p:sp>
      <p:sp>
        <p:nvSpPr>
          <p:cNvPr id="45" name="Text 43"/>
          <p:cNvSpPr txBox="1"/>
          <p:nvPr/>
        </p:nvSpPr>
        <p:spPr>
          <a:xfrm>
            <a:off x="6291072" y="30906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Optimizer addımı</a:t>
            </a:r>
            <a:endParaRPr lang="en-US" sz="950" dirty="0"/>
          </a:p>
        </p:txBody>
      </p:sp>
      <p:sp>
        <p:nvSpPr>
          <p:cNvPr id="46" name="Text 44"/>
          <p:cNvSpPr txBox="1"/>
          <p:nvPr/>
        </p:nvSpPr>
        <p:spPr>
          <a:xfrm>
            <a:off x="6291072" y="32735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763</a:t>
            </a:r>
            <a:endParaRPr lang="en-US" sz="1700" dirty="0"/>
          </a:p>
        </p:txBody>
      </p:sp>
      <p:sp>
        <p:nvSpPr>
          <p:cNvPr id="47" name="Text 45"/>
          <p:cNvSpPr txBox="1"/>
          <p:nvPr/>
        </p:nvSpPr>
        <p:spPr>
          <a:xfrm>
            <a:off x="6291072" y="35844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hər run üçün eyni</a:t>
            </a:r>
            <a:endParaRPr lang="en-US" sz="850" dirty="0"/>
          </a:p>
        </p:txBody>
      </p:sp>
      <p:sp>
        <p:nvSpPr>
          <p:cNvPr id="48" name="Shape 46"/>
          <p:cNvSpPr/>
          <p:nvPr/>
        </p:nvSpPr>
        <p:spPr>
          <a:xfrm>
            <a:off x="8942832" y="3017520"/>
            <a:ext cx="2633472" cy="804672"/>
          </a:xfrm>
          <a:prstGeom prst="roundRect">
            <a:avLst>
              <a:gd name="adj" fmla="val 7955"/>
            </a:avLst>
          </a:prstGeom>
          <a:solidFill>
            <a:srgbClr val="FFFFFF"/>
          </a:solidFill>
          <a:ln w="12700">
            <a:solidFill>
              <a:srgbClr val="E3E9EF"/>
            </a:solidFill>
            <a:prstDash val="solid"/>
          </a:ln>
        </p:spPr>
      </p:sp>
      <p:sp>
        <p:nvSpPr>
          <p:cNvPr id="49" name="Text 47"/>
          <p:cNvSpPr txBox="1"/>
          <p:nvPr/>
        </p:nvSpPr>
        <p:spPr>
          <a:xfrm>
            <a:off x="9089136" y="3090672"/>
            <a:ext cx="2377440" cy="201168"/>
          </a:xfrm>
          <a:prstGeom prst="rect">
            <a:avLst/>
          </a:prstGeom>
          <a:noFill/>
          <a:ln/>
        </p:spPr>
        <p:txBody>
          <a:bodyPr wrap="square" lIns="0" tIns="0" rIns="0" bIns="0" rtlCol="0" anchor="ctr"/>
          <a:lstStyle/>
          <a:p>
            <a:pPr marL="0" indent="0">
              <a:buNone/>
            </a:pPr>
            <a:r>
              <a:rPr lang="en-US" sz="950" kern="0" spc="80" dirty="0">
                <a:solidFill>
                  <a:srgbClr val="5F7082"/>
                </a:solidFill>
                <a:latin typeface="Calibri" pitchFamily="34" charset="0"/>
                <a:ea typeface="Calibri" pitchFamily="34" charset="-122"/>
                <a:cs typeface="Calibri" pitchFamily="34" charset="-120"/>
              </a:rPr>
              <a:t>Dayanma şərti</a:t>
            </a:r>
            <a:endParaRPr lang="en-US" sz="950" dirty="0"/>
          </a:p>
        </p:txBody>
      </p:sp>
      <p:sp>
        <p:nvSpPr>
          <p:cNvPr id="50" name="Text 48"/>
          <p:cNvSpPr txBox="1"/>
          <p:nvPr/>
        </p:nvSpPr>
        <p:spPr>
          <a:xfrm>
            <a:off x="9089136" y="3273552"/>
            <a:ext cx="2377440" cy="310896"/>
          </a:xfrm>
          <a:prstGeom prst="rect">
            <a:avLst/>
          </a:prstGeom>
          <a:noFill/>
          <a:ln/>
        </p:spPr>
        <p:txBody>
          <a:bodyPr wrap="square" lIns="0" tIns="0" rIns="0" bIns="0" rtlCol="0" anchor="ctr"/>
          <a:lstStyle/>
          <a:p>
            <a:pPr marL="0" indent="0">
              <a:buNone/>
            </a:pPr>
            <a:r>
              <a:rPr lang="en-US" sz="1700" b="1" dirty="0">
                <a:solidFill>
                  <a:srgbClr val="12324F"/>
                </a:solidFill>
                <a:latin typeface="Cambria" pitchFamily="34" charset="0"/>
                <a:ea typeface="Cambria" pitchFamily="34" charset="-122"/>
                <a:cs typeface="Cambria" pitchFamily="34" charset="-120"/>
              </a:rPr>
              <a:t>50 000 000</a:t>
            </a:r>
            <a:endParaRPr lang="en-US" sz="1700" dirty="0"/>
          </a:p>
        </p:txBody>
      </p:sp>
      <p:sp>
        <p:nvSpPr>
          <p:cNvPr id="51" name="Text 49"/>
          <p:cNvSpPr txBox="1"/>
          <p:nvPr/>
        </p:nvSpPr>
        <p:spPr>
          <a:xfrm>
            <a:off x="9089136" y="3584448"/>
            <a:ext cx="2377440" cy="201168"/>
          </a:xfrm>
          <a:prstGeom prst="rect">
            <a:avLst/>
          </a:prstGeom>
          <a:noFill/>
          <a:ln/>
        </p:spPr>
        <p:txBody>
          <a:bodyPr wrap="square" lIns="0" tIns="0" rIns="0" bIns="0" rtlCol="0" anchor="ctr"/>
          <a:lstStyle/>
          <a:p>
            <a:pPr marL="0" indent="0">
              <a:buNone/>
            </a:pPr>
            <a:r>
              <a:rPr lang="en-US" sz="850" dirty="0">
                <a:solidFill>
                  <a:srgbClr val="8A99A8"/>
                </a:solidFill>
                <a:latin typeface="Calibri" pitchFamily="34" charset="0"/>
                <a:ea typeface="Calibri" pitchFamily="34" charset="-122"/>
                <a:cs typeface="Calibri" pitchFamily="34" charset="-120"/>
              </a:rPr>
              <a:t>token — dəqiq sərhəd</a:t>
            </a:r>
            <a:endParaRPr lang="en-US" sz="850" dirty="0"/>
          </a:p>
        </p:txBody>
      </p:sp>
      <p:sp>
        <p:nvSpPr>
          <p:cNvPr id="52" name="Text 50"/>
          <p:cNvSpPr txBox="1"/>
          <p:nvPr/>
        </p:nvSpPr>
        <p:spPr>
          <a:xfrm>
            <a:off x="548640" y="4041648"/>
            <a:ext cx="82296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BİR OPTİMİZER ADDIMI</a:t>
            </a:r>
            <a:endParaRPr lang="en-US" sz="1050" dirty="0"/>
          </a:p>
        </p:txBody>
      </p:sp>
      <p:sp>
        <p:nvSpPr>
          <p:cNvPr id="53" name="Shape 51"/>
          <p:cNvSpPr/>
          <p:nvPr/>
        </p:nvSpPr>
        <p:spPr>
          <a:xfrm>
            <a:off x="548640" y="4334256"/>
            <a:ext cx="1316736" cy="658368"/>
          </a:xfrm>
          <a:prstGeom prst="rect">
            <a:avLst/>
          </a:prstGeom>
          <a:solidFill>
            <a:srgbClr val="F4F7F9"/>
          </a:solidFill>
          <a:ln/>
        </p:spPr>
      </p:sp>
      <p:sp>
        <p:nvSpPr>
          <p:cNvPr id="54" name="Text 52"/>
          <p:cNvSpPr txBox="1"/>
          <p:nvPr/>
        </p:nvSpPr>
        <p:spPr>
          <a:xfrm>
            <a:off x="548640"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microbatch</a:t>
            </a:r>
            <a:endParaRPr lang="en-US" sz="950" dirty="0"/>
          </a:p>
          <a:p>
            <a:pPr marL="0" indent="0" algn="ctr">
              <a:buNone/>
            </a:pPr>
            <a:r>
              <a:rPr lang="en-US" sz="950" dirty="0">
                <a:solidFill>
                  <a:srgbClr val="0E2438"/>
                </a:solidFill>
                <a:latin typeface="Calibri" pitchFamily="34" charset="0"/>
                <a:ea typeface="Calibri" pitchFamily="34" charset="-122"/>
                <a:cs typeface="Calibri" pitchFamily="34" charset="-120"/>
              </a:rPr>
              <a:t>64 × 512</a:t>
            </a:r>
            <a:endParaRPr lang="en-US" sz="950" dirty="0"/>
          </a:p>
        </p:txBody>
      </p:sp>
      <p:sp>
        <p:nvSpPr>
          <p:cNvPr id="55" name="Shape 53"/>
          <p:cNvSpPr/>
          <p:nvPr/>
        </p:nvSpPr>
        <p:spPr>
          <a:xfrm>
            <a:off x="1892808" y="4590288"/>
            <a:ext cx="182880" cy="146304"/>
          </a:xfrm>
          <a:prstGeom prst="rightArrow">
            <a:avLst/>
          </a:prstGeom>
          <a:solidFill>
            <a:srgbClr val="C7D3DD"/>
          </a:solidFill>
          <a:ln/>
        </p:spPr>
      </p:sp>
      <p:sp>
        <p:nvSpPr>
          <p:cNvPr id="56" name="Shape 54"/>
          <p:cNvSpPr/>
          <p:nvPr/>
        </p:nvSpPr>
        <p:spPr>
          <a:xfrm>
            <a:off x="2121408" y="4334256"/>
            <a:ext cx="1316736" cy="658368"/>
          </a:xfrm>
          <a:prstGeom prst="rect">
            <a:avLst/>
          </a:prstGeom>
          <a:solidFill>
            <a:srgbClr val="F4F7F9"/>
          </a:solidFill>
          <a:ln/>
        </p:spPr>
      </p:sp>
      <p:sp>
        <p:nvSpPr>
          <p:cNvPr id="57" name="Text 55"/>
          <p:cNvSpPr txBox="1"/>
          <p:nvPr/>
        </p:nvSpPr>
        <p:spPr>
          <a:xfrm>
            <a:off x="2121408"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forward</a:t>
            </a:r>
            <a:endParaRPr lang="en-US" sz="950" dirty="0"/>
          </a:p>
        </p:txBody>
      </p:sp>
      <p:sp>
        <p:nvSpPr>
          <p:cNvPr id="58" name="Shape 56"/>
          <p:cNvSpPr/>
          <p:nvPr/>
        </p:nvSpPr>
        <p:spPr>
          <a:xfrm>
            <a:off x="3465576" y="4590288"/>
            <a:ext cx="182880" cy="146304"/>
          </a:xfrm>
          <a:prstGeom prst="rightArrow">
            <a:avLst/>
          </a:prstGeom>
          <a:solidFill>
            <a:srgbClr val="C7D3DD"/>
          </a:solidFill>
          <a:ln/>
        </p:spPr>
      </p:sp>
      <p:sp>
        <p:nvSpPr>
          <p:cNvPr id="59" name="Shape 57"/>
          <p:cNvSpPr/>
          <p:nvPr/>
        </p:nvSpPr>
        <p:spPr>
          <a:xfrm>
            <a:off x="3694176" y="4334256"/>
            <a:ext cx="1316736" cy="658368"/>
          </a:xfrm>
          <a:prstGeom prst="rect">
            <a:avLst/>
          </a:prstGeom>
          <a:solidFill>
            <a:srgbClr val="F4F7F9"/>
          </a:solidFill>
          <a:ln/>
        </p:spPr>
      </p:sp>
      <p:sp>
        <p:nvSpPr>
          <p:cNvPr id="60" name="Text 58"/>
          <p:cNvSpPr txBox="1"/>
          <p:nvPr/>
        </p:nvSpPr>
        <p:spPr>
          <a:xfrm>
            <a:off x="3694176"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causal loss</a:t>
            </a:r>
            <a:endParaRPr lang="en-US" sz="950" dirty="0"/>
          </a:p>
          <a:p>
            <a:pPr marL="0" indent="0" algn="ctr">
              <a:buNone/>
            </a:pPr>
            <a:r>
              <a:rPr lang="en-US" sz="950" dirty="0">
                <a:solidFill>
                  <a:srgbClr val="0E2438"/>
                </a:solidFill>
                <a:latin typeface="Calibri" pitchFamily="34" charset="0"/>
                <a:ea typeface="Calibri" pitchFamily="34" charset="-122"/>
                <a:cs typeface="Calibri" pitchFamily="34" charset="-120"/>
              </a:rPr>
              <a:t>(next-token NLL)</a:t>
            </a:r>
            <a:endParaRPr lang="en-US" sz="950" dirty="0"/>
          </a:p>
        </p:txBody>
      </p:sp>
      <p:sp>
        <p:nvSpPr>
          <p:cNvPr id="61" name="Shape 59"/>
          <p:cNvSpPr/>
          <p:nvPr/>
        </p:nvSpPr>
        <p:spPr>
          <a:xfrm>
            <a:off x="5038344" y="4590288"/>
            <a:ext cx="182880" cy="146304"/>
          </a:xfrm>
          <a:prstGeom prst="rightArrow">
            <a:avLst/>
          </a:prstGeom>
          <a:solidFill>
            <a:srgbClr val="C7D3DD"/>
          </a:solidFill>
          <a:ln/>
        </p:spPr>
      </p:sp>
      <p:sp>
        <p:nvSpPr>
          <p:cNvPr id="62" name="Shape 60"/>
          <p:cNvSpPr/>
          <p:nvPr/>
        </p:nvSpPr>
        <p:spPr>
          <a:xfrm>
            <a:off x="5266944" y="4334256"/>
            <a:ext cx="1316736" cy="658368"/>
          </a:xfrm>
          <a:prstGeom prst="rect">
            <a:avLst/>
          </a:prstGeom>
          <a:solidFill>
            <a:srgbClr val="F4F7F9"/>
          </a:solidFill>
          <a:ln/>
        </p:spPr>
      </p:sp>
      <p:sp>
        <p:nvSpPr>
          <p:cNvPr id="63" name="Text 61"/>
          <p:cNvSpPr txBox="1"/>
          <p:nvPr/>
        </p:nvSpPr>
        <p:spPr>
          <a:xfrm>
            <a:off x="5266944"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backward</a:t>
            </a:r>
            <a:endParaRPr lang="en-US" sz="950" dirty="0"/>
          </a:p>
        </p:txBody>
      </p:sp>
      <p:sp>
        <p:nvSpPr>
          <p:cNvPr id="64" name="Shape 62"/>
          <p:cNvSpPr/>
          <p:nvPr/>
        </p:nvSpPr>
        <p:spPr>
          <a:xfrm>
            <a:off x="6611112" y="4590288"/>
            <a:ext cx="182880" cy="146304"/>
          </a:xfrm>
          <a:prstGeom prst="rightArrow">
            <a:avLst/>
          </a:prstGeom>
          <a:solidFill>
            <a:srgbClr val="C7D3DD"/>
          </a:solidFill>
          <a:ln/>
        </p:spPr>
      </p:sp>
      <p:sp>
        <p:nvSpPr>
          <p:cNvPr id="65" name="Shape 63"/>
          <p:cNvSpPr/>
          <p:nvPr/>
        </p:nvSpPr>
        <p:spPr>
          <a:xfrm>
            <a:off x="6839712" y="4334256"/>
            <a:ext cx="1316736" cy="658368"/>
          </a:xfrm>
          <a:prstGeom prst="rect">
            <a:avLst/>
          </a:prstGeom>
          <a:solidFill>
            <a:srgbClr val="F4F7F9"/>
          </a:solidFill>
          <a:ln/>
        </p:spPr>
      </p:sp>
      <p:sp>
        <p:nvSpPr>
          <p:cNvPr id="66" name="Text 64"/>
          <p:cNvSpPr txBox="1"/>
          <p:nvPr/>
        </p:nvSpPr>
        <p:spPr>
          <a:xfrm>
            <a:off x="6839712"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gradient</a:t>
            </a:r>
            <a:endParaRPr lang="en-US" sz="950" dirty="0"/>
          </a:p>
          <a:p>
            <a:pPr marL="0" indent="0" algn="ctr">
              <a:buNone/>
            </a:pPr>
            <a:r>
              <a:rPr lang="en-US" sz="950" dirty="0">
                <a:solidFill>
                  <a:srgbClr val="0E2438"/>
                </a:solidFill>
                <a:latin typeface="Calibri" pitchFamily="34" charset="0"/>
                <a:ea typeface="Calibri" pitchFamily="34" charset="-122"/>
                <a:cs typeface="Calibri" pitchFamily="34" charset="-120"/>
              </a:rPr>
              <a:t>accumulation × 2</a:t>
            </a:r>
            <a:endParaRPr lang="en-US" sz="950" dirty="0"/>
          </a:p>
        </p:txBody>
      </p:sp>
      <p:sp>
        <p:nvSpPr>
          <p:cNvPr id="67" name="Shape 65"/>
          <p:cNvSpPr/>
          <p:nvPr/>
        </p:nvSpPr>
        <p:spPr>
          <a:xfrm>
            <a:off x="8183880" y="4590288"/>
            <a:ext cx="182880" cy="146304"/>
          </a:xfrm>
          <a:prstGeom prst="rightArrow">
            <a:avLst/>
          </a:prstGeom>
          <a:solidFill>
            <a:srgbClr val="C7D3DD"/>
          </a:solidFill>
          <a:ln/>
        </p:spPr>
      </p:sp>
      <p:sp>
        <p:nvSpPr>
          <p:cNvPr id="68" name="Shape 66"/>
          <p:cNvSpPr/>
          <p:nvPr/>
        </p:nvSpPr>
        <p:spPr>
          <a:xfrm>
            <a:off x="8412480" y="4334256"/>
            <a:ext cx="1316736" cy="658368"/>
          </a:xfrm>
          <a:prstGeom prst="rect">
            <a:avLst/>
          </a:prstGeom>
          <a:solidFill>
            <a:srgbClr val="E8F1F7"/>
          </a:solidFill>
          <a:ln w="15240">
            <a:solidFill>
              <a:srgbClr val="0072B2"/>
            </a:solidFill>
            <a:prstDash val="solid"/>
          </a:ln>
        </p:spPr>
      </p:sp>
      <p:sp>
        <p:nvSpPr>
          <p:cNvPr id="69" name="Text 67"/>
          <p:cNvSpPr txBox="1"/>
          <p:nvPr/>
        </p:nvSpPr>
        <p:spPr>
          <a:xfrm>
            <a:off x="8412480" y="4334256"/>
            <a:ext cx="1316736" cy="658368"/>
          </a:xfrm>
          <a:prstGeom prst="rect">
            <a:avLst/>
          </a:prstGeom>
          <a:noFill/>
          <a:ln/>
        </p:spPr>
        <p:txBody>
          <a:bodyPr wrap="square" lIns="0" tIns="0" rIns="0" bIns="0" rtlCol="0" anchor="ctr"/>
          <a:lstStyle/>
          <a:p>
            <a:pPr marL="0" indent="0" algn="ctr">
              <a:buNone/>
            </a:pPr>
            <a:r>
              <a:rPr lang="en-US" sz="950" dirty="0">
                <a:solidFill>
                  <a:srgbClr val="0E2438"/>
                </a:solidFill>
                <a:latin typeface="Calibri" pitchFamily="34" charset="0"/>
                <a:ea typeface="Calibri" pitchFamily="34" charset="-122"/>
                <a:cs typeface="Calibri" pitchFamily="34" charset="-120"/>
              </a:rPr>
              <a:t>clip 1.0  →</a:t>
            </a:r>
            <a:endParaRPr lang="en-US" sz="950" dirty="0"/>
          </a:p>
          <a:p>
            <a:pPr marL="0" indent="0" algn="ctr">
              <a:buNone/>
            </a:pPr>
            <a:r>
              <a:rPr lang="en-US" sz="950" dirty="0">
                <a:solidFill>
                  <a:srgbClr val="0E2438"/>
                </a:solidFill>
                <a:latin typeface="Calibri" pitchFamily="34" charset="0"/>
                <a:ea typeface="Calibri" pitchFamily="34" charset="-122"/>
                <a:cs typeface="Calibri" pitchFamily="34" charset="-120"/>
              </a:rPr>
              <a:t>optimizer addımı</a:t>
            </a:r>
            <a:endParaRPr lang="en-US" sz="950" dirty="0"/>
          </a:p>
        </p:txBody>
      </p:sp>
      <p:sp>
        <p:nvSpPr>
          <p:cNvPr id="70" name="Text 68"/>
          <p:cNvSpPr txBox="1"/>
          <p:nvPr/>
        </p:nvSpPr>
        <p:spPr>
          <a:xfrm>
            <a:off x="548640" y="5102352"/>
            <a:ext cx="8686800" cy="274320"/>
          </a:xfrm>
          <a:prstGeom prst="rect">
            <a:avLst/>
          </a:prstGeom>
          <a:noFill/>
          <a:ln/>
        </p:spPr>
        <p:txBody>
          <a:bodyPr wrap="square" lIns="0" tIns="0" rIns="0" bIns="0" rtlCol="0" anchor="ctr"/>
          <a:lstStyle/>
          <a:p>
            <a:pPr marL="0" indent="0">
              <a:buNone/>
            </a:pPr>
            <a:r>
              <a:rPr lang="en-US" sz="950" i="1" dirty="0">
                <a:solidFill>
                  <a:srgbClr val="5F7082"/>
                </a:solidFill>
                <a:latin typeface="Calibri" pitchFamily="34" charset="0"/>
                <a:ea typeface="Calibri" pitchFamily="34" charset="-122"/>
                <a:cs typeface="Calibri" pitchFamily="34" charset="-120"/>
              </a:rPr>
              <a:t>64 sequence × 512 token × 2 accumulation  =  65 536 token/addım   ·   65 536 × 763 addım  →  50M sərhədində dayanır</a:t>
            </a:r>
            <a:endParaRPr lang="en-US" sz="950" dirty="0"/>
          </a:p>
        </p:txBody>
      </p:sp>
      <p:sp>
        <p:nvSpPr>
          <p:cNvPr id="71" name="Shape 69"/>
          <p:cNvSpPr/>
          <p:nvPr/>
        </p:nvSpPr>
        <p:spPr>
          <a:xfrm>
            <a:off x="9436608" y="4041648"/>
            <a:ext cx="2203704" cy="1371600"/>
          </a:xfrm>
          <a:prstGeom prst="roundRect">
            <a:avLst>
              <a:gd name="adj" fmla="val 4667"/>
            </a:avLst>
          </a:prstGeom>
          <a:solidFill>
            <a:srgbClr val="12324F"/>
          </a:solidFill>
          <a:ln/>
        </p:spPr>
      </p:sp>
      <p:sp>
        <p:nvSpPr>
          <p:cNvPr id="72" name="Text 70"/>
          <p:cNvSpPr txBox="1"/>
          <p:nvPr/>
        </p:nvSpPr>
        <p:spPr>
          <a:xfrm>
            <a:off x="9436608" y="4242816"/>
            <a:ext cx="2203704" cy="4572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50 000 000</a:t>
            </a:r>
            <a:endParaRPr lang="en-US" sz="2100" dirty="0"/>
          </a:p>
        </p:txBody>
      </p:sp>
      <p:sp>
        <p:nvSpPr>
          <p:cNvPr id="73" name="Text 71"/>
          <p:cNvSpPr txBox="1"/>
          <p:nvPr/>
        </p:nvSpPr>
        <p:spPr>
          <a:xfrm>
            <a:off x="9436608" y="4718304"/>
            <a:ext cx="2203704" cy="457200"/>
          </a:xfrm>
          <a:prstGeom prst="rect">
            <a:avLst/>
          </a:prstGeom>
          <a:noFill/>
          <a:ln/>
        </p:spPr>
        <p:txBody>
          <a:bodyPr wrap="square" lIns="0" tIns="0" rIns="0" bIns="0" rtlCol="0" anchor="ctr"/>
          <a:lstStyle/>
          <a:p>
            <a:pPr marL="0" indent="0" algn="ctr">
              <a:buNone/>
            </a:pPr>
            <a:r>
              <a:rPr lang="en-US" sz="950" dirty="0">
                <a:solidFill>
                  <a:srgbClr val="A8BDCF"/>
                </a:solidFill>
                <a:latin typeface="Calibri" pitchFamily="34" charset="0"/>
                <a:ea typeface="Calibri" pitchFamily="34" charset="-122"/>
                <a:cs typeface="Calibri" pitchFamily="34" charset="-120"/>
              </a:rPr>
              <a:t>token — hər 25 run üçün</a:t>
            </a:r>
            <a:endParaRPr lang="en-US" sz="950" dirty="0"/>
          </a:p>
          <a:p>
            <a:pPr marL="0" indent="0" algn="ctr">
              <a:buNone/>
            </a:pPr>
            <a:r>
              <a:rPr lang="en-US" sz="950" dirty="0">
                <a:solidFill>
                  <a:srgbClr val="A8BDCF"/>
                </a:solidFill>
                <a:latin typeface="Calibri" pitchFamily="34" charset="0"/>
                <a:ea typeface="Calibri" pitchFamily="34" charset="-122"/>
                <a:cs typeface="Calibri" pitchFamily="34" charset="-120"/>
              </a:rPr>
              <a:t>artıq da yox, əskik də yox</a:t>
            </a:r>
            <a:endParaRPr lang="en-US" sz="950" dirty="0"/>
          </a:p>
        </p:txBody>
      </p:sp>
      <p:sp>
        <p:nvSpPr>
          <p:cNvPr id="74" name="Shape 72"/>
          <p:cNvSpPr/>
          <p:nvPr/>
        </p:nvSpPr>
        <p:spPr>
          <a:xfrm>
            <a:off x="548640" y="5559552"/>
            <a:ext cx="11091672" cy="457200"/>
          </a:xfrm>
          <a:prstGeom prst="roundRect">
            <a:avLst>
              <a:gd name="adj" fmla="val 14000"/>
            </a:avLst>
          </a:prstGeom>
          <a:solidFill>
            <a:srgbClr val="EAF0F4"/>
          </a:solidFill>
          <a:ln/>
        </p:spPr>
      </p:sp>
      <p:sp>
        <p:nvSpPr>
          <p:cNvPr id="75" name="Text 73"/>
          <p:cNvSpPr txBox="1"/>
          <p:nvPr/>
        </p:nvSpPr>
        <p:spPr>
          <a:xfrm>
            <a:off x="713232" y="5577840"/>
            <a:ext cx="10762488" cy="45720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Experimental control:  </a:t>
            </a:r>
            <a:r>
              <a:rPr lang="en-US" sz="1200" dirty="0">
                <a:solidFill>
                  <a:srgbClr val="14202E"/>
                </a:solidFill>
                <a:latin typeface="Calibri" pitchFamily="34" charset="0"/>
                <a:ea typeface="Calibri" pitchFamily="34" charset="-122"/>
                <a:cs typeface="Calibri" pitchFamily="34" charset="-120"/>
              </a:rPr>
              <a:t>Training reseptinin hər elementi dondurulub: eyni batch quruluşu, eyni optimizer, eyni schedule və eyni dayanma şərti — 25 run-un hamısı üçün.</a:t>
            </a:r>
            <a:endParaRPr lang="en-US" sz="1200" dirty="0"/>
          </a:p>
        </p:txBody>
      </p:sp>
      <p:sp>
        <p:nvSpPr>
          <p:cNvPr id="76" name="Text 74"/>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77" name="Text 75"/>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src/training/optimizer.py · src/training/trainer.py · workspace.json</a:t>
            </a:r>
            <a:endParaRPr lang="en-US" sz="850" dirty="0"/>
          </a:p>
        </p:txBody>
      </p:sp>
      <p:sp>
        <p:nvSpPr>
          <p:cNvPr id="78" name="Text 76"/>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Deterministic training niyə vacib idi?</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Eyni giriş → eyni çıxış: nəticə təsadüfi runtime davranışından deyil, metoddan asılı olmalıdır</a:t>
            </a:r>
            <a:endParaRPr lang="en-US" sz="1300" dirty="0"/>
          </a:p>
        </p:txBody>
      </p:sp>
      <p:sp>
        <p:nvSpPr>
          <p:cNvPr id="5" name="Shape 3"/>
          <p:cNvSpPr/>
          <p:nvPr/>
        </p:nvSpPr>
        <p:spPr>
          <a:xfrm>
            <a:off x="548640" y="1554480"/>
            <a:ext cx="3931920" cy="2432304"/>
          </a:xfrm>
          <a:prstGeom prst="roundRect">
            <a:avLst>
              <a:gd name="adj" fmla="val 2632"/>
            </a:avLst>
          </a:prstGeom>
          <a:solidFill>
            <a:srgbClr val="F4F7F9"/>
          </a:solidFill>
          <a:ln/>
        </p:spPr>
      </p:sp>
      <p:sp>
        <p:nvSpPr>
          <p:cNvPr id="6" name="Text 4"/>
          <p:cNvSpPr txBox="1"/>
          <p:nvPr/>
        </p:nvSpPr>
        <p:spPr>
          <a:xfrm>
            <a:off x="713232" y="1645920"/>
            <a:ext cx="3566160" cy="237744"/>
          </a:xfrm>
          <a:prstGeom prst="rect">
            <a:avLst/>
          </a:prstGeom>
          <a:noFill/>
          <a:ln/>
        </p:spPr>
        <p:txBody>
          <a:bodyPr wrap="square" lIns="0" tIns="0" rIns="0" bIns="0" rtlCol="0" anchor="ctr"/>
          <a:lstStyle/>
          <a:p>
            <a:pPr marL="0" indent="0">
              <a:buNone/>
            </a:pPr>
            <a:r>
              <a:rPr lang="en-US" sz="1100" b="1" kern="0" spc="110" dirty="0">
                <a:solidFill>
                  <a:srgbClr val="12324F"/>
                </a:solidFill>
                <a:latin typeface="Calibri" pitchFamily="34" charset="0"/>
                <a:ea typeface="Calibri" pitchFamily="34" charset="-122"/>
                <a:cs typeface="Calibri" pitchFamily="34" charset="-120"/>
              </a:rPr>
              <a:t>PROSES A</a:t>
            </a:r>
            <a:endParaRPr lang="en-US" sz="1100" dirty="0"/>
          </a:p>
        </p:txBody>
      </p:sp>
      <p:sp>
        <p:nvSpPr>
          <p:cNvPr id="7" name="Shape 5"/>
          <p:cNvSpPr/>
          <p:nvPr/>
        </p:nvSpPr>
        <p:spPr>
          <a:xfrm>
            <a:off x="713232" y="1956816"/>
            <a:ext cx="3602736" cy="274320"/>
          </a:xfrm>
          <a:prstGeom prst="rect">
            <a:avLst/>
          </a:prstGeom>
          <a:solidFill>
            <a:srgbClr val="FFFFFF"/>
          </a:solidFill>
          <a:ln w="12700">
            <a:solidFill>
              <a:srgbClr val="C9D6DF"/>
            </a:solidFill>
            <a:prstDash val="solid"/>
          </a:ln>
        </p:spPr>
      </p:sp>
      <p:sp>
        <p:nvSpPr>
          <p:cNvPr id="8" name="Text 6"/>
          <p:cNvSpPr txBox="1"/>
          <p:nvPr/>
        </p:nvSpPr>
        <p:spPr>
          <a:xfrm>
            <a:off x="841248" y="195681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seed</a:t>
            </a:r>
            <a:endParaRPr lang="en-US" sz="1000" dirty="0"/>
          </a:p>
        </p:txBody>
      </p:sp>
      <p:sp>
        <p:nvSpPr>
          <p:cNvPr id="9" name="Shape 7"/>
          <p:cNvSpPr/>
          <p:nvPr/>
        </p:nvSpPr>
        <p:spPr>
          <a:xfrm>
            <a:off x="713232" y="2276856"/>
            <a:ext cx="3602736" cy="274320"/>
          </a:xfrm>
          <a:prstGeom prst="rect">
            <a:avLst/>
          </a:prstGeom>
          <a:solidFill>
            <a:srgbClr val="FFFFFF"/>
          </a:solidFill>
          <a:ln w="12700">
            <a:solidFill>
              <a:srgbClr val="C9D6DF"/>
            </a:solidFill>
            <a:prstDash val="solid"/>
          </a:ln>
        </p:spPr>
      </p:sp>
      <p:sp>
        <p:nvSpPr>
          <p:cNvPr id="10" name="Text 8"/>
          <p:cNvSpPr txBox="1"/>
          <p:nvPr/>
        </p:nvSpPr>
        <p:spPr>
          <a:xfrm>
            <a:off x="841248" y="227685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data ardıcıllığı</a:t>
            </a:r>
            <a:endParaRPr lang="en-US" sz="1000" dirty="0"/>
          </a:p>
        </p:txBody>
      </p:sp>
      <p:sp>
        <p:nvSpPr>
          <p:cNvPr id="11" name="Shape 9"/>
          <p:cNvSpPr/>
          <p:nvPr/>
        </p:nvSpPr>
        <p:spPr>
          <a:xfrm>
            <a:off x="713232" y="2596896"/>
            <a:ext cx="3602736" cy="274320"/>
          </a:xfrm>
          <a:prstGeom prst="rect">
            <a:avLst/>
          </a:prstGeom>
          <a:solidFill>
            <a:srgbClr val="FFFFFF"/>
          </a:solidFill>
          <a:ln w="12700">
            <a:solidFill>
              <a:srgbClr val="C9D6DF"/>
            </a:solidFill>
            <a:prstDash val="solid"/>
          </a:ln>
        </p:spPr>
      </p:sp>
      <p:sp>
        <p:nvSpPr>
          <p:cNvPr id="12" name="Text 10"/>
          <p:cNvSpPr txBox="1"/>
          <p:nvPr/>
        </p:nvSpPr>
        <p:spPr>
          <a:xfrm>
            <a:off x="841248" y="259689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config</a:t>
            </a:r>
            <a:endParaRPr lang="en-US" sz="1000" dirty="0"/>
          </a:p>
        </p:txBody>
      </p:sp>
      <p:sp>
        <p:nvSpPr>
          <p:cNvPr id="13" name="Shape 11"/>
          <p:cNvSpPr/>
          <p:nvPr/>
        </p:nvSpPr>
        <p:spPr>
          <a:xfrm>
            <a:off x="713232" y="2916936"/>
            <a:ext cx="3602736" cy="274320"/>
          </a:xfrm>
          <a:prstGeom prst="rect">
            <a:avLst/>
          </a:prstGeom>
          <a:solidFill>
            <a:srgbClr val="FFFFFF"/>
          </a:solidFill>
          <a:ln w="12700">
            <a:solidFill>
              <a:srgbClr val="C9D6DF"/>
            </a:solidFill>
            <a:prstDash val="solid"/>
          </a:ln>
        </p:spPr>
      </p:sp>
      <p:sp>
        <p:nvSpPr>
          <p:cNvPr id="14" name="Text 12"/>
          <p:cNvSpPr txBox="1"/>
          <p:nvPr/>
        </p:nvSpPr>
        <p:spPr>
          <a:xfrm>
            <a:off x="841248" y="291693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checkpoint vəziyyəti</a:t>
            </a:r>
            <a:endParaRPr lang="en-US" sz="1000" dirty="0"/>
          </a:p>
        </p:txBody>
      </p:sp>
      <p:sp>
        <p:nvSpPr>
          <p:cNvPr id="15" name="Shape 13"/>
          <p:cNvSpPr/>
          <p:nvPr/>
        </p:nvSpPr>
        <p:spPr>
          <a:xfrm>
            <a:off x="713232" y="3236976"/>
            <a:ext cx="3602736" cy="274320"/>
          </a:xfrm>
          <a:prstGeom prst="rect">
            <a:avLst/>
          </a:prstGeom>
          <a:solidFill>
            <a:srgbClr val="FFFFFF"/>
          </a:solidFill>
          <a:ln w="12700">
            <a:solidFill>
              <a:srgbClr val="C9D6DF"/>
            </a:solidFill>
            <a:prstDash val="solid"/>
          </a:ln>
        </p:spPr>
      </p:sp>
      <p:sp>
        <p:nvSpPr>
          <p:cNvPr id="16" name="Text 14"/>
          <p:cNvSpPr txBox="1"/>
          <p:nvPr/>
        </p:nvSpPr>
        <p:spPr>
          <a:xfrm>
            <a:off x="841248" y="323697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CUDA RNG vəziyyəti</a:t>
            </a:r>
            <a:endParaRPr lang="en-US" sz="1000" dirty="0"/>
          </a:p>
        </p:txBody>
      </p:sp>
      <p:sp>
        <p:nvSpPr>
          <p:cNvPr id="17" name="Shape 15"/>
          <p:cNvSpPr/>
          <p:nvPr/>
        </p:nvSpPr>
        <p:spPr>
          <a:xfrm>
            <a:off x="713232" y="3557016"/>
            <a:ext cx="3602736" cy="274320"/>
          </a:xfrm>
          <a:prstGeom prst="rect">
            <a:avLst/>
          </a:prstGeom>
          <a:solidFill>
            <a:srgbClr val="FFFFFF"/>
          </a:solidFill>
          <a:ln w="12700">
            <a:solidFill>
              <a:srgbClr val="C9D6DF"/>
            </a:solidFill>
            <a:prstDash val="solid"/>
          </a:ln>
        </p:spPr>
      </p:sp>
      <p:sp>
        <p:nvSpPr>
          <p:cNvPr id="18" name="Text 16"/>
          <p:cNvSpPr txBox="1"/>
          <p:nvPr/>
        </p:nvSpPr>
        <p:spPr>
          <a:xfrm>
            <a:off x="841248" y="355701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optimizer vəziyyəti</a:t>
            </a:r>
            <a:endParaRPr lang="en-US" sz="1000" dirty="0"/>
          </a:p>
        </p:txBody>
      </p:sp>
      <p:sp>
        <p:nvSpPr>
          <p:cNvPr id="19" name="Shape 17"/>
          <p:cNvSpPr/>
          <p:nvPr/>
        </p:nvSpPr>
        <p:spPr>
          <a:xfrm>
            <a:off x="7708392" y="1554480"/>
            <a:ext cx="3931920" cy="2432304"/>
          </a:xfrm>
          <a:prstGeom prst="roundRect">
            <a:avLst>
              <a:gd name="adj" fmla="val 2632"/>
            </a:avLst>
          </a:prstGeom>
          <a:solidFill>
            <a:srgbClr val="F4F7F9"/>
          </a:solidFill>
          <a:ln/>
        </p:spPr>
      </p:sp>
      <p:sp>
        <p:nvSpPr>
          <p:cNvPr id="20" name="Text 18"/>
          <p:cNvSpPr txBox="1"/>
          <p:nvPr/>
        </p:nvSpPr>
        <p:spPr>
          <a:xfrm>
            <a:off x="7872984" y="1645920"/>
            <a:ext cx="3566160" cy="237744"/>
          </a:xfrm>
          <a:prstGeom prst="rect">
            <a:avLst/>
          </a:prstGeom>
          <a:noFill/>
          <a:ln/>
        </p:spPr>
        <p:txBody>
          <a:bodyPr wrap="square" lIns="0" tIns="0" rIns="0" bIns="0" rtlCol="0" anchor="ctr"/>
          <a:lstStyle/>
          <a:p>
            <a:pPr marL="0" indent="0">
              <a:buNone/>
            </a:pPr>
            <a:r>
              <a:rPr lang="en-US" sz="1100" b="1" kern="0" spc="110" dirty="0">
                <a:solidFill>
                  <a:srgbClr val="12324F"/>
                </a:solidFill>
                <a:latin typeface="Calibri" pitchFamily="34" charset="0"/>
                <a:ea typeface="Calibri" pitchFamily="34" charset="-122"/>
                <a:cs typeface="Calibri" pitchFamily="34" charset="-120"/>
              </a:rPr>
              <a:t>PROSES B</a:t>
            </a:r>
            <a:endParaRPr lang="en-US" sz="1100" dirty="0"/>
          </a:p>
        </p:txBody>
      </p:sp>
      <p:sp>
        <p:nvSpPr>
          <p:cNvPr id="21" name="Shape 19"/>
          <p:cNvSpPr/>
          <p:nvPr/>
        </p:nvSpPr>
        <p:spPr>
          <a:xfrm>
            <a:off x="7872984" y="1956816"/>
            <a:ext cx="3602736" cy="274320"/>
          </a:xfrm>
          <a:prstGeom prst="rect">
            <a:avLst/>
          </a:prstGeom>
          <a:solidFill>
            <a:srgbClr val="FFFFFF"/>
          </a:solidFill>
          <a:ln w="12700">
            <a:solidFill>
              <a:srgbClr val="C9D6DF"/>
            </a:solidFill>
            <a:prstDash val="solid"/>
          </a:ln>
        </p:spPr>
      </p:sp>
      <p:sp>
        <p:nvSpPr>
          <p:cNvPr id="22" name="Text 20"/>
          <p:cNvSpPr txBox="1"/>
          <p:nvPr/>
        </p:nvSpPr>
        <p:spPr>
          <a:xfrm>
            <a:off x="8001000" y="195681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seed</a:t>
            </a:r>
            <a:endParaRPr lang="en-US" sz="1000" dirty="0"/>
          </a:p>
        </p:txBody>
      </p:sp>
      <p:sp>
        <p:nvSpPr>
          <p:cNvPr id="23" name="Shape 21"/>
          <p:cNvSpPr/>
          <p:nvPr/>
        </p:nvSpPr>
        <p:spPr>
          <a:xfrm>
            <a:off x="7872984" y="2276856"/>
            <a:ext cx="3602736" cy="274320"/>
          </a:xfrm>
          <a:prstGeom prst="rect">
            <a:avLst/>
          </a:prstGeom>
          <a:solidFill>
            <a:srgbClr val="FFFFFF"/>
          </a:solidFill>
          <a:ln w="12700">
            <a:solidFill>
              <a:srgbClr val="C9D6DF"/>
            </a:solidFill>
            <a:prstDash val="solid"/>
          </a:ln>
        </p:spPr>
      </p:sp>
      <p:sp>
        <p:nvSpPr>
          <p:cNvPr id="24" name="Text 22"/>
          <p:cNvSpPr txBox="1"/>
          <p:nvPr/>
        </p:nvSpPr>
        <p:spPr>
          <a:xfrm>
            <a:off x="8001000" y="227685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data ardıcıllığı</a:t>
            </a:r>
            <a:endParaRPr lang="en-US" sz="1000" dirty="0"/>
          </a:p>
        </p:txBody>
      </p:sp>
      <p:sp>
        <p:nvSpPr>
          <p:cNvPr id="25" name="Shape 23"/>
          <p:cNvSpPr/>
          <p:nvPr/>
        </p:nvSpPr>
        <p:spPr>
          <a:xfrm>
            <a:off x="7872984" y="2596896"/>
            <a:ext cx="3602736" cy="274320"/>
          </a:xfrm>
          <a:prstGeom prst="rect">
            <a:avLst/>
          </a:prstGeom>
          <a:solidFill>
            <a:srgbClr val="FFFFFF"/>
          </a:solidFill>
          <a:ln w="12700">
            <a:solidFill>
              <a:srgbClr val="C9D6DF"/>
            </a:solidFill>
            <a:prstDash val="solid"/>
          </a:ln>
        </p:spPr>
      </p:sp>
      <p:sp>
        <p:nvSpPr>
          <p:cNvPr id="26" name="Text 24"/>
          <p:cNvSpPr txBox="1"/>
          <p:nvPr/>
        </p:nvSpPr>
        <p:spPr>
          <a:xfrm>
            <a:off x="8001000" y="259689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config</a:t>
            </a:r>
            <a:endParaRPr lang="en-US" sz="1000" dirty="0"/>
          </a:p>
        </p:txBody>
      </p:sp>
      <p:sp>
        <p:nvSpPr>
          <p:cNvPr id="27" name="Shape 25"/>
          <p:cNvSpPr/>
          <p:nvPr/>
        </p:nvSpPr>
        <p:spPr>
          <a:xfrm>
            <a:off x="7872984" y="2916936"/>
            <a:ext cx="3602736" cy="274320"/>
          </a:xfrm>
          <a:prstGeom prst="rect">
            <a:avLst/>
          </a:prstGeom>
          <a:solidFill>
            <a:srgbClr val="FFFFFF"/>
          </a:solidFill>
          <a:ln w="12700">
            <a:solidFill>
              <a:srgbClr val="C9D6DF"/>
            </a:solidFill>
            <a:prstDash val="solid"/>
          </a:ln>
        </p:spPr>
      </p:sp>
      <p:sp>
        <p:nvSpPr>
          <p:cNvPr id="28" name="Text 26"/>
          <p:cNvSpPr txBox="1"/>
          <p:nvPr/>
        </p:nvSpPr>
        <p:spPr>
          <a:xfrm>
            <a:off x="8001000" y="291693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checkpoint vəziyyəti</a:t>
            </a:r>
            <a:endParaRPr lang="en-US" sz="1000" dirty="0"/>
          </a:p>
        </p:txBody>
      </p:sp>
      <p:sp>
        <p:nvSpPr>
          <p:cNvPr id="29" name="Shape 27"/>
          <p:cNvSpPr/>
          <p:nvPr/>
        </p:nvSpPr>
        <p:spPr>
          <a:xfrm>
            <a:off x="7872984" y="3236976"/>
            <a:ext cx="3602736" cy="274320"/>
          </a:xfrm>
          <a:prstGeom prst="rect">
            <a:avLst/>
          </a:prstGeom>
          <a:solidFill>
            <a:srgbClr val="FFFFFF"/>
          </a:solidFill>
          <a:ln w="12700">
            <a:solidFill>
              <a:srgbClr val="C9D6DF"/>
            </a:solidFill>
            <a:prstDash val="solid"/>
          </a:ln>
        </p:spPr>
      </p:sp>
      <p:sp>
        <p:nvSpPr>
          <p:cNvPr id="30" name="Text 28"/>
          <p:cNvSpPr txBox="1"/>
          <p:nvPr/>
        </p:nvSpPr>
        <p:spPr>
          <a:xfrm>
            <a:off x="8001000" y="323697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CUDA RNG vəziyyəti</a:t>
            </a:r>
            <a:endParaRPr lang="en-US" sz="1000" dirty="0"/>
          </a:p>
        </p:txBody>
      </p:sp>
      <p:sp>
        <p:nvSpPr>
          <p:cNvPr id="31" name="Shape 29"/>
          <p:cNvSpPr/>
          <p:nvPr/>
        </p:nvSpPr>
        <p:spPr>
          <a:xfrm>
            <a:off x="7872984" y="3557016"/>
            <a:ext cx="3602736" cy="274320"/>
          </a:xfrm>
          <a:prstGeom prst="rect">
            <a:avLst/>
          </a:prstGeom>
          <a:solidFill>
            <a:srgbClr val="FFFFFF"/>
          </a:solidFill>
          <a:ln w="12700">
            <a:solidFill>
              <a:srgbClr val="C9D6DF"/>
            </a:solidFill>
            <a:prstDash val="solid"/>
          </a:ln>
        </p:spPr>
      </p:sp>
      <p:sp>
        <p:nvSpPr>
          <p:cNvPr id="32" name="Text 30"/>
          <p:cNvSpPr txBox="1"/>
          <p:nvPr/>
        </p:nvSpPr>
        <p:spPr>
          <a:xfrm>
            <a:off x="8001000" y="3557016"/>
            <a:ext cx="3383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optimizer vəziyyəti</a:t>
            </a:r>
            <a:endParaRPr lang="en-US" sz="1000" dirty="0"/>
          </a:p>
        </p:txBody>
      </p:sp>
      <p:sp>
        <p:nvSpPr>
          <p:cNvPr id="33" name="Text 31"/>
          <p:cNvSpPr txBox="1"/>
          <p:nvPr/>
        </p:nvSpPr>
        <p:spPr>
          <a:xfrm>
            <a:off x="4846320" y="2468880"/>
            <a:ext cx="2487168" cy="548640"/>
          </a:xfrm>
          <a:prstGeom prst="rect">
            <a:avLst/>
          </a:prstGeom>
          <a:noFill/>
          <a:ln/>
        </p:spPr>
        <p:txBody>
          <a:bodyPr wrap="square" lIns="0" tIns="0" rIns="0" bIns="0" rtlCol="0" anchor="ctr"/>
          <a:lstStyle/>
          <a:p>
            <a:pPr marL="0" indent="0" algn="ctr">
              <a:buNone/>
            </a:pPr>
            <a:r>
              <a:rPr lang="en-US" sz="3400" b="1" dirty="0">
                <a:solidFill>
                  <a:srgbClr val="8A99A8"/>
                </a:solidFill>
                <a:latin typeface="Cambria" pitchFamily="34" charset="0"/>
                <a:ea typeface="Cambria" pitchFamily="34" charset="-122"/>
                <a:cs typeface="Cambria" pitchFamily="34" charset="-120"/>
              </a:rPr>
              <a:t>=</a:t>
            </a:r>
            <a:endParaRPr lang="en-US" sz="3400" dirty="0"/>
          </a:p>
        </p:txBody>
      </p:sp>
      <p:sp>
        <p:nvSpPr>
          <p:cNvPr id="34" name="Text 32"/>
          <p:cNvSpPr txBox="1"/>
          <p:nvPr/>
        </p:nvSpPr>
        <p:spPr>
          <a:xfrm>
            <a:off x="4846320" y="3017520"/>
            <a:ext cx="2487168" cy="274320"/>
          </a:xfrm>
          <a:prstGeom prst="rect">
            <a:avLst/>
          </a:prstGeom>
          <a:noFill/>
          <a:ln/>
        </p:spPr>
        <p:txBody>
          <a:bodyPr wrap="square" lIns="0" tIns="0" rIns="0" bIns="0" rtlCol="0" anchor="ctr"/>
          <a:lstStyle/>
          <a:p>
            <a:pPr marL="0" indent="0" algn="ctr">
              <a:buNone/>
            </a:pPr>
            <a:r>
              <a:rPr lang="en-US" sz="1050" dirty="0">
                <a:solidFill>
                  <a:srgbClr val="5F7082"/>
                </a:solidFill>
                <a:latin typeface="Calibri" pitchFamily="34" charset="0"/>
                <a:ea typeface="Calibri" pitchFamily="34" charset="-122"/>
                <a:cs typeface="Calibri" pitchFamily="34" charset="-120"/>
              </a:rPr>
              <a:t>eyni giriş</a:t>
            </a:r>
            <a:endParaRPr lang="en-US" sz="1050" dirty="0"/>
          </a:p>
        </p:txBody>
      </p:sp>
      <p:sp>
        <p:nvSpPr>
          <p:cNvPr id="35" name="Shape 33"/>
          <p:cNvSpPr/>
          <p:nvPr/>
        </p:nvSpPr>
        <p:spPr>
          <a:xfrm>
            <a:off x="2286000" y="4059936"/>
            <a:ext cx="182880" cy="256032"/>
          </a:xfrm>
          <a:prstGeom prst="downArrow">
            <a:avLst/>
          </a:prstGeom>
          <a:solidFill>
            <a:srgbClr val="C7D3DD"/>
          </a:solidFill>
          <a:ln/>
        </p:spPr>
      </p:sp>
      <p:sp>
        <p:nvSpPr>
          <p:cNvPr id="36" name="Shape 34"/>
          <p:cNvSpPr/>
          <p:nvPr/>
        </p:nvSpPr>
        <p:spPr>
          <a:xfrm>
            <a:off x="9464040" y="4059936"/>
            <a:ext cx="182880" cy="256032"/>
          </a:xfrm>
          <a:prstGeom prst="downArrow">
            <a:avLst/>
          </a:prstGeom>
          <a:solidFill>
            <a:srgbClr val="C7D3DD"/>
          </a:solidFill>
          <a:ln/>
        </p:spPr>
      </p:sp>
      <p:sp>
        <p:nvSpPr>
          <p:cNvPr id="37" name="Shape 35"/>
          <p:cNvSpPr/>
          <p:nvPr/>
        </p:nvSpPr>
        <p:spPr>
          <a:xfrm>
            <a:off x="548640" y="4389120"/>
            <a:ext cx="3931920" cy="914400"/>
          </a:xfrm>
          <a:prstGeom prst="roundRect">
            <a:avLst>
              <a:gd name="adj" fmla="val 7000"/>
            </a:avLst>
          </a:prstGeom>
          <a:solidFill>
            <a:srgbClr val="E6F5EF"/>
          </a:solidFill>
          <a:ln/>
        </p:spPr>
      </p:sp>
      <p:sp>
        <p:nvSpPr>
          <p:cNvPr id="38" name="Text 36"/>
          <p:cNvSpPr txBox="1"/>
          <p:nvPr/>
        </p:nvSpPr>
        <p:spPr>
          <a:xfrm>
            <a:off x="749808" y="4480560"/>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loss</a:t>
            </a:r>
            <a:endParaRPr lang="en-US" sz="1050" dirty="0"/>
          </a:p>
        </p:txBody>
      </p:sp>
      <p:sp>
        <p:nvSpPr>
          <p:cNvPr id="39" name="Text 37"/>
          <p:cNvSpPr txBox="1"/>
          <p:nvPr/>
        </p:nvSpPr>
        <p:spPr>
          <a:xfrm>
            <a:off x="749808" y="4745736"/>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gradient hash</a:t>
            </a:r>
            <a:endParaRPr lang="en-US" sz="1050" dirty="0"/>
          </a:p>
        </p:txBody>
      </p:sp>
      <p:sp>
        <p:nvSpPr>
          <p:cNvPr id="40" name="Text 38"/>
          <p:cNvSpPr txBox="1"/>
          <p:nvPr/>
        </p:nvSpPr>
        <p:spPr>
          <a:xfrm>
            <a:off x="749808" y="5010912"/>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post-step model hash</a:t>
            </a:r>
            <a:endParaRPr lang="en-US" sz="1050" dirty="0"/>
          </a:p>
        </p:txBody>
      </p:sp>
      <p:sp>
        <p:nvSpPr>
          <p:cNvPr id="41" name="Shape 39"/>
          <p:cNvSpPr/>
          <p:nvPr/>
        </p:nvSpPr>
        <p:spPr>
          <a:xfrm>
            <a:off x="7708392" y="4389120"/>
            <a:ext cx="3931920" cy="914400"/>
          </a:xfrm>
          <a:prstGeom prst="roundRect">
            <a:avLst>
              <a:gd name="adj" fmla="val 7000"/>
            </a:avLst>
          </a:prstGeom>
          <a:solidFill>
            <a:srgbClr val="E6F5EF"/>
          </a:solidFill>
          <a:ln/>
        </p:spPr>
      </p:sp>
      <p:sp>
        <p:nvSpPr>
          <p:cNvPr id="42" name="Text 40"/>
          <p:cNvSpPr txBox="1"/>
          <p:nvPr/>
        </p:nvSpPr>
        <p:spPr>
          <a:xfrm>
            <a:off x="7909560" y="4480560"/>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loss</a:t>
            </a:r>
            <a:endParaRPr lang="en-US" sz="1050" dirty="0"/>
          </a:p>
        </p:txBody>
      </p:sp>
      <p:sp>
        <p:nvSpPr>
          <p:cNvPr id="43" name="Text 41"/>
          <p:cNvSpPr txBox="1"/>
          <p:nvPr/>
        </p:nvSpPr>
        <p:spPr>
          <a:xfrm>
            <a:off x="7909560" y="4745736"/>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gradient hash</a:t>
            </a:r>
            <a:endParaRPr lang="en-US" sz="1050" dirty="0"/>
          </a:p>
        </p:txBody>
      </p:sp>
      <p:sp>
        <p:nvSpPr>
          <p:cNvPr id="44" name="Text 42"/>
          <p:cNvSpPr txBox="1"/>
          <p:nvPr/>
        </p:nvSpPr>
        <p:spPr>
          <a:xfrm>
            <a:off x="7909560" y="5010912"/>
            <a:ext cx="3566160" cy="237744"/>
          </a:xfrm>
          <a:prstGeom prst="rect">
            <a:avLst/>
          </a:prstGeom>
          <a:noFill/>
          <a:ln/>
        </p:spPr>
        <p:txBody>
          <a:bodyPr wrap="square" lIns="0" tIns="0" rIns="0" bIns="0" rtlCol="0" anchor="ctr"/>
          <a:lstStyle/>
          <a:p>
            <a:pPr marL="0" indent="0">
              <a:buNone/>
            </a:pPr>
            <a:r>
              <a:rPr lang="en-US" sz="1050" b="1" dirty="0">
                <a:solidFill>
                  <a:srgbClr val="0B6B50"/>
                </a:solidFill>
                <a:latin typeface="Calibri" pitchFamily="34" charset="0"/>
                <a:ea typeface="Calibri" pitchFamily="34" charset="-122"/>
                <a:cs typeface="Calibri" pitchFamily="34" charset="-120"/>
              </a:rPr>
              <a:t>✓  eyni post-step model hash</a:t>
            </a:r>
            <a:endParaRPr lang="en-US" sz="1050" dirty="0"/>
          </a:p>
        </p:txBody>
      </p:sp>
      <p:sp>
        <p:nvSpPr>
          <p:cNvPr id="45" name="Text 43"/>
          <p:cNvSpPr txBox="1"/>
          <p:nvPr/>
        </p:nvSpPr>
        <p:spPr>
          <a:xfrm>
            <a:off x="4617720" y="4480560"/>
            <a:ext cx="2971800" cy="731520"/>
          </a:xfrm>
          <a:prstGeom prst="rect">
            <a:avLst/>
          </a:prstGeom>
          <a:noFill/>
          <a:ln/>
        </p:spPr>
        <p:txBody>
          <a:bodyPr wrap="square" lIns="0" tIns="0" rIns="0" bIns="0" rtlCol="0" anchor="ctr"/>
          <a:lstStyle/>
          <a:p>
            <a:pPr marL="0" indent="0" algn="ctr">
              <a:buNone/>
            </a:pPr>
            <a:r>
              <a:rPr lang="en-US" sz="1100" b="1" i="1" dirty="0">
                <a:solidFill>
                  <a:srgbClr val="12324F"/>
                </a:solidFill>
                <a:latin typeface="Calibri" pitchFamily="34" charset="0"/>
                <a:ea typeface="Calibri" pitchFamily="34" charset="-122"/>
                <a:cs typeface="Calibri" pitchFamily="34" charset="-120"/>
              </a:rPr>
              <a:t>“İki müstəqil CUDA prosesi eyni sınaqdan keçmiş training vəziyyətini verdi.”</a:t>
            </a:r>
            <a:endParaRPr lang="en-US" sz="1100" dirty="0"/>
          </a:p>
        </p:txBody>
      </p:sp>
      <p:sp>
        <p:nvSpPr>
          <p:cNvPr id="46" name="Shape 44"/>
          <p:cNvSpPr/>
          <p:nvPr/>
        </p:nvSpPr>
        <p:spPr>
          <a:xfrm>
            <a:off x="548640" y="5449824"/>
            <a:ext cx="5486400" cy="841248"/>
          </a:xfrm>
          <a:prstGeom prst="roundRect">
            <a:avLst>
              <a:gd name="adj" fmla="val 7609"/>
            </a:avLst>
          </a:prstGeom>
          <a:solidFill>
            <a:srgbClr val="EAF0F4"/>
          </a:solidFill>
          <a:ln/>
        </p:spPr>
      </p:sp>
      <p:sp>
        <p:nvSpPr>
          <p:cNvPr id="47" name="Text 45"/>
          <p:cNvSpPr txBox="1"/>
          <p:nvPr/>
        </p:nvSpPr>
        <p:spPr>
          <a:xfrm>
            <a:off x="713232" y="5522976"/>
            <a:ext cx="512064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TƏTBİQ OLUNAN PARAMETRLƏR</a:t>
            </a:r>
            <a:endParaRPr lang="en-US" sz="1050" dirty="0"/>
          </a:p>
        </p:txBody>
      </p:sp>
      <p:sp>
        <p:nvSpPr>
          <p:cNvPr id="48" name="Text 46"/>
          <p:cNvSpPr txBox="1"/>
          <p:nvPr/>
        </p:nvSpPr>
        <p:spPr>
          <a:xfrm>
            <a:off x="713232" y="5742432"/>
            <a:ext cx="5166360" cy="512064"/>
          </a:xfrm>
          <a:prstGeom prst="rect">
            <a:avLst/>
          </a:prstGeom>
          <a:noFill/>
          <a:ln/>
        </p:spPr>
        <p:txBody>
          <a:bodyPr wrap="square" lIns="0" tIns="0" rIns="0" bIns="0" rtlCol="0" anchor="ctr"/>
          <a:lstStyle/>
          <a:p>
            <a:pPr marL="0" indent="0">
              <a:buNone/>
            </a:pPr>
            <a:r>
              <a:rPr lang="en-US" sz="800" dirty="0">
                <a:solidFill>
                  <a:srgbClr val="14202E"/>
                </a:solidFill>
                <a:latin typeface="Courier New" pitchFamily="34" charset="0"/>
                <a:ea typeface="Courier New" pitchFamily="34" charset="-122"/>
                <a:cs typeface="Courier New" pitchFamily="34" charset="-120"/>
              </a:rPr>
              <a:t>torch.use_deterministic_algorithms  ·  cuDNN deterministic  ·  SDPA MATH backend  ·  CUBLAS_WORKSPACE_CONFIG=:4096:8  ·  resume zamanı RNG bərpası</a:t>
            </a:r>
            <a:endParaRPr lang="en-US" sz="800" dirty="0"/>
          </a:p>
        </p:txBody>
      </p:sp>
      <p:sp>
        <p:nvSpPr>
          <p:cNvPr id="49" name="Shape 47"/>
          <p:cNvSpPr/>
          <p:nvPr/>
        </p:nvSpPr>
        <p:spPr>
          <a:xfrm>
            <a:off x="6199632" y="5449824"/>
            <a:ext cx="5440680" cy="841248"/>
          </a:xfrm>
          <a:prstGeom prst="roundRect">
            <a:avLst>
              <a:gd name="adj" fmla="val 7609"/>
            </a:avLst>
          </a:prstGeom>
          <a:solidFill>
            <a:srgbClr val="FDF3EC"/>
          </a:solidFill>
          <a:ln/>
        </p:spPr>
      </p:sp>
      <p:sp>
        <p:nvSpPr>
          <p:cNvPr id="50" name="Text 48"/>
          <p:cNvSpPr txBox="1"/>
          <p:nvPr/>
        </p:nvSpPr>
        <p:spPr>
          <a:xfrm>
            <a:off x="6364224" y="5522976"/>
            <a:ext cx="512064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DÜRÜST MƏHDUDİYYƏT</a:t>
            </a:r>
            <a:endParaRPr lang="en-US" sz="1050" dirty="0"/>
          </a:p>
        </p:txBody>
      </p:sp>
      <p:sp>
        <p:nvSpPr>
          <p:cNvPr id="51" name="Text 49"/>
          <p:cNvSpPr txBox="1"/>
          <p:nvPr/>
        </p:nvSpPr>
        <p:spPr>
          <a:xfrm>
            <a:off x="6364224" y="5742432"/>
            <a:ext cx="5120640" cy="512064"/>
          </a:xfrm>
          <a:prstGeom prst="rect">
            <a:avLst/>
          </a:prstGeom>
          <a:noFill/>
          <a:ln/>
        </p:spPr>
        <p:txBody>
          <a:bodyPr wrap="square" lIns="0" tIns="0" rIns="0" bIns="0" rtlCol="0" anchor="ctr"/>
          <a:lstStyle/>
          <a:p>
            <a:pPr marL="0" indent="0">
              <a:buNone/>
            </a:pPr>
            <a:r>
              <a:rPr lang="en-US" sz="950" dirty="0">
                <a:solidFill>
                  <a:srgbClr val="14202E"/>
                </a:solidFill>
                <a:latin typeface="Calibri" pitchFamily="34" charset="0"/>
                <a:ea typeface="Calibri" pitchFamily="34" charset="-122"/>
                <a:cs typeface="Calibri" pitchFamily="34" charset="-120"/>
              </a:rPr>
              <a:t>Determinizm nəticələrin istənilən avadanlıq və kitabxana versiyasında bayt-bayt eyni olması demək DEYİL. İddiamız dardır: sınaqdan keçmiş runtime daxilində təkrarlana biləndir.</a:t>
            </a:r>
            <a:endParaRPr lang="en-US" sz="950" dirty="0"/>
          </a:p>
        </p:txBody>
      </p:sp>
      <p:sp>
        <p:nvSpPr>
          <p:cNvPr id="52" name="Text 50"/>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53" name="Text 51"/>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src/reproducibility/determinism.py · results/evaluation/runtime.json</a:t>
            </a:r>
            <a:endParaRPr lang="en-US" sz="850" dirty="0"/>
          </a:p>
        </p:txBody>
      </p:sp>
      <p:sp>
        <p:nvSpPr>
          <p:cNvPr id="54" name="Text 52"/>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A100 üzərində compute və batch seçimi</a:t>
            </a:r>
            <a:endParaRPr lang="en-US" sz="2500" dirty="0"/>
          </a:p>
        </p:txBody>
      </p:sp>
      <p:sp>
        <p:nvSpPr>
          <p:cNvPr id="4" name="Text 2"/>
          <p:cNvSpPr txBox="1"/>
          <p:nvPr/>
        </p:nvSpPr>
        <p:spPr>
          <a:xfrm>
            <a:off x="548640" y="1188720"/>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DONDURULMUŞ RUNTIME MÜHİTİ</a:t>
            </a:r>
            <a:endParaRPr lang="en-US" sz="1050" dirty="0"/>
          </a:p>
        </p:txBody>
      </p:sp>
      <p:sp>
        <p:nvSpPr>
          <p:cNvPr id="5" name="Shape 3"/>
          <p:cNvSpPr/>
          <p:nvPr/>
        </p:nvSpPr>
        <p:spPr>
          <a:xfrm>
            <a:off x="548640" y="1481328"/>
            <a:ext cx="1755648" cy="859536"/>
          </a:xfrm>
          <a:prstGeom prst="roundRect">
            <a:avLst>
              <a:gd name="adj" fmla="val 7447"/>
            </a:avLst>
          </a:prstGeom>
          <a:solidFill>
            <a:srgbClr val="F4F7F9"/>
          </a:solidFill>
          <a:ln/>
        </p:spPr>
      </p:sp>
      <p:sp>
        <p:nvSpPr>
          <p:cNvPr id="6" name="Text 4"/>
          <p:cNvSpPr txBox="1"/>
          <p:nvPr/>
        </p:nvSpPr>
        <p:spPr>
          <a:xfrm>
            <a:off x="676656" y="1554480"/>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GPU</a:t>
            </a:r>
            <a:endParaRPr lang="en-US" sz="900" dirty="0"/>
          </a:p>
        </p:txBody>
      </p:sp>
      <p:sp>
        <p:nvSpPr>
          <p:cNvPr id="7" name="Text 5"/>
          <p:cNvSpPr txBox="1"/>
          <p:nvPr/>
        </p:nvSpPr>
        <p:spPr>
          <a:xfrm>
            <a:off x="676656" y="1755648"/>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NVIDIA A100-SXM4-40GB</a:t>
            </a:r>
            <a:endParaRPr lang="en-US" sz="1050" dirty="0"/>
          </a:p>
          <a:p>
            <a:pPr marL="0" indent="0">
              <a:buNone/>
            </a:pPr>
            <a:r>
              <a:rPr lang="en-US" sz="1050" b="1" dirty="0">
                <a:solidFill>
                  <a:srgbClr val="12324F"/>
                </a:solidFill>
                <a:latin typeface="Calibri" pitchFamily="34" charset="0"/>
                <a:ea typeface="Calibri" pitchFamily="34" charset="-122"/>
                <a:cs typeface="Calibri" pitchFamily="34" charset="-120"/>
              </a:rPr>
              <a:t>MIG 3g.20gb  (≈20.9 GB)</a:t>
            </a:r>
            <a:endParaRPr lang="en-US" sz="1050" dirty="0"/>
          </a:p>
        </p:txBody>
      </p:sp>
      <p:sp>
        <p:nvSpPr>
          <p:cNvPr id="8" name="Shape 6"/>
          <p:cNvSpPr/>
          <p:nvPr/>
        </p:nvSpPr>
        <p:spPr>
          <a:xfrm>
            <a:off x="2432304" y="1481328"/>
            <a:ext cx="1755648" cy="859536"/>
          </a:xfrm>
          <a:prstGeom prst="roundRect">
            <a:avLst>
              <a:gd name="adj" fmla="val 7447"/>
            </a:avLst>
          </a:prstGeom>
          <a:solidFill>
            <a:srgbClr val="F4F7F9"/>
          </a:solidFill>
          <a:ln/>
        </p:spPr>
      </p:sp>
      <p:sp>
        <p:nvSpPr>
          <p:cNvPr id="9" name="Text 7"/>
          <p:cNvSpPr txBox="1"/>
          <p:nvPr/>
        </p:nvSpPr>
        <p:spPr>
          <a:xfrm>
            <a:off x="2560320" y="1554480"/>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Driver</a:t>
            </a:r>
            <a:endParaRPr lang="en-US" sz="900" dirty="0"/>
          </a:p>
        </p:txBody>
      </p:sp>
      <p:sp>
        <p:nvSpPr>
          <p:cNvPr id="10" name="Text 8"/>
          <p:cNvSpPr txBox="1"/>
          <p:nvPr/>
        </p:nvSpPr>
        <p:spPr>
          <a:xfrm>
            <a:off x="2560320" y="1755648"/>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550.127.08</a:t>
            </a:r>
            <a:endParaRPr lang="en-US" sz="1050" dirty="0"/>
          </a:p>
        </p:txBody>
      </p:sp>
      <p:sp>
        <p:nvSpPr>
          <p:cNvPr id="11" name="Shape 9"/>
          <p:cNvSpPr/>
          <p:nvPr/>
        </p:nvSpPr>
        <p:spPr>
          <a:xfrm>
            <a:off x="4315968" y="1481328"/>
            <a:ext cx="1755648" cy="859536"/>
          </a:xfrm>
          <a:prstGeom prst="roundRect">
            <a:avLst>
              <a:gd name="adj" fmla="val 7447"/>
            </a:avLst>
          </a:prstGeom>
          <a:solidFill>
            <a:srgbClr val="F4F7F9"/>
          </a:solidFill>
          <a:ln/>
        </p:spPr>
      </p:sp>
      <p:sp>
        <p:nvSpPr>
          <p:cNvPr id="12" name="Text 10"/>
          <p:cNvSpPr txBox="1"/>
          <p:nvPr/>
        </p:nvSpPr>
        <p:spPr>
          <a:xfrm>
            <a:off x="4443984" y="1554480"/>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Python</a:t>
            </a:r>
            <a:endParaRPr lang="en-US" sz="900" dirty="0"/>
          </a:p>
        </p:txBody>
      </p:sp>
      <p:sp>
        <p:nvSpPr>
          <p:cNvPr id="13" name="Text 11"/>
          <p:cNvSpPr txBox="1"/>
          <p:nvPr/>
        </p:nvSpPr>
        <p:spPr>
          <a:xfrm>
            <a:off x="4443984" y="1755648"/>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3.12.3</a:t>
            </a:r>
            <a:endParaRPr lang="en-US" sz="1050" dirty="0"/>
          </a:p>
        </p:txBody>
      </p:sp>
      <p:sp>
        <p:nvSpPr>
          <p:cNvPr id="14" name="Shape 12"/>
          <p:cNvSpPr/>
          <p:nvPr/>
        </p:nvSpPr>
        <p:spPr>
          <a:xfrm>
            <a:off x="548640" y="2450592"/>
            <a:ext cx="1755648" cy="859536"/>
          </a:xfrm>
          <a:prstGeom prst="roundRect">
            <a:avLst>
              <a:gd name="adj" fmla="val 7447"/>
            </a:avLst>
          </a:prstGeom>
          <a:solidFill>
            <a:srgbClr val="F4F7F9"/>
          </a:solidFill>
          <a:ln/>
        </p:spPr>
      </p:sp>
      <p:sp>
        <p:nvSpPr>
          <p:cNvPr id="15" name="Text 13"/>
          <p:cNvSpPr txBox="1"/>
          <p:nvPr/>
        </p:nvSpPr>
        <p:spPr>
          <a:xfrm>
            <a:off x="676656" y="2523744"/>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PyTorch</a:t>
            </a:r>
            <a:endParaRPr lang="en-US" sz="900" dirty="0"/>
          </a:p>
        </p:txBody>
      </p:sp>
      <p:sp>
        <p:nvSpPr>
          <p:cNvPr id="16" name="Text 14"/>
          <p:cNvSpPr txBox="1"/>
          <p:nvPr/>
        </p:nvSpPr>
        <p:spPr>
          <a:xfrm>
            <a:off x="676656" y="2724912"/>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2.6.0 + cu124</a:t>
            </a:r>
            <a:endParaRPr lang="en-US" sz="1050" dirty="0"/>
          </a:p>
        </p:txBody>
      </p:sp>
      <p:sp>
        <p:nvSpPr>
          <p:cNvPr id="17" name="Shape 15"/>
          <p:cNvSpPr/>
          <p:nvPr/>
        </p:nvSpPr>
        <p:spPr>
          <a:xfrm>
            <a:off x="2432304" y="2450592"/>
            <a:ext cx="1755648" cy="859536"/>
          </a:xfrm>
          <a:prstGeom prst="roundRect">
            <a:avLst>
              <a:gd name="adj" fmla="val 7447"/>
            </a:avLst>
          </a:prstGeom>
          <a:solidFill>
            <a:srgbClr val="F4F7F9"/>
          </a:solidFill>
          <a:ln/>
        </p:spPr>
      </p:sp>
      <p:sp>
        <p:nvSpPr>
          <p:cNvPr id="18" name="Text 16"/>
          <p:cNvSpPr txBox="1"/>
          <p:nvPr/>
        </p:nvSpPr>
        <p:spPr>
          <a:xfrm>
            <a:off x="2560320" y="2523744"/>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CUDA / cuDNN</a:t>
            </a:r>
            <a:endParaRPr lang="en-US" sz="900" dirty="0"/>
          </a:p>
        </p:txBody>
      </p:sp>
      <p:sp>
        <p:nvSpPr>
          <p:cNvPr id="19" name="Text 17"/>
          <p:cNvSpPr txBox="1"/>
          <p:nvPr/>
        </p:nvSpPr>
        <p:spPr>
          <a:xfrm>
            <a:off x="2560320" y="2724912"/>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12.4  /  9.1</a:t>
            </a:r>
            <a:endParaRPr lang="en-US" sz="1050" dirty="0"/>
          </a:p>
        </p:txBody>
      </p:sp>
      <p:sp>
        <p:nvSpPr>
          <p:cNvPr id="20" name="Shape 18"/>
          <p:cNvSpPr/>
          <p:nvPr/>
        </p:nvSpPr>
        <p:spPr>
          <a:xfrm>
            <a:off x="4315968" y="2450592"/>
            <a:ext cx="1755648" cy="859536"/>
          </a:xfrm>
          <a:prstGeom prst="roundRect">
            <a:avLst>
              <a:gd name="adj" fmla="val 7447"/>
            </a:avLst>
          </a:prstGeom>
          <a:solidFill>
            <a:srgbClr val="F4F7F9"/>
          </a:solidFill>
          <a:ln/>
        </p:spPr>
      </p:sp>
      <p:sp>
        <p:nvSpPr>
          <p:cNvPr id="21" name="Text 19"/>
          <p:cNvSpPr txBox="1"/>
          <p:nvPr/>
        </p:nvSpPr>
        <p:spPr>
          <a:xfrm>
            <a:off x="4443984" y="2523744"/>
            <a:ext cx="1499616" cy="201168"/>
          </a:xfrm>
          <a:prstGeom prst="rect">
            <a:avLst/>
          </a:prstGeom>
          <a:noFill/>
          <a:ln/>
        </p:spPr>
        <p:txBody>
          <a:bodyPr wrap="square" lIns="0" tIns="0" rIns="0" bIns="0" rtlCol="0" anchor="ctr"/>
          <a:lstStyle/>
          <a:p>
            <a:pPr marL="0" indent="0">
              <a:buNone/>
            </a:pPr>
            <a:r>
              <a:rPr lang="en-US" sz="900" kern="0" spc="80" dirty="0">
                <a:solidFill>
                  <a:srgbClr val="5F7082"/>
                </a:solidFill>
                <a:latin typeface="Calibri" pitchFamily="34" charset="0"/>
                <a:ea typeface="Calibri" pitchFamily="34" charset="-122"/>
                <a:cs typeface="Calibri" pitchFamily="34" charset="-120"/>
              </a:rPr>
              <a:t>BF16</a:t>
            </a:r>
            <a:endParaRPr lang="en-US" sz="900" dirty="0"/>
          </a:p>
        </p:txBody>
      </p:sp>
      <p:sp>
        <p:nvSpPr>
          <p:cNvPr id="22" name="Text 20"/>
          <p:cNvSpPr txBox="1"/>
          <p:nvPr/>
        </p:nvSpPr>
        <p:spPr>
          <a:xfrm>
            <a:off x="4443984" y="2724912"/>
            <a:ext cx="1536192" cy="512064"/>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dəstəklənir</a:t>
            </a:r>
            <a:endParaRPr lang="en-US" sz="1050" dirty="0"/>
          </a:p>
        </p:txBody>
      </p:sp>
      <p:sp>
        <p:nvSpPr>
          <p:cNvPr id="23" name="Text 21"/>
          <p:cNvSpPr txBox="1"/>
          <p:nvPr/>
        </p:nvSpPr>
        <p:spPr>
          <a:xfrm>
            <a:off x="548640" y="3419856"/>
            <a:ext cx="5486400" cy="274320"/>
          </a:xfrm>
          <a:prstGeom prst="rect">
            <a:avLst/>
          </a:prstGeom>
          <a:noFill/>
          <a:ln/>
        </p:spPr>
        <p:txBody>
          <a:bodyPr wrap="square" lIns="0" tIns="0" rIns="0" bIns="0" rtlCol="0" anchor="ctr"/>
          <a:lstStyle/>
          <a:p>
            <a:pPr marL="0" indent="0">
              <a:buNone/>
            </a:pPr>
            <a:r>
              <a:rPr lang="en-US" sz="1000" i="1" dirty="0">
                <a:solidFill>
                  <a:srgbClr val="5F7082"/>
                </a:solidFill>
                <a:latin typeface="Calibri" pitchFamily="34" charset="0"/>
                <a:ea typeface="Calibri" pitchFamily="34" charset="-122"/>
                <a:cs typeface="Calibri" pitchFamily="34" charset="-120"/>
              </a:rPr>
              <a:t>Mühit training başlamazdan əvvəl dondurulub və server preflight tərəfindən məcburi yoxlanılır.</a:t>
            </a:r>
            <a:endParaRPr lang="en-US" sz="1000" dirty="0"/>
          </a:p>
        </p:txBody>
      </p:sp>
      <p:sp>
        <p:nvSpPr>
          <p:cNvPr id="24" name="Text 22"/>
          <p:cNvSpPr txBox="1"/>
          <p:nvPr/>
        </p:nvSpPr>
        <p:spPr>
          <a:xfrm>
            <a:off x="6309360" y="1188720"/>
            <a:ext cx="5330952"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BATCH KONFİQURASİYASININ SEÇİLMƏSİ</a:t>
            </a:r>
            <a:endParaRPr lang="en-US" sz="1050" dirty="0"/>
          </a:p>
        </p:txBody>
      </p:sp>
      <p:sp>
        <p:nvSpPr>
          <p:cNvPr id="25" name="Text 23"/>
          <p:cNvSpPr txBox="1"/>
          <p:nvPr/>
        </p:nvSpPr>
        <p:spPr>
          <a:xfrm>
            <a:off x="6309360" y="1481328"/>
            <a:ext cx="5330952" cy="512064"/>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Qlobal batch əvvəlcədən 65 536 token olaraq təyin edildi. Sonra hansı microbatch/accumulation bölgüsünün bu ədədi DƏQİQ verdiyi və yaddaşa sığdığı yoxlanıldı.</a:t>
            </a:r>
            <a:endParaRPr lang="en-US" sz="1100" dirty="0"/>
          </a:p>
        </p:txBody>
      </p:sp>
      <p:sp>
        <p:nvSpPr>
          <p:cNvPr id="26" name="Shape 24"/>
          <p:cNvSpPr/>
          <p:nvPr/>
        </p:nvSpPr>
        <p:spPr>
          <a:xfrm>
            <a:off x="6309360" y="2103120"/>
            <a:ext cx="822960" cy="658368"/>
          </a:xfrm>
          <a:prstGeom prst="rect">
            <a:avLst/>
          </a:prstGeom>
          <a:solidFill>
            <a:srgbClr val="F4F7F9"/>
          </a:solidFill>
          <a:ln/>
        </p:spPr>
      </p:sp>
      <p:sp>
        <p:nvSpPr>
          <p:cNvPr id="27" name="Text 25"/>
          <p:cNvSpPr txBox="1"/>
          <p:nvPr/>
        </p:nvSpPr>
        <p:spPr>
          <a:xfrm>
            <a:off x="6309360" y="2176272"/>
            <a:ext cx="822960" cy="201168"/>
          </a:xfrm>
          <a:prstGeom prst="rect">
            <a:avLst/>
          </a:prstGeom>
          <a:noFill/>
          <a:ln/>
        </p:spPr>
        <p:txBody>
          <a:bodyPr wrap="square" lIns="0" tIns="0" rIns="0" bIns="0" rtlCol="0" anchor="ctr"/>
          <a:lstStyle/>
          <a:p>
            <a:pPr marL="0" indent="0" algn="ctr">
              <a:buNone/>
            </a:pPr>
            <a:r>
              <a:rPr lang="en-US" sz="900" b="1" dirty="0">
                <a:solidFill>
                  <a:srgbClr val="14202E"/>
                </a:solidFill>
                <a:latin typeface="Calibri" pitchFamily="34" charset="0"/>
                <a:ea typeface="Calibri" pitchFamily="34" charset="-122"/>
                <a:cs typeface="Calibri" pitchFamily="34" charset="-120"/>
              </a:rPr>
              <a:t>1 × 512</a:t>
            </a:r>
            <a:endParaRPr lang="en-US" sz="900" dirty="0"/>
          </a:p>
        </p:txBody>
      </p:sp>
      <p:sp>
        <p:nvSpPr>
          <p:cNvPr id="28" name="Text 26"/>
          <p:cNvSpPr txBox="1"/>
          <p:nvPr/>
        </p:nvSpPr>
        <p:spPr>
          <a:xfrm>
            <a:off x="6309360"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128</a:t>
            </a:r>
            <a:endParaRPr lang="en-US" sz="800" dirty="0"/>
          </a:p>
        </p:txBody>
      </p:sp>
      <p:sp>
        <p:nvSpPr>
          <p:cNvPr id="29" name="Shape 27"/>
          <p:cNvSpPr/>
          <p:nvPr/>
        </p:nvSpPr>
        <p:spPr>
          <a:xfrm>
            <a:off x="7205472" y="2103120"/>
            <a:ext cx="822960" cy="658368"/>
          </a:xfrm>
          <a:prstGeom prst="rect">
            <a:avLst/>
          </a:prstGeom>
          <a:solidFill>
            <a:srgbClr val="F4F7F9"/>
          </a:solidFill>
          <a:ln/>
        </p:spPr>
      </p:sp>
      <p:sp>
        <p:nvSpPr>
          <p:cNvPr id="30" name="Text 28"/>
          <p:cNvSpPr txBox="1"/>
          <p:nvPr/>
        </p:nvSpPr>
        <p:spPr>
          <a:xfrm>
            <a:off x="7205472" y="2176272"/>
            <a:ext cx="822960" cy="201168"/>
          </a:xfrm>
          <a:prstGeom prst="rect">
            <a:avLst/>
          </a:prstGeom>
          <a:noFill/>
          <a:ln/>
        </p:spPr>
        <p:txBody>
          <a:bodyPr wrap="square" lIns="0" tIns="0" rIns="0" bIns="0" rtlCol="0" anchor="ctr"/>
          <a:lstStyle/>
          <a:p>
            <a:pPr marL="0" indent="0" algn="ctr">
              <a:buNone/>
            </a:pPr>
            <a:r>
              <a:rPr lang="en-US" sz="900" b="1" dirty="0">
                <a:solidFill>
                  <a:srgbClr val="14202E"/>
                </a:solidFill>
                <a:latin typeface="Calibri" pitchFamily="34" charset="0"/>
                <a:ea typeface="Calibri" pitchFamily="34" charset="-122"/>
                <a:cs typeface="Calibri" pitchFamily="34" charset="-120"/>
              </a:rPr>
              <a:t>8 × 512</a:t>
            </a:r>
            <a:endParaRPr lang="en-US" sz="900" dirty="0"/>
          </a:p>
        </p:txBody>
      </p:sp>
      <p:sp>
        <p:nvSpPr>
          <p:cNvPr id="31" name="Text 29"/>
          <p:cNvSpPr txBox="1"/>
          <p:nvPr/>
        </p:nvSpPr>
        <p:spPr>
          <a:xfrm>
            <a:off x="7205472"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16</a:t>
            </a:r>
            <a:endParaRPr lang="en-US" sz="800" dirty="0"/>
          </a:p>
        </p:txBody>
      </p:sp>
      <p:sp>
        <p:nvSpPr>
          <p:cNvPr id="32" name="Shape 30"/>
          <p:cNvSpPr/>
          <p:nvPr/>
        </p:nvSpPr>
        <p:spPr>
          <a:xfrm>
            <a:off x="8101584" y="2103120"/>
            <a:ext cx="822960" cy="658368"/>
          </a:xfrm>
          <a:prstGeom prst="rect">
            <a:avLst/>
          </a:prstGeom>
          <a:solidFill>
            <a:srgbClr val="F4F7F9"/>
          </a:solidFill>
          <a:ln/>
        </p:spPr>
      </p:sp>
      <p:sp>
        <p:nvSpPr>
          <p:cNvPr id="33" name="Text 31"/>
          <p:cNvSpPr txBox="1"/>
          <p:nvPr/>
        </p:nvSpPr>
        <p:spPr>
          <a:xfrm>
            <a:off x="8101584" y="2176272"/>
            <a:ext cx="822960" cy="201168"/>
          </a:xfrm>
          <a:prstGeom prst="rect">
            <a:avLst/>
          </a:prstGeom>
          <a:noFill/>
          <a:ln/>
        </p:spPr>
        <p:txBody>
          <a:bodyPr wrap="square" lIns="0" tIns="0" rIns="0" bIns="0" rtlCol="0" anchor="ctr"/>
          <a:lstStyle/>
          <a:p>
            <a:pPr marL="0" indent="0" algn="ctr">
              <a:buNone/>
            </a:pPr>
            <a:r>
              <a:rPr lang="en-US" sz="900" b="1" dirty="0">
                <a:solidFill>
                  <a:srgbClr val="14202E"/>
                </a:solidFill>
                <a:latin typeface="Calibri" pitchFamily="34" charset="0"/>
                <a:ea typeface="Calibri" pitchFamily="34" charset="-122"/>
                <a:cs typeface="Calibri" pitchFamily="34" charset="-120"/>
              </a:rPr>
              <a:t>16 × 512</a:t>
            </a:r>
            <a:endParaRPr lang="en-US" sz="900" dirty="0"/>
          </a:p>
        </p:txBody>
      </p:sp>
      <p:sp>
        <p:nvSpPr>
          <p:cNvPr id="34" name="Text 32"/>
          <p:cNvSpPr txBox="1"/>
          <p:nvPr/>
        </p:nvSpPr>
        <p:spPr>
          <a:xfrm>
            <a:off x="8101584"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8</a:t>
            </a:r>
            <a:endParaRPr lang="en-US" sz="800" dirty="0"/>
          </a:p>
        </p:txBody>
      </p:sp>
      <p:sp>
        <p:nvSpPr>
          <p:cNvPr id="35" name="Shape 33"/>
          <p:cNvSpPr/>
          <p:nvPr/>
        </p:nvSpPr>
        <p:spPr>
          <a:xfrm>
            <a:off x="8997696" y="2103120"/>
            <a:ext cx="822960" cy="658368"/>
          </a:xfrm>
          <a:prstGeom prst="rect">
            <a:avLst/>
          </a:prstGeom>
          <a:solidFill>
            <a:srgbClr val="F4F7F9"/>
          </a:solidFill>
          <a:ln/>
        </p:spPr>
      </p:sp>
      <p:sp>
        <p:nvSpPr>
          <p:cNvPr id="36" name="Text 34"/>
          <p:cNvSpPr txBox="1"/>
          <p:nvPr/>
        </p:nvSpPr>
        <p:spPr>
          <a:xfrm>
            <a:off x="8997696" y="2176272"/>
            <a:ext cx="822960" cy="201168"/>
          </a:xfrm>
          <a:prstGeom prst="rect">
            <a:avLst/>
          </a:prstGeom>
          <a:noFill/>
          <a:ln/>
        </p:spPr>
        <p:txBody>
          <a:bodyPr wrap="square" lIns="0" tIns="0" rIns="0" bIns="0" rtlCol="0" anchor="ctr"/>
          <a:lstStyle/>
          <a:p>
            <a:pPr marL="0" indent="0" algn="ctr">
              <a:buNone/>
            </a:pPr>
            <a:r>
              <a:rPr lang="en-US" sz="900" b="1" dirty="0">
                <a:solidFill>
                  <a:srgbClr val="14202E"/>
                </a:solidFill>
                <a:latin typeface="Calibri" pitchFamily="34" charset="0"/>
                <a:ea typeface="Calibri" pitchFamily="34" charset="-122"/>
                <a:cs typeface="Calibri" pitchFamily="34" charset="-120"/>
              </a:rPr>
              <a:t>32 × 512</a:t>
            </a:r>
            <a:endParaRPr lang="en-US" sz="900" dirty="0"/>
          </a:p>
        </p:txBody>
      </p:sp>
      <p:sp>
        <p:nvSpPr>
          <p:cNvPr id="37" name="Text 35"/>
          <p:cNvSpPr txBox="1"/>
          <p:nvPr/>
        </p:nvSpPr>
        <p:spPr>
          <a:xfrm>
            <a:off x="8997696"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4</a:t>
            </a:r>
            <a:endParaRPr lang="en-US" sz="800" dirty="0"/>
          </a:p>
        </p:txBody>
      </p:sp>
      <p:sp>
        <p:nvSpPr>
          <p:cNvPr id="38" name="Shape 36"/>
          <p:cNvSpPr/>
          <p:nvPr/>
        </p:nvSpPr>
        <p:spPr>
          <a:xfrm>
            <a:off x="9893808" y="2103120"/>
            <a:ext cx="822960" cy="658368"/>
          </a:xfrm>
          <a:prstGeom prst="rect">
            <a:avLst/>
          </a:prstGeom>
          <a:solidFill>
            <a:srgbClr val="E6F5EF"/>
          </a:solidFill>
          <a:ln w="17780">
            <a:solidFill>
              <a:srgbClr val="009E73"/>
            </a:solidFill>
            <a:prstDash val="solid"/>
          </a:ln>
        </p:spPr>
      </p:sp>
      <p:sp>
        <p:nvSpPr>
          <p:cNvPr id="39" name="Text 37"/>
          <p:cNvSpPr txBox="1"/>
          <p:nvPr/>
        </p:nvSpPr>
        <p:spPr>
          <a:xfrm>
            <a:off x="9893808" y="2176272"/>
            <a:ext cx="822960" cy="201168"/>
          </a:xfrm>
          <a:prstGeom prst="rect">
            <a:avLst/>
          </a:prstGeom>
          <a:noFill/>
          <a:ln/>
        </p:spPr>
        <p:txBody>
          <a:bodyPr wrap="square" lIns="0" tIns="0" rIns="0" bIns="0" rtlCol="0" anchor="ctr"/>
          <a:lstStyle/>
          <a:p>
            <a:pPr marL="0" indent="0" algn="ctr">
              <a:buNone/>
            </a:pPr>
            <a:r>
              <a:rPr lang="en-US" sz="900" b="1" dirty="0">
                <a:solidFill>
                  <a:srgbClr val="0B6B50"/>
                </a:solidFill>
                <a:latin typeface="Calibri" pitchFamily="34" charset="0"/>
                <a:ea typeface="Calibri" pitchFamily="34" charset="-122"/>
                <a:cs typeface="Calibri" pitchFamily="34" charset="-120"/>
              </a:rPr>
              <a:t>64 × 512</a:t>
            </a:r>
            <a:endParaRPr lang="en-US" sz="900" dirty="0"/>
          </a:p>
        </p:txBody>
      </p:sp>
      <p:sp>
        <p:nvSpPr>
          <p:cNvPr id="40" name="Text 38"/>
          <p:cNvSpPr txBox="1"/>
          <p:nvPr/>
        </p:nvSpPr>
        <p:spPr>
          <a:xfrm>
            <a:off x="9893808"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2</a:t>
            </a:r>
            <a:endParaRPr lang="en-US" sz="800" dirty="0"/>
          </a:p>
        </p:txBody>
      </p:sp>
      <p:sp>
        <p:nvSpPr>
          <p:cNvPr id="41" name="Text 39"/>
          <p:cNvSpPr txBox="1"/>
          <p:nvPr/>
        </p:nvSpPr>
        <p:spPr>
          <a:xfrm>
            <a:off x="9893808" y="2560320"/>
            <a:ext cx="822960" cy="182880"/>
          </a:xfrm>
          <a:prstGeom prst="rect">
            <a:avLst/>
          </a:prstGeom>
          <a:noFill/>
          <a:ln/>
        </p:spPr>
        <p:txBody>
          <a:bodyPr wrap="square" lIns="0" tIns="0" rIns="0" bIns="0" rtlCol="0" anchor="ctr"/>
          <a:lstStyle/>
          <a:p>
            <a:pPr marL="0" indent="0" algn="ctr">
              <a:buNone/>
            </a:pPr>
            <a:r>
              <a:rPr lang="en-US" sz="800" b="1" dirty="0">
                <a:solidFill>
                  <a:srgbClr val="009E73"/>
                </a:solidFill>
                <a:latin typeface="Calibri" pitchFamily="34" charset="0"/>
                <a:ea typeface="Calibri" pitchFamily="34" charset="-122"/>
                <a:cs typeface="Calibri" pitchFamily="34" charset="-120"/>
              </a:rPr>
              <a:t>seçildi</a:t>
            </a:r>
            <a:endParaRPr lang="en-US" sz="800" dirty="0"/>
          </a:p>
        </p:txBody>
      </p:sp>
      <p:sp>
        <p:nvSpPr>
          <p:cNvPr id="42" name="Shape 40"/>
          <p:cNvSpPr/>
          <p:nvPr/>
        </p:nvSpPr>
        <p:spPr>
          <a:xfrm>
            <a:off x="10789920" y="2103120"/>
            <a:ext cx="822960" cy="658368"/>
          </a:xfrm>
          <a:prstGeom prst="rect">
            <a:avLst/>
          </a:prstGeom>
          <a:solidFill>
            <a:srgbClr val="F4F7F9"/>
          </a:solidFill>
          <a:ln/>
        </p:spPr>
      </p:sp>
      <p:sp>
        <p:nvSpPr>
          <p:cNvPr id="43" name="Text 41"/>
          <p:cNvSpPr txBox="1"/>
          <p:nvPr/>
        </p:nvSpPr>
        <p:spPr>
          <a:xfrm>
            <a:off x="10789920" y="2176272"/>
            <a:ext cx="822960" cy="201168"/>
          </a:xfrm>
          <a:prstGeom prst="rect">
            <a:avLst/>
          </a:prstGeom>
          <a:noFill/>
          <a:ln/>
        </p:spPr>
        <p:txBody>
          <a:bodyPr wrap="square" lIns="0" tIns="0" rIns="0" bIns="0" rtlCol="0" anchor="ctr"/>
          <a:lstStyle/>
          <a:p>
            <a:pPr marL="0" indent="0" algn="ctr">
              <a:buNone/>
            </a:pPr>
            <a:r>
              <a:rPr lang="en-US" sz="900" b="1" dirty="0">
                <a:solidFill>
                  <a:srgbClr val="14202E"/>
                </a:solidFill>
                <a:latin typeface="Calibri" pitchFamily="34" charset="0"/>
                <a:ea typeface="Calibri" pitchFamily="34" charset="-122"/>
                <a:cs typeface="Calibri" pitchFamily="34" charset="-120"/>
              </a:rPr>
              <a:t>128 × 512</a:t>
            </a:r>
            <a:endParaRPr lang="en-US" sz="900" dirty="0"/>
          </a:p>
        </p:txBody>
      </p:sp>
      <p:sp>
        <p:nvSpPr>
          <p:cNvPr id="44" name="Text 42"/>
          <p:cNvSpPr txBox="1"/>
          <p:nvPr/>
        </p:nvSpPr>
        <p:spPr>
          <a:xfrm>
            <a:off x="10789920" y="2377440"/>
            <a:ext cx="822960" cy="182880"/>
          </a:xfrm>
          <a:prstGeom prst="rect">
            <a:avLst/>
          </a:prstGeom>
          <a:noFill/>
          <a:ln/>
        </p:spPr>
        <p:txBody>
          <a:bodyPr wrap="square" lIns="0" tIns="0" rIns="0" bIns="0" rtlCol="0" anchor="ctr"/>
          <a:lstStyle/>
          <a:p>
            <a:pPr marL="0" indent="0" algn="ctr">
              <a:buNone/>
            </a:pPr>
            <a:r>
              <a:rPr lang="en-US" sz="800" dirty="0">
                <a:solidFill>
                  <a:srgbClr val="5F7082"/>
                </a:solidFill>
                <a:latin typeface="Calibri" pitchFamily="34" charset="0"/>
                <a:ea typeface="Calibri" pitchFamily="34" charset="-122"/>
                <a:cs typeface="Calibri" pitchFamily="34" charset="-120"/>
              </a:rPr>
              <a:t>GAS 1</a:t>
            </a:r>
            <a:endParaRPr lang="en-US" sz="800" dirty="0"/>
          </a:p>
        </p:txBody>
      </p:sp>
      <p:sp>
        <p:nvSpPr>
          <p:cNvPr id="45" name="Text 43"/>
          <p:cNvSpPr txBox="1"/>
          <p:nvPr/>
        </p:nvSpPr>
        <p:spPr>
          <a:xfrm>
            <a:off x="6309360" y="2871216"/>
            <a:ext cx="53309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Namizədlərin hamısı eyni riyazi qlobal batch-i verir — buna görə seçim ELMİ deyil, YADDAŞ və məhsuldarlıq seçimidir. Fərqli bölgü gradient-i dəyişmir.</a:t>
            </a:r>
            <a:endParaRPr lang="en-US" sz="1050" dirty="0"/>
          </a:p>
        </p:txBody>
      </p:sp>
      <p:sp>
        <p:nvSpPr>
          <p:cNvPr id="46" name="Shape 44"/>
          <p:cNvSpPr/>
          <p:nvPr/>
        </p:nvSpPr>
        <p:spPr>
          <a:xfrm>
            <a:off x="6309360" y="3419856"/>
            <a:ext cx="5330952" cy="566928"/>
          </a:xfrm>
          <a:prstGeom prst="roundRect">
            <a:avLst>
              <a:gd name="adj" fmla="val 11290"/>
            </a:avLst>
          </a:prstGeom>
          <a:solidFill>
            <a:srgbClr val="EAF0F4"/>
          </a:solidFill>
          <a:ln/>
        </p:spPr>
      </p:sp>
      <p:sp>
        <p:nvSpPr>
          <p:cNvPr id="47" name="Text 45"/>
          <p:cNvSpPr txBox="1"/>
          <p:nvPr/>
        </p:nvSpPr>
        <p:spPr>
          <a:xfrm>
            <a:off x="6455664" y="3419856"/>
            <a:ext cx="5029200" cy="566928"/>
          </a:xfrm>
          <a:prstGeom prst="rect">
            <a:avLst/>
          </a:prstGeom>
          <a:noFill/>
          <a:ln/>
        </p:spPr>
        <p:txBody>
          <a:bodyPr wrap="square" lIns="0" tIns="0" rIns="0" bIns="0" rtlCol="0" anchor="ctr"/>
          <a:lstStyle/>
          <a:p>
            <a:pPr marL="0" indent="0">
              <a:buNone/>
            </a:pPr>
            <a:r>
              <a:rPr lang="en-US" sz="1050" b="1" dirty="0">
                <a:solidFill>
                  <a:srgbClr val="12324F"/>
                </a:solidFill>
                <a:latin typeface="Calibri" pitchFamily="34" charset="0"/>
                <a:ea typeface="Calibri" pitchFamily="34" charset="-122"/>
                <a:cs typeface="Calibri" pitchFamily="34" charset="-120"/>
              </a:rPr>
              <a:t>Seçilmiş production konfiqurasiyası:   microbatch 64  ·  gradient accumulation 2  ·  65 536 token/addım  ·  763 addım</a:t>
            </a:r>
            <a:endParaRPr lang="en-US" sz="1050" dirty="0"/>
          </a:p>
        </p:txBody>
      </p:sp>
      <p:sp>
        <p:nvSpPr>
          <p:cNvPr id="48" name="Text 46"/>
          <p:cNvSpPr txBox="1"/>
          <p:nvPr/>
        </p:nvSpPr>
        <p:spPr>
          <a:xfrm>
            <a:off x="548640" y="4114800"/>
            <a:ext cx="1106424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COMPUTE BÜDCƏSİ</a:t>
            </a:r>
            <a:endParaRPr lang="en-US" sz="1050" dirty="0"/>
          </a:p>
        </p:txBody>
      </p:sp>
      <p:sp>
        <p:nvSpPr>
          <p:cNvPr id="49" name="Shape 47"/>
          <p:cNvSpPr/>
          <p:nvPr/>
        </p:nvSpPr>
        <p:spPr>
          <a:xfrm>
            <a:off x="548640" y="4407408"/>
            <a:ext cx="2633472" cy="1042416"/>
          </a:xfrm>
          <a:prstGeom prst="roundRect">
            <a:avLst>
              <a:gd name="adj" fmla="val 6140"/>
            </a:avLst>
          </a:prstGeom>
          <a:solidFill>
            <a:srgbClr val="F4F7F9"/>
          </a:solidFill>
          <a:ln/>
        </p:spPr>
      </p:sp>
      <p:sp>
        <p:nvSpPr>
          <p:cNvPr id="50" name="Text 48"/>
          <p:cNvSpPr txBox="1"/>
          <p:nvPr/>
        </p:nvSpPr>
        <p:spPr>
          <a:xfrm>
            <a:off x="694944" y="4498848"/>
            <a:ext cx="2377440" cy="384048"/>
          </a:xfrm>
          <a:prstGeom prst="rect">
            <a:avLst/>
          </a:prstGeom>
          <a:noFill/>
          <a:ln/>
        </p:spPr>
        <p:txBody>
          <a:bodyPr wrap="square" lIns="0" tIns="0" rIns="0" bIns="0" rtlCol="0" anchor="ctr"/>
          <a:lstStyle/>
          <a:p>
            <a:pPr marL="0" indent="0">
              <a:buNone/>
            </a:pPr>
            <a:r>
              <a:rPr lang="en-US" sz="2200" b="1" dirty="0">
                <a:solidFill>
                  <a:srgbClr val="12324F"/>
                </a:solidFill>
                <a:latin typeface="Cambria" pitchFamily="34" charset="0"/>
                <a:ea typeface="Cambria" pitchFamily="34" charset="-122"/>
                <a:cs typeface="Cambria" pitchFamily="34" charset="-120"/>
              </a:rPr>
              <a:t>25</a:t>
            </a:r>
            <a:endParaRPr lang="en-US" sz="2200" dirty="0"/>
          </a:p>
        </p:txBody>
      </p:sp>
      <p:sp>
        <p:nvSpPr>
          <p:cNvPr id="51" name="Text 49"/>
          <p:cNvSpPr txBox="1"/>
          <p:nvPr/>
        </p:nvSpPr>
        <p:spPr>
          <a:xfrm>
            <a:off x="694944" y="4901184"/>
            <a:ext cx="237744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tam training run</a:t>
            </a:r>
            <a:endParaRPr lang="en-US" sz="950" dirty="0"/>
          </a:p>
        </p:txBody>
      </p:sp>
      <p:sp>
        <p:nvSpPr>
          <p:cNvPr id="52" name="Shape 50"/>
          <p:cNvSpPr/>
          <p:nvPr/>
        </p:nvSpPr>
        <p:spPr>
          <a:xfrm>
            <a:off x="3346704" y="4407408"/>
            <a:ext cx="2633472" cy="1042416"/>
          </a:xfrm>
          <a:prstGeom prst="roundRect">
            <a:avLst>
              <a:gd name="adj" fmla="val 6140"/>
            </a:avLst>
          </a:prstGeom>
          <a:solidFill>
            <a:srgbClr val="F4F7F9"/>
          </a:solidFill>
          <a:ln/>
        </p:spPr>
      </p:sp>
      <p:sp>
        <p:nvSpPr>
          <p:cNvPr id="53" name="Text 51"/>
          <p:cNvSpPr txBox="1"/>
          <p:nvPr/>
        </p:nvSpPr>
        <p:spPr>
          <a:xfrm>
            <a:off x="3493008" y="4498848"/>
            <a:ext cx="2377440" cy="384048"/>
          </a:xfrm>
          <a:prstGeom prst="rect">
            <a:avLst/>
          </a:prstGeom>
          <a:noFill/>
          <a:ln/>
        </p:spPr>
        <p:txBody>
          <a:bodyPr wrap="square" lIns="0" tIns="0" rIns="0" bIns="0" rtlCol="0" anchor="ctr"/>
          <a:lstStyle/>
          <a:p>
            <a:pPr marL="0" indent="0">
              <a:buNone/>
            </a:pPr>
            <a:r>
              <a:rPr lang="en-US" sz="2200" b="1" dirty="0">
                <a:solidFill>
                  <a:srgbClr val="12324F"/>
                </a:solidFill>
                <a:latin typeface="Cambria" pitchFamily="34" charset="0"/>
                <a:ea typeface="Cambria" pitchFamily="34" charset="-122"/>
                <a:cs typeface="Cambria" pitchFamily="34" charset="-120"/>
              </a:rPr>
              <a:t>1.25 mlrd</a:t>
            </a:r>
            <a:endParaRPr lang="en-US" sz="2200" dirty="0"/>
          </a:p>
        </p:txBody>
      </p:sp>
      <p:sp>
        <p:nvSpPr>
          <p:cNvPr id="54" name="Text 52"/>
          <p:cNvSpPr txBox="1"/>
          <p:nvPr/>
        </p:nvSpPr>
        <p:spPr>
          <a:xfrm>
            <a:off x="3493008" y="4901184"/>
            <a:ext cx="237744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cəmi training tokeni</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(25 × 50M)</a:t>
            </a:r>
            <a:endParaRPr lang="en-US" sz="950" dirty="0"/>
          </a:p>
        </p:txBody>
      </p:sp>
      <p:sp>
        <p:nvSpPr>
          <p:cNvPr id="55" name="Shape 53"/>
          <p:cNvSpPr/>
          <p:nvPr/>
        </p:nvSpPr>
        <p:spPr>
          <a:xfrm>
            <a:off x="6144768" y="4407408"/>
            <a:ext cx="2633472" cy="1042416"/>
          </a:xfrm>
          <a:prstGeom prst="roundRect">
            <a:avLst>
              <a:gd name="adj" fmla="val 6140"/>
            </a:avLst>
          </a:prstGeom>
          <a:solidFill>
            <a:srgbClr val="F4F7F9"/>
          </a:solidFill>
          <a:ln/>
        </p:spPr>
      </p:sp>
      <p:sp>
        <p:nvSpPr>
          <p:cNvPr id="56" name="Text 54"/>
          <p:cNvSpPr txBox="1"/>
          <p:nvPr/>
        </p:nvSpPr>
        <p:spPr>
          <a:xfrm>
            <a:off x="6291072" y="4498848"/>
            <a:ext cx="2377440" cy="384048"/>
          </a:xfrm>
          <a:prstGeom prst="rect">
            <a:avLst/>
          </a:prstGeom>
          <a:noFill/>
          <a:ln/>
        </p:spPr>
        <p:txBody>
          <a:bodyPr wrap="square" lIns="0" tIns="0" rIns="0" bIns="0" rtlCol="0" anchor="ctr"/>
          <a:lstStyle/>
          <a:p>
            <a:pPr marL="0" indent="0">
              <a:buNone/>
            </a:pPr>
            <a:r>
              <a:rPr lang="en-US" sz="2200" b="1" dirty="0">
                <a:solidFill>
                  <a:srgbClr val="12324F"/>
                </a:solidFill>
                <a:latin typeface="Cambria" pitchFamily="34" charset="0"/>
                <a:ea typeface="Cambria" pitchFamily="34" charset="-122"/>
                <a:cs typeface="Cambria" pitchFamily="34" charset="-120"/>
              </a:rPr>
              <a:t>100</a:t>
            </a:r>
            <a:endParaRPr lang="en-US" sz="2200" dirty="0"/>
          </a:p>
        </p:txBody>
      </p:sp>
      <p:sp>
        <p:nvSpPr>
          <p:cNvPr id="57" name="Text 55"/>
          <p:cNvSpPr txBox="1"/>
          <p:nvPr/>
        </p:nvSpPr>
        <p:spPr>
          <a:xfrm>
            <a:off x="6291072" y="4901184"/>
            <a:ext cx="237744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saxlanılan checkpoint</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(25 run × 4 ölçmə nöqtəsi)</a:t>
            </a:r>
            <a:endParaRPr lang="en-US" sz="950" dirty="0"/>
          </a:p>
        </p:txBody>
      </p:sp>
      <p:sp>
        <p:nvSpPr>
          <p:cNvPr id="58" name="Shape 56"/>
          <p:cNvSpPr/>
          <p:nvPr/>
        </p:nvSpPr>
        <p:spPr>
          <a:xfrm>
            <a:off x="8942832" y="4407408"/>
            <a:ext cx="2633472" cy="1042416"/>
          </a:xfrm>
          <a:prstGeom prst="roundRect">
            <a:avLst>
              <a:gd name="adj" fmla="val 6140"/>
            </a:avLst>
          </a:prstGeom>
          <a:solidFill>
            <a:srgbClr val="F4F7F9"/>
          </a:solidFill>
          <a:ln/>
        </p:spPr>
      </p:sp>
      <p:sp>
        <p:nvSpPr>
          <p:cNvPr id="59" name="Text 57"/>
          <p:cNvSpPr txBox="1"/>
          <p:nvPr/>
        </p:nvSpPr>
        <p:spPr>
          <a:xfrm>
            <a:off x="9089136" y="4498848"/>
            <a:ext cx="2377440" cy="384048"/>
          </a:xfrm>
          <a:prstGeom prst="rect">
            <a:avLst/>
          </a:prstGeom>
          <a:noFill/>
          <a:ln/>
        </p:spPr>
        <p:txBody>
          <a:bodyPr wrap="square" lIns="0" tIns="0" rIns="0" bIns="0" rtlCol="0" anchor="ctr"/>
          <a:lstStyle/>
          <a:p>
            <a:pPr marL="0" indent="0">
              <a:buNone/>
            </a:pPr>
            <a:r>
              <a:rPr lang="en-US" sz="2200" b="1" dirty="0">
                <a:solidFill>
                  <a:srgbClr val="12324F"/>
                </a:solidFill>
                <a:latin typeface="Cambria" pitchFamily="34" charset="0"/>
                <a:ea typeface="Cambria" pitchFamily="34" charset="-122"/>
                <a:cs typeface="Cambria" pitchFamily="34" charset="-120"/>
              </a:rPr>
              <a:t>1</a:t>
            </a:r>
            <a:endParaRPr lang="en-US" sz="2200" dirty="0"/>
          </a:p>
        </p:txBody>
      </p:sp>
      <p:sp>
        <p:nvSpPr>
          <p:cNvPr id="60" name="Text 58"/>
          <p:cNvSpPr txBox="1"/>
          <p:nvPr/>
        </p:nvSpPr>
        <p:spPr>
          <a:xfrm>
            <a:off x="9089136" y="4901184"/>
            <a:ext cx="2377440" cy="47548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ortaq token cache</a:t>
            </a:r>
            <a:endParaRPr lang="en-US" sz="950" dirty="0"/>
          </a:p>
          <a:p>
            <a:pPr marL="0" indent="0">
              <a:buNone/>
            </a:pPr>
            <a:r>
              <a:rPr lang="en-US" sz="950" dirty="0">
                <a:solidFill>
                  <a:srgbClr val="5F7082"/>
                </a:solidFill>
                <a:latin typeface="Calibri" pitchFamily="34" charset="0"/>
                <a:ea typeface="Calibri" pitchFamily="34" charset="-122"/>
                <a:cs typeface="Calibri" pitchFamily="34" charset="-120"/>
              </a:rPr>
              <a:t>(SHA-256 ilə yoxlanılıb)</a:t>
            </a:r>
            <a:endParaRPr lang="en-US" sz="950" dirty="0"/>
          </a:p>
        </p:txBody>
      </p:sp>
      <p:sp>
        <p:nvSpPr>
          <p:cNvPr id="61" name="Shape 59"/>
          <p:cNvSpPr/>
          <p:nvPr/>
        </p:nvSpPr>
        <p:spPr>
          <a:xfrm>
            <a:off x="548640" y="5614416"/>
            <a:ext cx="11091672" cy="457200"/>
          </a:xfrm>
          <a:prstGeom prst="roundRect">
            <a:avLst>
              <a:gd name="adj" fmla="val 14000"/>
            </a:avLst>
          </a:prstGeom>
          <a:solidFill>
            <a:srgbClr val="EAF0F4"/>
          </a:solidFill>
          <a:ln/>
        </p:spPr>
      </p:sp>
      <p:sp>
        <p:nvSpPr>
          <p:cNvPr id="62" name="Text 60"/>
          <p:cNvSpPr txBox="1"/>
          <p:nvPr/>
        </p:nvSpPr>
        <p:spPr>
          <a:xfrm>
            <a:off x="713232" y="5632704"/>
            <a:ext cx="10762488" cy="45720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Interpretasiya:  </a:t>
            </a:r>
            <a:r>
              <a:rPr lang="en-US" sz="1200" dirty="0">
                <a:solidFill>
                  <a:srgbClr val="14202E"/>
                </a:solidFill>
                <a:latin typeface="Calibri" pitchFamily="34" charset="0"/>
                <a:ea typeface="Calibri" pitchFamily="34" charset="-122"/>
                <a:cs typeface="Calibri" pitchFamily="34" charset="-120"/>
              </a:rPr>
              <a:t>Batch bölgüsü elmi nəticəyə təsir etmir — o, yalnız 20 GB-lıq MIG bölməsinə sığmaq üçün seçilmiş mühəndis qərarıdır.</a:t>
            </a:r>
            <a:endParaRPr lang="en-US" sz="1200" dirty="0"/>
          </a:p>
        </p:txBody>
      </p:sp>
      <p:sp>
        <p:nvSpPr>
          <p:cNvPr id="63" name="Text 61"/>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64" name="Text 62"/>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configs/hardware/a100_environment.json · src/training/benchmark.py</a:t>
            </a:r>
            <a:endParaRPr lang="en-US" sz="850" dirty="0"/>
          </a:p>
        </p:txBody>
      </p:sp>
      <p:sp>
        <p:nvSpPr>
          <p:cNvPr id="65" name="Text 63"/>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Training boyunca dörd ölçmə nöqtəsi</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Eyni trayektoriyanın dörd anı — ayrı-ayrı öyrədilmiş qısa büdcəli modellər deyil</a:t>
            </a:r>
            <a:endParaRPr lang="en-US" sz="1300" dirty="0"/>
          </a:p>
        </p:txBody>
      </p:sp>
      <p:sp>
        <p:nvSpPr>
          <p:cNvPr id="5" name="Shape 3"/>
          <p:cNvSpPr/>
          <p:nvPr/>
        </p:nvSpPr>
        <p:spPr>
          <a:xfrm>
            <a:off x="822960" y="2395728"/>
            <a:ext cx="10515600" cy="0"/>
          </a:xfrm>
          <a:prstGeom prst="line">
            <a:avLst/>
          </a:prstGeom>
          <a:noFill/>
          <a:ln w="38100">
            <a:solidFill>
              <a:srgbClr val="C7D3DD"/>
            </a:solidFill>
            <a:prstDash val="solid"/>
          </a:ln>
        </p:spPr>
      </p:sp>
      <p:sp>
        <p:nvSpPr>
          <p:cNvPr id="6" name="Shape 4"/>
          <p:cNvSpPr/>
          <p:nvPr/>
        </p:nvSpPr>
        <p:spPr>
          <a:xfrm>
            <a:off x="704088" y="2276856"/>
            <a:ext cx="237744" cy="237744"/>
          </a:xfrm>
          <a:prstGeom prst="ellipse">
            <a:avLst/>
          </a:prstGeom>
          <a:solidFill>
            <a:srgbClr val="12324F"/>
          </a:solidFill>
          <a:ln/>
        </p:spPr>
      </p:sp>
      <p:sp>
        <p:nvSpPr>
          <p:cNvPr id="7" name="Text 5"/>
          <p:cNvSpPr txBox="1"/>
          <p:nvPr/>
        </p:nvSpPr>
        <p:spPr>
          <a:xfrm>
            <a:off x="-91440" y="1828800"/>
            <a:ext cx="1828800"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START</a:t>
            </a:r>
            <a:endParaRPr lang="en-US" sz="1200" dirty="0"/>
          </a:p>
        </p:txBody>
      </p:sp>
      <p:sp>
        <p:nvSpPr>
          <p:cNvPr id="8" name="Text 6"/>
          <p:cNvSpPr txBox="1"/>
          <p:nvPr/>
        </p:nvSpPr>
        <p:spPr>
          <a:xfrm>
            <a:off x="-91440" y="2615184"/>
            <a:ext cx="1828800" cy="256032"/>
          </a:xfrm>
          <a:prstGeom prst="rect">
            <a:avLst/>
          </a:prstGeom>
          <a:noFill/>
          <a:ln/>
        </p:spPr>
        <p:txBody>
          <a:bodyPr wrap="square" lIns="0" tIns="0" rIns="0" bIns="0" rtlCol="0" anchor="ctr"/>
          <a:lstStyle/>
          <a:p>
            <a:pPr marL="0" indent="0" algn="ctr">
              <a:buNone/>
            </a:pPr>
            <a:r>
              <a:rPr lang="en-US" sz="1250" b="1" dirty="0">
                <a:solidFill>
                  <a:srgbClr val="0E2438"/>
                </a:solidFill>
                <a:latin typeface="Cambria" pitchFamily="34" charset="0"/>
                <a:ea typeface="Cambria" pitchFamily="34" charset="-122"/>
                <a:cs typeface="Cambria" pitchFamily="34" charset="-120"/>
              </a:rPr>
              <a:t>0</a:t>
            </a:r>
            <a:endParaRPr lang="en-US" sz="1250" dirty="0"/>
          </a:p>
        </p:txBody>
      </p:sp>
      <p:sp>
        <p:nvSpPr>
          <p:cNvPr id="9" name="Text 7"/>
          <p:cNvSpPr txBox="1"/>
          <p:nvPr/>
        </p:nvSpPr>
        <p:spPr>
          <a:xfrm>
            <a:off x="-91440" y="1609344"/>
            <a:ext cx="1828800" cy="219456"/>
          </a:xfrm>
          <a:prstGeom prst="rect">
            <a:avLst/>
          </a:prstGeom>
          <a:noFill/>
          <a:ln/>
        </p:spPr>
        <p:txBody>
          <a:bodyPr wrap="square" lIns="0" tIns="0" rIns="0" bIns="0" rtlCol="0" anchor="ctr"/>
          <a:lstStyle/>
          <a:p>
            <a:pPr marL="0" indent="0" algn="ctr">
              <a:buNone/>
            </a:pPr>
            <a:r>
              <a:rPr lang="en-US" sz="850" kern="0" spc="80" dirty="0">
                <a:solidFill>
                  <a:srgbClr val="8A99A8"/>
                </a:solidFill>
                <a:latin typeface="Calibri" pitchFamily="34" charset="0"/>
                <a:ea typeface="Calibri" pitchFamily="34" charset="-122"/>
                <a:cs typeface="Calibri" pitchFamily="34" charset="-120"/>
              </a:rPr>
              <a:t>checkpoint</a:t>
            </a:r>
            <a:endParaRPr lang="en-US" sz="850" dirty="0"/>
          </a:p>
        </p:txBody>
      </p:sp>
      <p:sp>
        <p:nvSpPr>
          <p:cNvPr id="10" name="Shape 8"/>
          <p:cNvSpPr/>
          <p:nvPr/>
        </p:nvSpPr>
        <p:spPr>
          <a:xfrm>
            <a:off x="3328416" y="2276856"/>
            <a:ext cx="237744" cy="237744"/>
          </a:xfrm>
          <a:prstGeom prst="ellipse">
            <a:avLst/>
          </a:prstGeom>
          <a:solidFill>
            <a:srgbClr val="12324F"/>
          </a:solidFill>
          <a:ln/>
        </p:spPr>
      </p:sp>
      <p:sp>
        <p:nvSpPr>
          <p:cNvPr id="11" name="Text 9"/>
          <p:cNvSpPr txBox="1"/>
          <p:nvPr/>
        </p:nvSpPr>
        <p:spPr>
          <a:xfrm>
            <a:off x="2532888" y="1828800"/>
            <a:ext cx="1828800"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~5M</a:t>
            </a:r>
            <a:endParaRPr lang="en-US" sz="1200" dirty="0"/>
          </a:p>
        </p:txBody>
      </p:sp>
      <p:sp>
        <p:nvSpPr>
          <p:cNvPr id="12" name="Text 10"/>
          <p:cNvSpPr txBox="1"/>
          <p:nvPr/>
        </p:nvSpPr>
        <p:spPr>
          <a:xfrm>
            <a:off x="2532888" y="2615184"/>
            <a:ext cx="1828800" cy="256032"/>
          </a:xfrm>
          <a:prstGeom prst="rect">
            <a:avLst/>
          </a:prstGeom>
          <a:noFill/>
          <a:ln/>
        </p:spPr>
        <p:txBody>
          <a:bodyPr wrap="square" lIns="0" tIns="0" rIns="0" bIns="0" rtlCol="0" anchor="ctr"/>
          <a:lstStyle/>
          <a:p>
            <a:pPr marL="0" indent="0" algn="ctr">
              <a:buNone/>
            </a:pPr>
            <a:r>
              <a:rPr lang="en-US" sz="1250" b="1" dirty="0">
                <a:solidFill>
                  <a:srgbClr val="0E2438"/>
                </a:solidFill>
                <a:latin typeface="Cambria" pitchFamily="34" charset="0"/>
                <a:ea typeface="Cambria" pitchFamily="34" charset="-122"/>
                <a:cs typeface="Cambria" pitchFamily="34" charset="-120"/>
              </a:rPr>
              <a:t>5 046 272</a:t>
            </a:r>
            <a:endParaRPr lang="en-US" sz="1250" dirty="0"/>
          </a:p>
        </p:txBody>
      </p:sp>
      <p:sp>
        <p:nvSpPr>
          <p:cNvPr id="13" name="Text 11"/>
          <p:cNvSpPr txBox="1"/>
          <p:nvPr/>
        </p:nvSpPr>
        <p:spPr>
          <a:xfrm>
            <a:off x="2532888" y="2871216"/>
            <a:ext cx="1828800" cy="219456"/>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nominal-dan fərq  +46 272</a:t>
            </a:r>
            <a:endParaRPr lang="en-US" sz="850" dirty="0"/>
          </a:p>
        </p:txBody>
      </p:sp>
      <p:sp>
        <p:nvSpPr>
          <p:cNvPr id="14" name="Text 12"/>
          <p:cNvSpPr txBox="1"/>
          <p:nvPr/>
        </p:nvSpPr>
        <p:spPr>
          <a:xfrm>
            <a:off x="2532888" y="1609344"/>
            <a:ext cx="1828800" cy="219456"/>
          </a:xfrm>
          <a:prstGeom prst="rect">
            <a:avLst/>
          </a:prstGeom>
          <a:noFill/>
          <a:ln/>
        </p:spPr>
        <p:txBody>
          <a:bodyPr wrap="square" lIns="0" tIns="0" rIns="0" bIns="0" rtlCol="0" anchor="ctr"/>
          <a:lstStyle/>
          <a:p>
            <a:pPr marL="0" indent="0" algn="ctr">
              <a:buNone/>
            </a:pPr>
            <a:r>
              <a:rPr lang="en-US" sz="850" kern="0" spc="80" dirty="0">
                <a:solidFill>
                  <a:srgbClr val="8A99A8"/>
                </a:solidFill>
                <a:latin typeface="Calibri" pitchFamily="34" charset="0"/>
                <a:ea typeface="Calibri" pitchFamily="34" charset="-122"/>
                <a:cs typeface="Calibri" pitchFamily="34" charset="-120"/>
              </a:rPr>
              <a:t>checkpoint</a:t>
            </a:r>
            <a:endParaRPr lang="en-US" sz="850" dirty="0"/>
          </a:p>
        </p:txBody>
      </p:sp>
      <p:sp>
        <p:nvSpPr>
          <p:cNvPr id="15" name="Shape 13"/>
          <p:cNvSpPr/>
          <p:nvPr/>
        </p:nvSpPr>
        <p:spPr>
          <a:xfrm>
            <a:off x="5952744" y="2276856"/>
            <a:ext cx="237744" cy="237744"/>
          </a:xfrm>
          <a:prstGeom prst="ellipse">
            <a:avLst/>
          </a:prstGeom>
          <a:solidFill>
            <a:srgbClr val="12324F"/>
          </a:solidFill>
          <a:ln/>
        </p:spPr>
      </p:sp>
      <p:sp>
        <p:nvSpPr>
          <p:cNvPr id="16" name="Text 14"/>
          <p:cNvSpPr txBox="1"/>
          <p:nvPr/>
        </p:nvSpPr>
        <p:spPr>
          <a:xfrm>
            <a:off x="5157216" y="1828800"/>
            <a:ext cx="1828800"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~10M</a:t>
            </a:r>
            <a:endParaRPr lang="en-US" sz="1200" dirty="0"/>
          </a:p>
        </p:txBody>
      </p:sp>
      <p:sp>
        <p:nvSpPr>
          <p:cNvPr id="17" name="Text 15"/>
          <p:cNvSpPr txBox="1"/>
          <p:nvPr/>
        </p:nvSpPr>
        <p:spPr>
          <a:xfrm>
            <a:off x="5157216" y="2615184"/>
            <a:ext cx="1828800" cy="256032"/>
          </a:xfrm>
          <a:prstGeom prst="rect">
            <a:avLst/>
          </a:prstGeom>
          <a:noFill/>
          <a:ln/>
        </p:spPr>
        <p:txBody>
          <a:bodyPr wrap="square" lIns="0" tIns="0" rIns="0" bIns="0" rtlCol="0" anchor="ctr"/>
          <a:lstStyle/>
          <a:p>
            <a:pPr marL="0" indent="0" algn="ctr">
              <a:buNone/>
            </a:pPr>
            <a:r>
              <a:rPr lang="en-US" sz="1250" b="1" dirty="0">
                <a:solidFill>
                  <a:srgbClr val="0E2438"/>
                </a:solidFill>
                <a:latin typeface="Cambria" pitchFamily="34" charset="0"/>
                <a:ea typeface="Cambria" pitchFamily="34" charset="-122"/>
                <a:cs typeface="Cambria" pitchFamily="34" charset="-120"/>
              </a:rPr>
              <a:t>10 027 008</a:t>
            </a:r>
            <a:endParaRPr lang="en-US" sz="1250" dirty="0"/>
          </a:p>
        </p:txBody>
      </p:sp>
      <p:sp>
        <p:nvSpPr>
          <p:cNvPr id="18" name="Text 16"/>
          <p:cNvSpPr txBox="1"/>
          <p:nvPr/>
        </p:nvSpPr>
        <p:spPr>
          <a:xfrm>
            <a:off x="5157216" y="2871216"/>
            <a:ext cx="1828800" cy="219456"/>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nominal-dan fərq  +27 008</a:t>
            </a:r>
            <a:endParaRPr lang="en-US" sz="850" dirty="0"/>
          </a:p>
        </p:txBody>
      </p:sp>
      <p:sp>
        <p:nvSpPr>
          <p:cNvPr id="19" name="Text 17"/>
          <p:cNvSpPr txBox="1"/>
          <p:nvPr/>
        </p:nvSpPr>
        <p:spPr>
          <a:xfrm>
            <a:off x="5157216" y="1609344"/>
            <a:ext cx="1828800" cy="219456"/>
          </a:xfrm>
          <a:prstGeom prst="rect">
            <a:avLst/>
          </a:prstGeom>
          <a:noFill/>
          <a:ln/>
        </p:spPr>
        <p:txBody>
          <a:bodyPr wrap="square" lIns="0" tIns="0" rIns="0" bIns="0" rtlCol="0" anchor="ctr"/>
          <a:lstStyle/>
          <a:p>
            <a:pPr marL="0" indent="0" algn="ctr">
              <a:buNone/>
            </a:pPr>
            <a:r>
              <a:rPr lang="en-US" sz="850" kern="0" spc="80" dirty="0">
                <a:solidFill>
                  <a:srgbClr val="8A99A8"/>
                </a:solidFill>
                <a:latin typeface="Calibri" pitchFamily="34" charset="0"/>
                <a:ea typeface="Calibri" pitchFamily="34" charset="-122"/>
                <a:cs typeface="Calibri" pitchFamily="34" charset="-120"/>
              </a:rPr>
              <a:t>checkpoint</a:t>
            </a:r>
            <a:endParaRPr lang="en-US" sz="850" dirty="0"/>
          </a:p>
        </p:txBody>
      </p:sp>
      <p:sp>
        <p:nvSpPr>
          <p:cNvPr id="20" name="Shape 18"/>
          <p:cNvSpPr/>
          <p:nvPr/>
        </p:nvSpPr>
        <p:spPr>
          <a:xfrm>
            <a:off x="8577072" y="2276856"/>
            <a:ext cx="237744" cy="237744"/>
          </a:xfrm>
          <a:prstGeom prst="ellipse">
            <a:avLst/>
          </a:prstGeom>
          <a:solidFill>
            <a:srgbClr val="12324F"/>
          </a:solidFill>
          <a:ln/>
        </p:spPr>
      </p:sp>
      <p:sp>
        <p:nvSpPr>
          <p:cNvPr id="21" name="Text 19"/>
          <p:cNvSpPr txBox="1"/>
          <p:nvPr/>
        </p:nvSpPr>
        <p:spPr>
          <a:xfrm>
            <a:off x="7781544" y="1828800"/>
            <a:ext cx="1828800" cy="256032"/>
          </a:xfrm>
          <a:prstGeom prst="rect">
            <a:avLst/>
          </a:prstGeom>
          <a:noFill/>
          <a:ln/>
        </p:spPr>
        <p:txBody>
          <a:bodyPr wrap="square" lIns="0" tIns="0" rIns="0" bIns="0" rtlCol="0" anchor="ctr"/>
          <a:lstStyle/>
          <a:p>
            <a:pPr marL="0" indent="0" algn="ctr">
              <a:buNone/>
            </a:pPr>
            <a:r>
              <a:rPr lang="en-US" sz="1200" b="1" dirty="0">
                <a:solidFill>
                  <a:srgbClr val="12324F"/>
                </a:solidFill>
                <a:latin typeface="Calibri" pitchFamily="34" charset="0"/>
                <a:ea typeface="Calibri" pitchFamily="34" charset="-122"/>
                <a:cs typeface="Calibri" pitchFamily="34" charset="-120"/>
              </a:rPr>
              <a:t>~20M</a:t>
            </a:r>
            <a:endParaRPr lang="en-US" sz="1200" dirty="0"/>
          </a:p>
        </p:txBody>
      </p:sp>
      <p:sp>
        <p:nvSpPr>
          <p:cNvPr id="22" name="Text 20"/>
          <p:cNvSpPr txBox="1"/>
          <p:nvPr/>
        </p:nvSpPr>
        <p:spPr>
          <a:xfrm>
            <a:off x="7781544" y="2615184"/>
            <a:ext cx="1828800" cy="256032"/>
          </a:xfrm>
          <a:prstGeom prst="rect">
            <a:avLst/>
          </a:prstGeom>
          <a:noFill/>
          <a:ln/>
        </p:spPr>
        <p:txBody>
          <a:bodyPr wrap="square" lIns="0" tIns="0" rIns="0" bIns="0" rtlCol="0" anchor="ctr"/>
          <a:lstStyle/>
          <a:p>
            <a:pPr marL="0" indent="0" algn="ctr">
              <a:buNone/>
            </a:pPr>
            <a:r>
              <a:rPr lang="en-US" sz="1250" b="1" dirty="0">
                <a:solidFill>
                  <a:srgbClr val="0E2438"/>
                </a:solidFill>
                <a:latin typeface="Cambria" pitchFamily="34" charset="0"/>
                <a:ea typeface="Cambria" pitchFamily="34" charset="-122"/>
                <a:cs typeface="Cambria" pitchFamily="34" charset="-120"/>
              </a:rPr>
              <a:t>20 054 016</a:t>
            </a:r>
            <a:endParaRPr lang="en-US" sz="1250" dirty="0"/>
          </a:p>
        </p:txBody>
      </p:sp>
      <p:sp>
        <p:nvSpPr>
          <p:cNvPr id="23" name="Text 21"/>
          <p:cNvSpPr txBox="1"/>
          <p:nvPr/>
        </p:nvSpPr>
        <p:spPr>
          <a:xfrm>
            <a:off x="7781544" y="2871216"/>
            <a:ext cx="1828800" cy="219456"/>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nominal-dan fərq  +54 016</a:t>
            </a:r>
            <a:endParaRPr lang="en-US" sz="850" dirty="0"/>
          </a:p>
        </p:txBody>
      </p:sp>
      <p:sp>
        <p:nvSpPr>
          <p:cNvPr id="24" name="Text 22"/>
          <p:cNvSpPr txBox="1"/>
          <p:nvPr/>
        </p:nvSpPr>
        <p:spPr>
          <a:xfrm>
            <a:off x="7781544" y="1609344"/>
            <a:ext cx="1828800" cy="219456"/>
          </a:xfrm>
          <a:prstGeom prst="rect">
            <a:avLst/>
          </a:prstGeom>
          <a:noFill/>
          <a:ln/>
        </p:spPr>
        <p:txBody>
          <a:bodyPr wrap="square" lIns="0" tIns="0" rIns="0" bIns="0" rtlCol="0" anchor="ctr"/>
          <a:lstStyle/>
          <a:p>
            <a:pPr marL="0" indent="0" algn="ctr">
              <a:buNone/>
            </a:pPr>
            <a:r>
              <a:rPr lang="en-US" sz="850" kern="0" spc="80" dirty="0">
                <a:solidFill>
                  <a:srgbClr val="8A99A8"/>
                </a:solidFill>
                <a:latin typeface="Calibri" pitchFamily="34" charset="0"/>
                <a:ea typeface="Calibri" pitchFamily="34" charset="-122"/>
                <a:cs typeface="Calibri" pitchFamily="34" charset="-120"/>
              </a:rPr>
              <a:t>checkpoint</a:t>
            </a:r>
            <a:endParaRPr lang="en-US" sz="850" dirty="0"/>
          </a:p>
        </p:txBody>
      </p:sp>
      <p:sp>
        <p:nvSpPr>
          <p:cNvPr id="25" name="Shape 23"/>
          <p:cNvSpPr/>
          <p:nvPr/>
        </p:nvSpPr>
        <p:spPr>
          <a:xfrm>
            <a:off x="11201400" y="2276856"/>
            <a:ext cx="237744" cy="237744"/>
          </a:xfrm>
          <a:prstGeom prst="ellipse">
            <a:avLst/>
          </a:prstGeom>
          <a:solidFill>
            <a:srgbClr val="009E73"/>
          </a:solidFill>
          <a:ln/>
        </p:spPr>
      </p:sp>
      <p:sp>
        <p:nvSpPr>
          <p:cNvPr id="26" name="Text 24"/>
          <p:cNvSpPr txBox="1"/>
          <p:nvPr/>
        </p:nvSpPr>
        <p:spPr>
          <a:xfrm>
            <a:off x="10405872" y="1828800"/>
            <a:ext cx="1828800" cy="256032"/>
          </a:xfrm>
          <a:prstGeom prst="rect">
            <a:avLst/>
          </a:prstGeom>
          <a:noFill/>
          <a:ln/>
        </p:spPr>
        <p:txBody>
          <a:bodyPr wrap="square" lIns="0" tIns="0" rIns="0" bIns="0" rtlCol="0" anchor="ctr"/>
          <a:lstStyle/>
          <a:p>
            <a:pPr marL="0" indent="0" algn="ctr">
              <a:buNone/>
            </a:pPr>
            <a:r>
              <a:rPr lang="en-US" sz="1200" b="1" dirty="0">
                <a:solidFill>
                  <a:srgbClr val="009E73"/>
                </a:solidFill>
                <a:latin typeface="Calibri" pitchFamily="34" charset="0"/>
                <a:ea typeface="Calibri" pitchFamily="34" charset="-122"/>
                <a:cs typeface="Calibri" pitchFamily="34" charset="-120"/>
              </a:rPr>
              <a:t>50M</a:t>
            </a:r>
            <a:endParaRPr lang="en-US" sz="1200" dirty="0"/>
          </a:p>
        </p:txBody>
      </p:sp>
      <p:sp>
        <p:nvSpPr>
          <p:cNvPr id="27" name="Text 25"/>
          <p:cNvSpPr txBox="1"/>
          <p:nvPr/>
        </p:nvSpPr>
        <p:spPr>
          <a:xfrm>
            <a:off x="10405872" y="2615184"/>
            <a:ext cx="1828800" cy="256032"/>
          </a:xfrm>
          <a:prstGeom prst="rect">
            <a:avLst/>
          </a:prstGeom>
          <a:noFill/>
          <a:ln/>
        </p:spPr>
        <p:txBody>
          <a:bodyPr wrap="square" lIns="0" tIns="0" rIns="0" bIns="0" rtlCol="0" anchor="ctr"/>
          <a:lstStyle/>
          <a:p>
            <a:pPr marL="0" indent="0" algn="ctr">
              <a:buNone/>
            </a:pPr>
            <a:r>
              <a:rPr lang="en-US" sz="1250" b="1" dirty="0">
                <a:solidFill>
                  <a:srgbClr val="0E2438"/>
                </a:solidFill>
                <a:latin typeface="Cambria" pitchFamily="34" charset="0"/>
                <a:ea typeface="Cambria" pitchFamily="34" charset="-122"/>
                <a:cs typeface="Cambria" pitchFamily="34" charset="-120"/>
              </a:rPr>
              <a:t>50 000 000</a:t>
            </a:r>
            <a:endParaRPr lang="en-US" sz="1250" dirty="0"/>
          </a:p>
        </p:txBody>
      </p:sp>
      <p:sp>
        <p:nvSpPr>
          <p:cNvPr id="28" name="Text 26"/>
          <p:cNvSpPr txBox="1"/>
          <p:nvPr/>
        </p:nvSpPr>
        <p:spPr>
          <a:xfrm>
            <a:off x="10405872" y="2871216"/>
            <a:ext cx="1828800" cy="219456"/>
          </a:xfrm>
          <a:prstGeom prst="rect">
            <a:avLst/>
          </a:prstGeom>
          <a:noFill/>
          <a:ln/>
        </p:spPr>
        <p:txBody>
          <a:bodyPr wrap="square" lIns="0" tIns="0" rIns="0" bIns="0" rtlCol="0" anchor="ctr"/>
          <a:lstStyle/>
          <a:p>
            <a:pPr marL="0" indent="0" algn="ctr">
              <a:buNone/>
            </a:pPr>
            <a:r>
              <a:rPr lang="en-US" sz="850" dirty="0">
                <a:solidFill>
                  <a:srgbClr val="8A99A8"/>
                </a:solidFill>
                <a:latin typeface="Calibri" pitchFamily="34" charset="0"/>
                <a:ea typeface="Calibri" pitchFamily="34" charset="-122"/>
                <a:cs typeface="Calibri" pitchFamily="34" charset="-120"/>
              </a:rPr>
              <a:t>nominal-dan fərq  0</a:t>
            </a:r>
            <a:endParaRPr lang="en-US" sz="850" dirty="0"/>
          </a:p>
        </p:txBody>
      </p:sp>
      <p:sp>
        <p:nvSpPr>
          <p:cNvPr id="29" name="Text 27"/>
          <p:cNvSpPr txBox="1"/>
          <p:nvPr/>
        </p:nvSpPr>
        <p:spPr>
          <a:xfrm>
            <a:off x="10405872" y="1609344"/>
            <a:ext cx="1828800" cy="219456"/>
          </a:xfrm>
          <a:prstGeom prst="rect">
            <a:avLst/>
          </a:prstGeom>
          <a:noFill/>
          <a:ln/>
        </p:spPr>
        <p:txBody>
          <a:bodyPr wrap="square" lIns="0" tIns="0" rIns="0" bIns="0" rtlCol="0" anchor="ctr"/>
          <a:lstStyle/>
          <a:p>
            <a:pPr marL="0" indent="0" algn="ctr">
              <a:buNone/>
            </a:pPr>
            <a:r>
              <a:rPr lang="en-US" sz="850" kern="0" spc="80" dirty="0">
                <a:solidFill>
                  <a:srgbClr val="8A99A8"/>
                </a:solidFill>
                <a:latin typeface="Calibri" pitchFamily="34" charset="0"/>
                <a:ea typeface="Calibri" pitchFamily="34" charset="-122"/>
                <a:cs typeface="Calibri" pitchFamily="34" charset="-120"/>
              </a:rPr>
              <a:t>final model</a:t>
            </a:r>
            <a:endParaRPr lang="en-US" sz="850" dirty="0"/>
          </a:p>
        </p:txBody>
      </p:sp>
      <p:sp>
        <p:nvSpPr>
          <p:cNvPr id="30" name="Shape 28"/>
          <p:cNvSpPr/>
          <p:nvPr/>
        </p:nvSpPr>
        <p:spPr>
          <a:xfrm>
            <a:off x="548640" y="3310128"/>
            <a:ext cx="3657600" cy="1554480"/>
          </a:xfrm>
          <a:prstGeom prst="roundRect">
            <a:avLst>
              <a:gd name="adj" fmla="val 4118"/>
            </a:avLst>
          </a:prstGeom>
          <a:solidFill>
            <a:srgbClr val="FDF3EC"/>
          </a:solidFill>
          <a:ln/>
        </p:spPr>
      </p:sp>
      <p:sp>
        <p:nvSpPr>
          <p:cNvPr id="31" name="Text 29"/>
          <p:cNvSpPr txBox="1"/>
          <p:nvPr/>
        </p:nvSpPr>
        <p:spPr>
          <a:xfrm>
            <a:off x="713232" y="3419856"/>
            <a:ext cx="329184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NİYƏ RƏQƏMLƏR YUVARLAQ DEYİL?</a:t>
            </a:r>
            <a:endParaRPr lang="en-US" sz="1050" dirty="0"/>
          </a:p>
        </p:txBody>
      </p:sp>
      <p:sp>
        <p:nvSpPr>
          <p:cNvPr id="32" name="Text 30"/>
          <p:cNvSpPr txBox="1"/>
          <p:nvPr/>
        </p:nvSpPr>
        <p:spPr>
          <a:xfrm>
            <a:off x="713232" y="3694176"/>
            <a:ext cx="3328416" cy="1005840"/>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Checkpoint yalnız tam optimizer addımı sərhədində yazıla bilər. Hər addım 65 536 token olduğu üçün faktiki sayılar nominal 5M / 10M / 20M dəyərlərini bir qədər aşır.</a:t>
            </a:r>
            <a:endParaRPr lang="en-US" sz="1050" dirty="0"/>
          </a:p>
        </p:txBody>
      </p:sp>
      <p:sp>
        <p:nvSpPr>
          <p:cNvPr id="33" name="Shape 31"/>
          <p:cNvSpPr/>
          <p:nvPr/>
        </p:nvSpPr>
        <p:spPr>
          <a:xfrm>
            <a:off x="4370832" y="3310128"/>
            <a:ext cx="3657600" cy="1554480"/>
          </a:xfrm>
          <a:prstGeom prst="roundRect">
            <a:avLst>
              <a:gd name="adj" fmla="val 4118"/>
            </a:avLst>
          </a:prstGeom>
          <a:solidFill>
            <a:srgbClr val="F4F7F9"/>
          </a:solidFill>
          <a:ln/>
        </p:spPr>
      </p:sp>
      <p:sp>
        <p:nvSpPr>
          <p:cNvPr id="34" name="Text 32"/>
          <p:cNvSpPr txBox="1"/>
          <p:nvPr/>
        </p:nvSpPr>
        <p:spPr>
          <a:xfrm>
            <a:off x="4535424" y="3419856"/>
            <a:ext cx="329184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NƏ ÜÇÜN LAZIMDIR?</a:t>
            </a:r>
            <a:endParaRPr lang="en-US" sz="1050" dirty="0"/>
          </a:p>
        </p:txBody>
      </p:sp>
      <p:sp>
        <p:nvSpPr>
          <p:cNvPr id="35" name="Text 33"/>
          <p:cNvSpPr txBox="1"/>
          <p:nvPr/>
        </p:nvSpPr>
        <p:spPr>
          <a:xfrm>
            <a:off x="4535424" y="3694176"/>
            <a:ext cx="3328416" cy="1005840"/>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Bu dörd nöqtə learning curve və sample-efficiency analizinə imkan verir: metod yalnız sonda yaxşıdır, yoxsa büdcənin hər mərhələsində?</a:t>
            </a:r>
            <a:endParaRPr lang="en-US" sz="1050" dirty="0"/>
          </a:p>
        </p:txBody>
      </p:sp>
      <p:sp>
        <p:nvSpPr>
          <p:cNvPr id="36" name="Shape 34"/>
          <p:cNvSpPr/>
          <p:nvPr/>
        </p:nvSpPr>
        <p:spPr>
          <a:xfrm>
            <a:off x="8193024" y="3310128"/>
            <a:ext cx="3447288" cy="1554480"/>
          </a:xfrm>
          <a:prstGeom prst="roundRect">
            <a:avLst>
              <a:gd name="adj" fmla="val 4118"/>
            </a:avLst>
          </a:prstGeom>
          <a:solidFill>
            <a:srgbClr val="EAF0F4"/>
          </a:solidFill>
          <a:ln/>
        </p:spPr>
      </p:sp>
      <p:sp>
        <p:nvSpPr>
          <p:cNvPr id="37" name="Text 35"/>
          <p:cNvSpPr txBox="1"/>
          <p:nvPr/>
        </p:nvSpPr>
        <p:spPr>
          <a:xfrm>
            <a:off x="8357616" y="3419856"/>
            <a:ext cx="310896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ARXİV TAMLIĞI</a:t>
            </a:r>
            <a:endParaRPr lang="en-US" sz="1050" dirty="0"/>
          </a:p>
        </p:txBody>
      </p:sp>
      <p:sp>
        <p:nvSpPr>
          <p:cNvPr id="38" name="Text 36"/>
          <p:cNvSpPr txBox="1"/>
          <p:nvPr/>
        </p:nvSpPr>
        <p:spPr>
          <a:xfrm>
            <a:off x="8357616" y="3694176"/>
            <a:ext cx="3108960" cy="27432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25 run  ×  4 checkpoint</a:t>
            </a:r>
            <a:endParaRPr lang="en-US" sz="1200" dirty="0"/>
          </a:p>
        </p:txBody>
      </p:sp>
      <p:sp>
        <p:nvSpPr>
          <p:cNvPr id="39" name="Text 37"/>
          <p:cNvSpPr txBox="1"/>
          <p:nvPr/>
        </p:nvSpPr>
        <p:spPr>
          <a:xfrm>
            <a:off x="8357616" y="3950208"/>
            <a:ext cx="3108960" cy="274320"/>
          </a:xfrm>
          <a:prstGeom prst="rect">
            <a:avLst/>
          </a:prstGeom>
          <a:noFill/>
          <a:ln/>
        </p:spPr>
        <p:txBody>
          <a:bodyPr wrap="square" lIns="0" tIns="0" rIns="0" bIns="0" rtlCol="0" anchor="ctr"/>
          <a:lstStyle/>
          <a:p>
            <a:pPr marL="0" indent="0">
              <a:buNone/>
            </a:pPr>
            <a:r>
              <a:rPr lang="en-US" sz="1200" b="1" dirty="0">
                <a:solidFill>
                  <a:srgbClr val="009E73"/>
                </a:solidFill>
                <a:latin typeface="Calibri" pitchFamily="34" charset="0"/>
                <a:ea typeface="Calibri" pitchFamily="34" charset="-122"/>
                <a:cs typeface="Calibri" pitchFamily="34" charset="-120"/>
              </a:rPr>
              <a:t>= 100 checkpoint vəziyyəti</a:t>
            </a:r>
            <a:endParaRPr lang="en-US" sz="1200" dirty="0"/>
          </a:p>
        </p:txBody>
      </p:sp>
      <p:sp>
        <p:nvSpPr>
          <p:cNvPr id="40" name="Text 38"/>
          <p:cNvSpPr txBox="1"/>
          <p:nvPr/>
        </p:nvSpPr>
        <p:spPr>
          <a:xfrm>
            <a:off x="8357616" y="4242816"/>
            <a:ext cx="3108960" cy="548640"/>
          </a:xfrm>
          <a:prstGeom prst="rect">
            <a:avLst/>
          </a:prstGeom>
          <a:noFill/>
          <a:ln/>
        </p:spPr>
        <p:txBody>
          <a:bodyPr wrap="square" lIns="0" tIns="0" rIns="0" bIns="0" rtlCol="0" anchor="ctr"/>
          <a:lstStyle/>
          <a:p>
            <a:pPr marL="0" indent="0">
              <a:buNone/>
            </a:pPr>
            <a:r>
              <a:rPr lang="en-US" sz="1000" dirty="0">
                <a:solidFill>
                  <a:srgbClr val="5F7082"/>
                </a:solidFill>
                <a:latin typeface="Calibri" pitchFamily="34" charset="0"/>
                <a:ea typeface="Calibri" pitchFamily="34" charset="-122"/>
                <a:cs typeface="Calibri" pitchFamily="34" charset="-120"/>
              </a:rPr>
              <a:t>Hər biri dörd tar arxivində SHA-256 ilə qeydə alınıb və evaluation zamanı yoxlanılıb.</a:t>
            </a:r>
            <a:endParaRPr lang="en-US" sz="1000" dirty="0"/>
          </a:p>
        </p:txBody>
      </p:sp>
      <p:sp>
        <p:nvSpPr>
          <p:cNvPr id="41" name="Shape 39"/>
          <p:cNvSpPr/>
          <p:nvPr/>
        </p:nvSpPr>
        <p:spPr>
          <a:xfrm>
            <a:off x="548640" y="4974336"/>
            <a:ext cx="11091672" cy="731520"/>
          </a:xfrm>
          <a:prstGeom prst="roundRect">
            <a:avLst>
              <a:gd name="adj" fmla="val 8750"/>
            </a:avLst>
          </a:prstGeom>
          <a:solidFill>
            <a:srgbClr val="F4F7F9"/>
          </a:solidFill>
          <a:ln/>
        </p:spPr>
      </p:sp>
      <p:sp>
        <p:nvSpPr>
          <p:cNvPr id="42" name="Text 40"/>
          <p:cNvSpPr txBox="1"/>
          <p:nvPr/>
        </p:nvSpPr>
        <p:spPr>
          <a:xfrm>
            <a:off x="731520" y="5047488"/>
            <a:ext cx="548640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VACİB İNTERPRETASİYA QEYDİ</a:t>
            </a:r>
            <a:endParaRPr lang="en-US" sz="1050" dirty="0"/>
          </a:p>
        </p:txBody>
      </p:sp>
      <p:sp>
        <p:nvSpPr>
          <p:cNvPr id="43" name="Text 41"/>
          <p:cNvSpPr txBox="1"/>
          <p:nvPr/>
        </p:nvSpPr>
        <p:spPr>
          <a:xfrm>
            <a:off x="731520" y="5266944"/>
            <a:ext cx="10698480" cy="402336"/>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5M / 10M / 20M nöqtələri EYNİ training trayektoriyasından götürülmüş anlardır. Bu, “5M tokenlə ayrıca öyrədilmiş model” demək deyil — buna görə onları müstəqil eksperiment kimi şərh etmirik.</a:t>
            </a:r>
            <a:endParaRPr lang="en-US" sz="1050" dirty="0"/>
          </a:p>
        </p:txBody>
      </p:sp>
      <p:sp>
        <p:nvSpPr>
          <p:cNvPr id="44" name="Shape 42"/>
          <p:cNvSpPr/>
          <p:nvPr/>
        </p:nvSpPr>
        <p:spPr>
          <a:xfrm>
            <a:off x="548640" y="5797296"/>
            <a:ext cx="11091672" cy="420624"/>
          </a:xfrm>
          <a:prstGeom prst="roundRect">
            <a:avLst>
              <a:gd name="adj" fmla="val 15217"/>
            </a:avLst>
          </a:prstGeom>
          <a:solidFill>
            <a:srgbClr val="EAF0F4"/>
          </a:solidFill>
          <a:ln/>
        </p:spPr>
      </p:sp>
      <p:sp>
        <p:nvSpPr>
          <p:cNvPr id="45" name="Text 43"/>
          <p:cNvSpPr txBox="1"/>
          <p:nvPr/>
        </p:nvSpPr>
        <p:spPr>
          <a:xfrm>
            <a:off x="713232" y="5815584"/>
            <a:ext cx="10762488" cy="42062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Əsas fikir:  </a:t>
            </a:r>
            <a:r>
              <a:rPr lang="en-US" sz="1200" dirty="0">
                <a:solidFill>
                  <a:srgbClr val="14202E"/>
                </a:solidFill>
                <a:latin typeface="Calibri" pitchFamily="34" charset="0"/>
                <a:ea typeface="Calibri" pitchFamily="34" charset="-122"/>
                <a:cs typeface="Calibri" pitchFamily="34" charset="-120"/>
              </a:rPr>
              <a:t>Dörd ölçmə nöqtəsi bizə “kim qalib gəldi” sualından əlavə “nə vaxtdan etibarən qabaqdadır” sualına da cavab verməyə imkan verir.</a:t>
            </a:r>
            <a:endParaRPr lang="en-US" sz="1200" dirty="0"/>
          </a:p>
        </p:txBody>
      </p:sp>
      <p:sp>
        <p:nvSpPr>
          <p:cNvPr id="46" name="Text 44"/>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47" name="Text 45"/>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results/evaluation/workspace.json · tables/sample_efficiency.csv</a:t>
            </a:r>
            <a:endParaRPr lang="en-US" sz="850" dirty="0"/>
          </a:p>
        </p:txBody>
      </p:sp>
      <p:sp>
        <p:nvSpPr>
          <p:cNvPr id="48" name="Text 46"/>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03  /  TRAINING</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25/25 run tamamlandı: training-dən evaluation-a təhvil</a:t>
            </a:r>
            <a:endParaRPr lang="en-US" sz="2500" dirty="0"/>
          </a:p>
        </p:txBody>
      </p:sp>
      <p:sp>
        <p:nvSpPr>
          <p:cNvPr id="4" name="Shape 2"/>
          <p:cNvSpPr/>
          <p:nvPr/>
        </p:nvSpPr>
        <p:spPr>
          <a:xfrm>
            <a:off x="548640" y="1188720"/>
            <a:ext cx="4846320" cy="2011680"/>
          </a:xfrm>
          <a:prstGeom prst="roundRect">
            <a:avLst>
              <a:gd name="adj" fmla="val 3182"/>
            </a:avLst>
          </a:prstGeom>
          <a:solidFill>
            <a:srgbClr val="12324F"/>
          </a:solidFill>
          <a:ln/>
        </p:spPr>
      </p:sp>
      <p:sp>
        <p:nvSpPr>
          <p:cNvPr id="5" name="Text 3"/>
          <p:cNvSpPr txBox="1"/>
          <p:nvPr/>
        </p:nvSpPr>
        <p:spPr>
          <a:xfrm>
            <a:off x="731520" y="1316736"/>
            <a:ext cx="2194560" cy="658368"/>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25 / 25</a:t>
            </a:r>
            <a:endParaRPr lang="en-US" sz="4000" dirty="0"/>
          </a:p>
        </p:txBody>
      </p:sp>
      <p:sp>
        <p:nvSpPr>
          <p:cNvPr id="6" name="Text 4"/>
          <p:cNvSpPr txBox="1"/>
          <p:nvPr/>
        </p:nvSpPr>
        <p:spPr>
          <a:xfrm>
            <a:off x="731520" y="1975104"/>
            <a:ext cx="2194560" cy="256032"/>
          </a:xfrm>
          <a:prstGeom prst="rect">
            <a:avLst/>
          </a:prstGeom>
          <a:noFill/>
          <a:ln/>
        </p:spPr>
        <p:txBody>
          <a:bodyPr wrap="square" lIns="0" tIns="0" rIns="0" bIns="0" rtlCol="0" anchor="ctr"/>
          <a:lstStyle/>
          <a:p>
            <a:pPr marL="0" indent="0">
              <a:buNone/>
            </a:pPr>
            <a:r>
              <a:rPr lang="en-US" sz="1100" dirty="0">
                <a:solidFill>
                  <a:srgbClr val="A8BDCF"/>
                </a:solidFill>
                <a:latin typeface="Calibri" pitchFamily="34" charset="0"/>
                <a:ea typeface="Calibri" pitchFamily="34" charset="-122"/>
                <a:cs typeface="Calibri" pitchFamily="34" charset="-120"/>
              </a:rPr>
              <a:t>run tamamlandı</a:t>
            </a:r>
            <a:endParaRPr lang="en-US" sz="1100" dirty="0"/>
          </a:p>
        </p:txBody>
      </p:sp>
      <p:sp>
        <p:nvSpPr>
          <p:cNvPr id="7" name="Text 5"/>
          <p:cNvSpPr txBox="1"/>
          <p:nvPr/>
        </p:nvSpPr>
        <p:spPr>
          <a:xfrm>
            <a:off x="3108960" y="1316736"/>
            <a:ext cx="1115568" cy="329184"/>
          </a:xfrm>
          <a:prstGeom prst="rect">
            <a:avLst/>
          </a:prstGeom>
          <a:noFill/>
          <a:ln/>
        </p:spPr>
        <p:txBody>
          <a:bodyPr wrap="square" lIns="0" tIns="0" rIns="0" bIns="0" rtlCol="0" anchor="ctr"/>
          <a:lstStyle/>
          <a:p>
            <a:pPr marL="0" indent="0">
              <a:buNone/>
            </a:pPr>
            <a:r>
              <a:rPr lang="en-US" sz="1500" b="1" dirty="0">
                <a:solidFill>
                  <a:srgbClr val="009E73"/>
                </a:solidFill>
                <a:latin typeface="Cambria" pitchFamily="34" charset="0"/>
                <a:ea typeface="Cambria" pitchFamily="34" charset="-122"/>
                <a:cs typeface="Cambria" pitchFamily="34" charset="-120"/>
              </a:rPr>
              <a:t>0</a:t>
            </a:r>
            <a:endParaRPr lang="en-US" sz="1500" dirty="0"/>
          </a:p>
        </p:txBody>
      </p:sp>
      <p:sp>
        <p:nvSpPr>
          <p:cNvPr id="8" name="Text 6"/>
          <p:cNvSpPr txBox="1"/>
          <p:nvPr/>
        </p:nvSpPr>
        <p:spPr>
          <a:xfrm>
            <a:off x="3108960" y="1627632"/>
            <a:ext cx="1115568" cy="457200"/>
          </a:xfrm>
          <a:prstGeom prst="rect">
            <a:avLst/>
          </a:prstGeom>
          <a:noFill/>
          <a:ln/>
        </p:spPr>
        <p:txBody>
          <a:bodyPr wrap="square" lIns="0" tIns="0" rIns="0" bIns="0" rtlCol="0" anchor="ctr"/>
          <a:lstStyle/>
          <a:p>
            <a:pPr marL="0" indent="0">
              <a:buNone/>
            </a:pPr>
            <a:r>
              <a:rPr lang="en-US" sz="800" dirty="0">
                <a:solidFill>
                  <a:srgbClr val="A8BDCF"/>
                </a:solidFill>
                <a:latin typeface="Calibri" pitchFamily="34" charset="0"/>
                <a:ea typeface="Calibri" pitchFamily="34" charset="-122"/>
                <a:cs typeface="Calibri" pitchFamily="34" charset="-120"/>
              </a:rPr>
              <a:t>uğursuz run</a:t>
            </a:r>
            <a:endParaRPr lang="en-US" sz="800" dirty="0"/>
          </a:p>
        </p:txBody>
      </p:sp>
      <p:sp>
        <p:nvSpPr>
          <p:cNvPr id="9" name="Text 7"/>
          <p:cNvSpPr txBox="1"/>
          <p:nvPr/>
        </p:nvSpPr>
        <p:spPr>
          <a:xfrm>
            <a:off x="4279392" y="1316736"/>
            <a:ext cx="1115568" cy="329184"/>
          </a:xfrm>
          <a:prstGeom prst="rect">
            <a:avLst/>
          </a:prstGeom>
          <a:noFill/>
          <a:ln/>
        </p:spPr>
        <p:txBody>
          <a:bodyPr wrap="square" lIns="0" tIns="0" rIns="0" bIns="0" rtlCol="0" anchor="ctr"/>
          <a:lstStyle/>
          <a:p>
            <a:pPr marL="0" indent="0">
              <a:buNone/>
            </a:pPr>
            <a:r>
              <a:rPr lang="en-US" sz="1500" b="1" dirty="0">
                <a:solidFill>
                  <a:srgbClr val="009E73"/>
                </a:solidFill>
                <a:latin typeface="Cambria" pitchFamily="34" charset="0"/>
                <a:ea typeface="Cambria" pitchFamily="34" charset="-122"/>
                <a:cs typeface="Cambria" pitchFamily="34" charset="-120"/>
              </a:rPr>
              <a:t>763</a:t>
            </a:r>
            <a:endParaRPr lang="en-US" sz="1500" dirty="0"/>
          </a:p>
        </p:txBody>
      </p:sp>
      <p:sp>
        <p:nvSpPr>
          <p:cNvPr id="10" name="Text 8"/>
          <p:cNvSpPr txBox="1"/>
          <p:nvPr/>
        </p:nvSpPr>
        <p:spPr>
          <a:xfrm>
            <a:off x="4279392" y="1627632"/>
            <a:ext cx="1115568" cy="457200"/>
          </a:xfrm>
          <a:prstGeom prst="rect">
            <a:avLst/>
          </a:prstGeom>
          <a:noFill/>
          <a:ln/>
        </p:spPr>
        <p:txBody>
          <a:bodyPr wrap="square" lIns="0" tIns="0" rIns="0" bIns="0" rtlCol="0" anchor="ctr"/>
          <a:lstStyle/>
          <a:p>
            <a:pPr marL="0" indent="0">
              <a:buNone/>
            </a:pPr>
            <a:r>
              <a:rPr lang="en-US" sz="800" dirty="0">
                <a:solidFill>
                  <a:srgbClr val="A8BDCF"/>
                </a:solidFill>
                <a:latin typeface="Calibri" pitchFamily="34" charset="0"/>
                <a:ea typeface="Calibri" pitchFamily="34" charset="-122"/>
                <a:cs typeface="Calibri" pitchFamily="34" charset="-120"/>
              </a:rPr>
              <a:t>optimizer addımı</a:t>
            </a:r>
            <a:endParaRPr lang="en-US" sz="800" dirty="0"/>
          </a:p>
          <a:p>
            <a:pPr marL="0" indent="0">
              <a:buNone/>
            </a:pPr>
            <a:r>
              <a:rPr lang="en-US" sz="800" dirty="0">
                <a:solidFill>
                  <a:srgbClr val="A8BDCF"/>
                </a:solidFill>
                <a:latin typeface="Calibri" pitchFamily="34" charset="0"/>
                <a:ea typeface="Calibri" pitchFamily="34" charset="-122"/>
                <a:cs typeface="Calibri" pitchFamily="34" charset="-120"/>
              </a:rPr>
              <a:t>(hər run üçün eyni)</a:t>
            </a:r>
            <a:endParaRPr lang="en-US" sz="800" dirty="0"/>
          </a:p>
        </p:txBody>
      </p:sp>
      <p:sp>
        <p:nvSpPr>
          <p:cNvPr id="11" name="Text 9"/>
          <p:cNvSpPr txBox="1"/>
          <p:nvPr/>
        </p:nvSpPr>
        <p:spPr>
          <a:xfrm>
            <a:off x="3108960" y="2231136"/>
            <a:ext cx="1115568" cy="329184"/>
          </a:xfrm>
          <a:prstGeom prst="rect">
            <a:avLst/>
          </a:prstGeom>
          <a:noFill/>
          <a:ln/>
        </p:spPr>
        <p:txBody>
          <a:bodyPr wrap="square" lIns="0" tIns="0" rIns="0" bIns="0" rtlCol="0" anchor="ctr"/>
          <a:lstStyle/>
          <a:p>
            <a:pPr marL="0" indent="0">
              <a:buNone/>
            </a:pPr>
            <a:r>
              <a:rPr lang="en-US" sz="1500" b="1" dirty="0">
                <a:solidFill>
                  <a:srgbClr val="009E73"/>
                </a:solidFill>
                <a:latin typeface="Cambria" pitchFamily="34" charset="0"/>
                <a:ea typeface="Cambria" pitchFamily="34" charset="-122"/>
                <a:cs typeface="Cambria" pitchFamily="34" charset="-120"/>
              </a:rPr>
              <a:t>50 000 000</a:t>
            </a:r>
            <a:endParaRPr lang="en-US" sz="1500" dirty="0"/>
          </a:p>
        </p:txBody>
      </p:sp>
      <p:sp>
        <p:nvSpPr>
          <p:cNvPr id="12" name="Text 10"/>
          <p:cNvSpPr txBox="1"/>
          <p:nvPr/>
        </p:nvSpPr>
        <p:spPr>
          <a:xfrm>
            <a:off x="3108960" y="2542032"/>
            <a:ext cx="1115568" cy="457200"/>
          </a:xfrm>
          <a:prstGeom prst="rect">
            <a:avLst/>
          </a:prstGeom>
          <a:noFill/>
          <a:ln/>
        </p:spPr>
        <p:txBody>
          <a:bodyPr wrap="square" lIns="0" tIns="0" rIns="0" bIns="0" rtlCol="0" anchor="ctr"/>
          <a:lstStyle/>
          <a:p>
            <a:pPr marL="0" indent="0">
              <a:buNone/>
            </a:pPr>
            <a:r>
              <a:rPr lang="en-US" sz="800" dirty="0">
                <a:solidFill>
                  <a:srgbClr val="A8BDCF"/>
                </a:solidFill>
                <a:latin typeface="Calibri" pitchFamily="34" charset="0"/>
                <a:ea typeface="Calibri" pitchFamily="34" charset="-122"/>
                <a:cs typeface="Calibri" pitchFamily="34" charset="-120"/>
              </a:rPr>
              <a:t>token / run</a:t>
            </a:r>
            <a:endParaRPr lang="en-US" sz="800" dirty="0"/>
          </a:p>
        </p:txBody>
      </p:sp>
      <p:sp>
        <p:nvSpPr>
          <p:cNvPr id="13" name="Text 11"/>
          <p:cNvSpPr txBox="1"/>
          <p:nvPr/>
        </p:nvSpPr>
        <p:spPr>
          <a:xfrm>
            <a:off x="4279392" y="2231136"/>
            <a:ext cx="1115568" cy="329184"/>
          </a:xfrm>
          <a:prstGeom prst="rect">
            <a:avLst/>
          </a:prstGeom>
          <a:noFill/>
          <a:ln/>
        </p:spPr>
        <p:txBody>
          <a:bodyPr wrap="square" lIns="0" tIns="0" rIns="0" bIns="0" rtlCol="0" anchor="ctr"/>
          <a:lstStyle/>
          <a:p>
            <a:pPr marL="0" indent="0">
              <a:buNone/>
            </a:pPr>
            <a:r>
              <a:rPr lang="en-US" sz="1500" b="1" dirty="0">
                <a:solidFill>
                  <a:srgbClr val="009E73"/>
                </a:solidFill>
                <a:latin typeface="Cambria" pitchFamily="34" charset="0"/>
                <a:ea typeface="Cambria" pitchFamily="34" charset="-122"/>
                <a:cs typeface="Cambria" pitchFamily="34" charset="-120"/>
              </a:rPr>
              <a:t>1</a:t>
            </a:r>
            <a:endParaRPr lang="en-US" sz="1500" dirty="0"/>
          </a:p>
        </p:txBody>
      </p:sp>
      <p:sp>
        <p:nvSpPr>
          <p:cNvPr id="14" name="Text 12"/>
          <p:cNvSpPr txBox="1"/>
          <p:nvPr/>
        </p:nvSpPr>
        <p:spPr>
          <a:xfrm>
            <a:off x="4279392" y="2542032"/>
            <a:ext cx="1115568" cy="457200"/>
          </a:xfrm>
          <a:prstGeom prst="rect">
            <a:avLst/>
          </a:prstGeom>
          <a:noFill/>
          <a:ln/>
        </p:spPr>
        <p:txBody>
          <a:bodyPr wrap="square" lIns="0" tIns="0" rIns="0" bIns="0" rtlCol="0" anchor="ctr"/>
          <a:lstStyle/>
          <a:p>
            <a:pPr marL="0" indent="0">
              <a:buNone/>
            </a:pPr>
            <a:r>
              <a:rPr lang="en-US" sz="800" dirty="0">
                <a:solidFill>
                  <a:srgbClr val="A8BDCF"/>
                </a:solidFill>
                <a:latin typeface="Calibri" pitchFamily="34" charset="0"/>
                <a:ea typeface="Calibri" pitchFamily="34" charset="-122"/>
                <a:cs typeface="Calibri" pitchFamily="34" charset="-120"/>
              </a:rPr>
              <a:t>ortaq cache hash</a:t>
            </a:r>
            <a:endParaRPr lang="en-US" sz="800" dirty="0"/>
          </a:p>
        </p:txBody>
      </p:sp>
      <p:sp>
        <p:nvSpPr>
          <p:cNvPr id="15" name="Text 13"/>
          <p:cNvSpPr txBox="1"/>
          <p:nvPr/>
        </p:nvSpPr>
        <p:spPr>
          <a:xfrm>
            <a:off x="731520" y="2798064"/>
            <a:ext cx="4572000" cy="274320"/>
          </a:xfrm>
          <a:prstGeom prst="rect">
            <a:avLst/>
          </a:prstGeom>
          <a:noFill/>
          <a:ln/>
        </p:spPr>
        <p:txBody>
          <a:bodyPr wrap="square" lIns="0" tIns="0" rIns="0" bIns="0" rtlCol="0" anchor="ctr"/>
          <a:lstStyle/>
          <a:p>
            <a:pPr marL="0" indent="0">
              <a:buNone/>
            </a:pPr>
            <a:r>
              <a:rPr lang="en-US" sz="950" dirty="0">
                <a:solidFill>
                  <a:srgbClr val="8FA7BC"/>
                </a:solidFill>
                <a:latin typeface="Calibri" pitchFamily="34" charset="0"/>
                <a:ea typeface="Calibri" pitchFamily="34" charset="-122"/>
                <a:cs typeface="Calibri" pitchFamily="34" charset="-120"/>
              </a:rPr>
              <a:t>5 positional encoding  ×  5 seed  ·  hamısı eyni token ardıcıllığını gördü</a:t>
            </a:r>
            <a:endParaRPr lang="en-US" sz="950" dirty="0"/>
          </a:p>
        </p:txBody>
      </p:sp>
      <p:sp>
        <p:nvSpPr>
          <p:cNvPr id="16" name="Text 14"/>
          <p:cNvSpPr txBox="1"/>
          <p:nvPr/>
        </p:nvSpPr>
        <p:spPr>
          <a:xfrm>
            <a:off x="5669280" y="1188720"/>
            <a:ext cx="59436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TƏHVİL VERİLƏN ARTEFAKTLAR</a:t>
            </a:r>
            <a:endParaRPr lang="en-US" sz="1050" dirty="0"/>
          </a:p>
        </p:txBody>
      </p:sp>
      <p:sp>
        <p:nvSpPr>
          <p:cNvPr id="17" name="Shape 15"/>
          <p:cNvSpPr/>
          <p:nvPr/>
        </p:nvSpPr>
        <p:spPr>
          <a:xfrm>
            <a:off x="5669280" y="1481328"/>
            <a:ext cx="5971032" cy="274320"/>
          </a:xfrm>
          <a:prstGeom prst="rect">
            <a:avLst/>
          </a:prstGeom>
          <a:solidFill>
            <a:srgbClr val="F4F7F9"/>
          </a:solidFill>
          <a:ln w="12700">
            <a:solidFill>
              <a:srgbClr val="E3E9EF"/>
            </a:solidFill>
            <a:prstDash val="solid"/>
          </a:ln>
        </p:spPr>
      </p:sp>
      <p:sp>
        <p:nvSpPr>
          <p:cNvPr id="18" name="Text 16"/>
          <p:cNvSpPr txBox="1"/>
          <p:nvPr/>
        </p:nvSpPr>
        <p:spPr>
          <a:xfrm>
            <a:off x="5815584" y="1481328"/>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checkpoint-lər  (100 ədəd, SHA-256)</a:t>
            </a:r>
            <a:endParaRPr lang="en-US" sz="1000" dirty="0"/>
          </a:p>
        </p:txBody>
      </p:sp>
      <p:sp>
        <p:nvSpPr>
          <p:cNvPr id="19" name="Shape 17"/>
          <p:cNvSpPr/>
          <p:nvPr/>
        </p:nvSpPr>
        <p:spPr>
          <a:xfrm>
            <a:off x="5669280" y="1792224"/>
            <a:ext cx="5971032" cy="274320"/>
          </a:xfrm>
          <a:prstGeom prst="rect">
            <a:avLst/>
          </a:prstGeom>
          <a:solidFill>
            <a:srgbClr val="FFFFFF"/>
          </a:solidFill>
          <a:ln w="12700">
            <a:solidFill>
              <a:srgbClr val="E3E9EF"/>
            </a:solidFill>
            <a:prstDash val="solid"/>
          </a:ln>
        </p:spPr>
      </p:sp>
      <p:sp>
        <p:nvSpPr>
          <p:cNvPr id="20" name="Text 18"/>
          <p:cNvSpPr txBox="1"/>
          <p:nvPr/>
        </p:nvSpPr>
        <p:spPr>
          <a:xfrm>
            <a:off x="5815584" y="1792224"/>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training log-ları</a:t>
            </a:r>
            <a:endParaRPr lang="en-US" sz="1000" dirty="0"/>
          </a:p>
        </p:txBody>
      </p:sp>
      <p:sp>
        <p:nvSpPr>
          <p:cNvPr id="21" name="Shape 19"/>
          <p:cNvSpPr/>
          <p:nvPr/>
        </p:nvSpPr>
        <p:spPr>
          <a:xfrm>
            <a:off x="5669280" y="2103120"/>
            <a:ext cx="5971032" cy="274320"/>
          </a:xfrm>
          <a:prstGeom prst="rect">
            <a:avLst/>
          </a:prstGeom>
          <a:solidFill>
            <a:srgbClr val="F4F7F9"/>
          </a:solidFill>
          <a:ln w="12700">
            <a:solidFill>
              <a:srgbClr val="E3E9EF"/>
            </a:solidFill>
            <a:prstDash val="solid"/>
          </a:ln>
        </p:spPr>
      </p:sp>
      <p:sp>
        <p:nvSpPr>
          <p:cNvPr id="22" name="Text 20"/>
          <p:cNvSpPr txBox="1"/>
          <p:nvPr/>
        </p:nvSpPr>
        <p:spPr>
          <a:xfrm>
            <a:off x="5815584" y="2103120"/>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mühit metadatası</a:t>
            </a:r>
            <a:endParaRPr lang="en-US" sz="1000" dirty="0"/>
          </a:p>
        </p:txBody>
      </p:sp>
      <p:sp>
        <p:nvSpPr>
          <p:cNvPr id="23" name="Shape 21"/>
          <p:cNvSpPr/>
          <p:nvPr/>
        </p:nvSpPr>
        <p:spPr>
          <a:xfrm>
            <a:off x="5669280" y="2414016"/>
            <a:ext cx="5971032" cy="274320"/>
          </a:xfrm>
          <a:prstGeom prst="rect">
            <a:avLst/>
          </a:prstGeom>
          <a:solidFill>
            <a:srgbClr val="FFFFFF"/>
          </a:solidFill>
          <a:ln w="12700">
            <a:solidFill>
              <a:srgbClr val="E3E9EF"/>
            </a:solidFill>
            <a:prstDash val="solid"/>
          </a:ln>
        </p:spPr>
      </p:sp>
      <p:sp>
        <p:nvSpPr>
          <p:cNvPr id="24" name="Text 22"/>
          <p:cNvSpPr txBox="1"/>
          <p:nvPr/>
        </p:nvSpPr>
        <p:spPr>
          <a:xfrm>
            <a:off x="5815584" y="2414016"/>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run manifesti  (25 qeyd)</a:t>
            </a:r>
            <a:endParaRPr lang="en-US" sz="1000" dirty="0"/>
          </a:p>
        </p:txBody>
      </p:sp>
      <p:sp>
        <p:nvSpPr>
          <p:cNvPr id="25" name="Shape 23"/>
          <p:cNvSpPr/>
          <p:nvPr/>
        </p:nvSpPr>
        <p:spPr>
          <a:xfrm>
            <a:off x="5669280" y="2724912"/>
            <a:ext cx="5971032" cy="274320"/>
          </a:xfrm>
          <a:prstGeom prst="rect">
            <a:avLst/>
          </a:prstGeom>
          <a:solidFill>
            <a:srgbClr val="F4F7F9"/>
          </a:solidFill>
          <a:ln w="12700">
            <a:solidFill>
              <a:srgbClr val="E3E9EF"/>
            </a:solidFill>
            <a:prstDash val="solid"/>
          </a:ln>
        </p:spPr>
      </p:sp>
      <p:sp>
        <p:nvSpPr>
          <p:cNvPr id="26" name="Text 24"/>
          <p:cNvSpPr txBox="1"/>
          <p:nvPr/>
        </p:nvSpPr>
        <p:spPr>
          <a:xfrm>
            <a:off x="5815584" y="2724912"/>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config hash-ləri</a:t>
            </a:r>
            <a:endParaRPr lang="en-US" sz="1000" dirty="0"/>
          </a:p>
        </p:txBody>
      </p:sp>
      <p:sp>
        <p:nvSpPr>
          <p:cNvPr id="27" name="Shape 25"/>
          <p:cNvSpPr/>
          <p:nvPr/>
        </p:nvSpPr>
        <p:spPr>
          <a:xfrm>
            <a:off x="5669280" y="3035808"/>
            <a:ext cx="5971032" cy="274320"/>
          </a:xfrm>
          <a:prstGeom prst="rect">
            <a:avLst/>
          </a:prstGeom>
          <a:solidFill>
            <a:srgbClr val="FFFFFF"/>
          </a:solidFill>
          <a:ln w="12700">
            <a:solidFill>
              <a:srgbClr val="E3E9EF"/>
            </a:solidFill>
            <a:prstDash val="solid"/>
          </a:ln>
        </p:spPr>
      </p:sp>
      <p:sp>
        <p:nvSpPr>
          <p:cNvPr id="28" name="Text 26"/>
          <p:cNvSpPr txBox="1"/>
          <p:nvPr/>
        </p:nvSpPr>
        <p:spPr>
          <a:xfrm>
            <a:off x="5815584" y="3035808"/>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training cache hash-i</a:t>
            </a:r>
            <a:endParaRPr lang="en-US" sz="1000" dirty="0"/>
          </a:p>
        </p:txBody>
      </p:sp>
      <p:sp>
        <p:nvSpPr>
          <p:cNvPr id="29" name="Shape 27"/>
          <p:cNvSpPr/>
          <p:nvPr/>
        </p:nvSpPr>
        <p:spPr>
          <a:xfrm>
            <a:off x="5669280" y="3346704"/>
            <a:ext cx="5971032" cy="274320"/>
          </a:xfrm>
          <a:prstGeom prst="rect">
            <a:avLst/>
          </a:prstGeom>
          <a:solidFill>
            <a:srgbClr val="F4F7F9"/>
          </a:solidFill>
          <a:ln w="12700">
            <a:solidFill>
              <a:srgbClr val="E3E9EF"/>
            </a:solidFill>
            <a:prstDash val="solid"/>
          </a:ln>
        </p:spPr>
      </p:sp>
      <p:sp>
        <p:nvSpPr>
          <p:cNvPr id="30" name="Text 28"/>
          <p:cNvSpPr txBox="1"/>
          <p:nvPr/>
        </p:nvSpPr>
        <p:spPr>
          <a:xfrm>
            <a:off x="5815584" y="3346704"/>
            <a:ext cx="5669280" cy="27432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checkpoint arxiv hash-ləri</a:t>
            </a:r>
            <a:endParaRPr lang="en-US" sz="1000" dirty="0"/>
          </a:p>
        </p:txBody>
      </p:sp>
      <p:sp>
        <p:nvSpPr>
          <p:cNvPr id="31" name="Shape 29"/>
          <p:cNvSpPr/>
          <p:nvPr/>
        </p:nvSpPr>
        <p:spPr>
          <a:xfrm>
            <a:off x="548640" y="3803904"/>
            <a:ext cx="3108960" cy="548640"/>
          </a:xfrm>
          <a:prstGeom prst="rect">
            <a:avLst/>
          </a:prstGeom>
          <a:solidFill>
            <a:srgbClr val="12324F"/>
          </a:solidFill>
          <a:ln/>
        </p:spPr>
      </p:sp>
      <p:sp>
        <p:nvSpPr>
          <p:cNvPr id="32" name="Text 30"/>
          <p:cNvSpPr txBox="1"/>
          <p:nvPr/>
        </p:nvSpPr>
        <p:spPr>
          <a:xfrm>
            <a:off x="548640" y="3803904"/>
            <a:ext cx="31089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TRAINING</a:t>
            </a:r>
            <a:endParaRPr lang="en-US" sz="1300" dirty="0"/>
          </a:p>
        </p:txBody>
      </p:sp>
      <p:sp>
        <p:nvSpPr>
          <p:cNvPr id="33" name="Shape 31"/>
          <p:cNvSpPr/>
          <p:nvPr/>
        </p:nvSpPr>
        <p:spPr>
          <a:xfrm>
            <a:off x="3730752" y="3968496"/>
            <a:ext cx="329184" cy="219456"/>
          </a:xfrm>
          <a:prstGeom prst="rightArrow">
            <a:avLst/>
          </a:prstGeom>
          <a:solidFill>
            <a:srgbClr val="C7D3DD"/>
          </a:solidFill>
          <a:ln/>
        </p:spPr>
      </p:sp>
      <p:sp>
        <p:nvSpPr>
          <p:cNvPr id="34" name="Shape 32"/>
          <p:cNvSpPr/>
          <p:nvPr/>
        </p:nvSpPr>
        <p:spPr>
          <a:xfrm>
            <a:off x="4133088" y="3803904"/>
            <a:ext cx="4023360" cy="548640"/>
          </a:xfrm>
          <a:prstGeom prst="rect">
            <a:avLst/>
          </a:prstGeom>
          <a:solidFill>
            <a:srgbClr val="F4F7F9"/>
          </a:solidFill>
          <a:ln/>
        </p:spPr>
      </p:sp>
      <p:sp>
        <p:nvSpPr>
          <p:cNvPr id="35" name="Text 33"/>
          <p:cNvSpPr txBox="1"/>
          <p:nvPr/>
        </p:nvSpPr>
        <p:spPr>
          <a:xfrm>
            <a:off x="4133088" y="3803904"/>
            <a:ext cx="4023360" cy="548640"/>
          </a:xfrm>
          <a:prstGeom prst="rect">
            <a:avLst/>
          </a:prstGeom>
          <a:noFill/>
          <a:ln/>
        </p:spPr>
        <p:txBody>
          <a:bodyPr wrap="square" lIns="0" tIns="0" rIns="0" bIns="0" rtlCol="0" anchor="ctr"/>
          <a:lstStyle/>
          <a:p>
            <a:pPr marL="0" indent="0" algn="ctr">
              <a:buNone/>
            </a:pPr>
            <a:r>
              <a:rPr lang="en-US" sz="1100" b="1" dirty="0">
                <a:solidFill>
                  <a:srgbClr val="0E2438"/>
                </a:solidFill>
                <a:latin typeface="Calibri" pitchFamily="34" charset="0"/>
                <a:ea typeface="Calibri" pitchFamily="34" charset="-122"/>
                <a:cs typeface="Calibri" pitchFamily="34" charset="-120"/>
              </a:rPr>
              <a:t>yoxlanılmış checkpoint təhvili</a:t>
            </a:r>
            <a:endParaRPr lang="en-US" sz="1100" dirty="0"/>
          </a:p>
        </p:txBody>
      </p:sp>
      <p:sp>
        <p:nvSpPr>
          <p:cNvPr id="36" name="Shape 34"/>
          <p:cNvSpPr/>
          <p:nvPr/>
        </p:nvSpPr>
        <p:spPr>
          <a:xfrm>
            <a:off x="8229600" y="3968496"/>
            <a:ext cx="329184" cy="219456"/>
          </a:xfrm>
          <a:prstGeom prst="rightArrow">
            <a:avLst/>
          </a:prstGeom>
          <a:solidFill>
            <a:srgbClr val="C7D3DD"/>
          </a:solidFill>
          <a:ln/>
        </p:spPr>
      </p:sp>
      <p:sp>
        <p:nvSpPr>
          <p:cNvPr id="37" name="Shape 35"/>
          <p:cNvSpPr/>
          <p:nvPr/>
        </p:nvSpPr>
        <p:spPr>
          <a:xfrm>
            <a:off x="8631936" y="3803904"/>
            <a:ext cx="3108960" cy="548640"/>
          </a:xfrm>
          <a:prstGeom prst="rect">
            <a:avLst/>
          </a:prstGeom>
          <a:solidFill>
            <a:srgbClr val="0B6B50"/>
          </a:solidFill>
          <a:ln/>
        </p:spPr>
      </p:sp>
      <p:sp>
        <p:nvSpPr>
          <p:cNvPr id="38" name="Text 36"/>
          <p:cNvSpPr txBox="1"/>
          <p:nvPr/>
        </p:nvSpPr>
        <p:spPr>
          <a:xfrm>
            <a:off x="8631936" y="3803904"/>
            <a:ext cx="31089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39" name="Text 37"/>
          <p:cNvSpPr txBox="1"/>
          <p:nvPr/>
        </p:nvSpPr>
        <p:spPr>
          <a:xfrm>
            <a:off x="548640" y="4443984"/>
            <a:ext cx="11091672" cy="274320"/>
          </a:xfrm>
          <a:prstGeom prst="rect">
            <a:avLst/>
          </a:prstGeom>
          <a:noFill/>
          <a:ln/>
        </p:spPr>
        <p:txBody>
          <a:bodyPr wrap="square" lIns="0" tIns="0" rIns="0" bIns="0" rtlCol="0" anchor="ctr"/>
          <a:lstStyle/>
          <a:p>
            <a:pPr marL="0" indent="0">
              <a:buNone/>
            </a:pPr>
            <a:r>
              <a:rPr lang="en-US" sz="1050" dirty="0">
                <a:solidFill>
                  <a:srgbClr val="5F7082"/>
                </a:solidFill>
                <a:latin typeface="Calibri" pitchFamily="34" charset="0"/>
                <a:ea typeface="Calibri" pitchFamily="34" charset="-122"/>
                <a:cs typeface="Calibri" pitchFamily="34" charset="-120"/>
              </a:rPr>
              <a:t>Evaluation hər checkpoint-i yükləməzdən əvvəl onun SHA-256 dəyərini, run ID-sini, token sayını və optimizer addımını yoxlayır; uyğunsuzluqda proses dayanır.</a:t>
            </a:r>
            <a:endParaRPr lang="en-US" sz="1050" dirty="0"/>
          </a:p>
        </p:txBody>
      </p:sp>
      <p:sp>
        <p:nvSpPr>
          <p:cNvPr id="43" name="Shape 41"/>
          <p:cNvSpPr/>
          <p:nvPr/>
        </p:nvSpPr>
        <p:spPr>
          <a:xfrm>
            <a:off x="393192" y="5285232"/>
            <a:ext cx="11091672" cy="420624"/>
          </a:xfrm>
          <a:prstGeom prst="roundRect">
            <a:avLst>
              <a:gd name="adj" fmla="val 15217"/>
            </a:avLst>
          </a:prstGeom>
          <a:solidFill>
            <a:srgbClr val="EAF0F4"/>
          </a:solidFill>
          <a:ln/>
        </p:spPr>
      </p:sp>
      <p:sp>
        <p:nvSpPr>
          <p:cNvPr id="44" name="Text 42"/>
          <p:cNvSpPr txBox="1"/>
          <p:nvPr/>
        </p:nvSpPr>
        <p:spPr>
          <a:xfrm>
            <a:off x="557784" y="5303520"/>
            <a:ext cx="10762488" cy="42062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Nəticə:  </a:t>
            </a:r>
            <a:r>
              <a:rPr lang="en-US" sz="1200" dirty="0">
                <a:solidFill>
                  <a:srgbClr val="14202E"/>
                </a:solidFill>
                <a:latin typeface="Calibri" pitchFamily="34" charset="0"/>
                <a:ea typeface="Calibri" pitchFamily="34" charset="-122"/>
                <a:cs typeface="Calibri" pitchFamily="34" charset="-120"/>
              </a:rPr>
              <a:t>Training tamamlandı; növbəti mərhələ nəticələrin hansı data, config və checkpoint-dən yarandığını dəyişməz şəkildə sübut etmək idi.</a:t>
            </a:r>
            <a:endParaRPr lang="en-US" sz="1200" dirty="0"/>
          </a:p>
        </p:txBody>
      </p:sp>
      <p:sp>
        <p:nvSpPr>
          <p:cNvPr id="45" name="Text 43"/>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Fidan Allahverdiyeva  ·  Fidan200508</a:t>
            </a:r>
            <a:endParaRPr lang="en-US" sz="950" dirty="0"/>
          </a:p>
        </p:txBody>
      </p:sp>
      <p:sp>
        <p:nvSpPr>
          <p:cNvPr id="46" name="Text 44"/>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results/evaluation/workspace.json · src/evaluation/inputs.py</a:t>
            </a:r>
            <a:endParaRPr lang="en-US" sz="850" dirty="0"/>
          </a:p>
        </p:txBody>
      </p:sp>
      <p:sp>
        <p:nvSpPr>
          <p:cNvPr id="47" name="Text 45"/>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Research nəticəsinin izi: datadan final nəticəyə</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Reproducibility mücərrəd prinsip deyil — artefaktlar arasındakı yoxlana bilən zəncirdir</a:t>
            </a:r>
            <a:endParaRPr lang="en-US" sz="1300" dirty="0"/>
          </a:p>
        </p:txBody>
      </p:sp>
      <p:sp>
        <p:nvSpPr>
          <p:cNvPr id="5" name="Shape 3"/>
          <p:cNvSpPr/>
          <p:nvPr/>
        </p:nvSpPr>
        <p:spPr>
          <a:xfrm>
            <a:off x="548640" y="1481328"/>
            <a:ext cx="2468880" cy="603504"/>
          </a:xfrm>
          <a:prstGeom prst="rect">
            <a:avLst/>
          </a:prstGeom>
          <a:solidFill>
            <a:srgbClr val="F4F7F9"/>
          </a:solidFill>
          <a:ln w="16510">
            <a:solidFill>
              <a:srgbClr val="B9C7D3"/>
            </a:solidFill>
            <a:prstDash val="solid"/>
          </a:ln>
        </p:spPr>
      </p:sp>
      <p:sp>
        <p:nvSpPr>
          <p:cNvPr id="6" name="Text 4"/>
          <p:cNvSpPr txBox="1"/>
          <p:nvPr/>
        </p:nvSpPr>
        <p:spPr>
          <a:xfrm>
            <a:off x="640080" y="1554480"/>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Raw DOLLMA</a:t>
            </a:r>
            <a:endParaRPr lang="en-US" sz="1050" dirty="0"/>
          </a:p>
        </p:txBody>
      </p:sp>
      <p:sp>
        <p:nvSpPr>
          <p:cNvPr id="7" name="Text 5"/>
          <p:cNvSpPr txBox="1"/>
          <p:nvPr/>
        </p:nvSpPr>
        <p:spPr>
          <a:xfrm>
            <a:off x="640080" y="1755648"/>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inventory 9c9ff30f</a:t>
            </a:r>
            <a:endParaRPr lang="en-US" sz="800" dirty="0"/>
          </a:p>
        </p:txBody>
      </p:sp>
      <p:sp>
        <p:nvSpPr>
          <p:cNvPr id="8" name="Shape 6"/>
          <p:cNvSpPr/>
          <p:nvPr/>
        </p:nvSpPr>
        <p:spPr>
          <a:xfrm>
            <a:off x="3072384" y="1700784"/>
            <a:ext cx="237744" cy="164592"/>
          </a:xfrm>
          <a:prstGeom prst="rightArrow">
            <a:avLst/>
          </a:prstGeom>
          <a:solidFill>
            <a:srgbClr val="C7D3DD"/>
          </a:solidFill>
          <a:ln/>
        </p:spPr>
      </p:sp>
      <p:sp>
        <p:nvSpPr>
          <p:cNvPr id="9" name="Shape 7"/>
          <p:cNvSpPr/>
          <p:nvPr/>
        </p:nvSpPr>
        <p:spPr>
          <a:xfrm>
            <a:off x="3346704" y="1481328"/>
            <a:ext cx="2468880" cy="603504"/>
          </a:xfrm>
          <a:prstGeom prst="rect">
            <a:avLst/>
          </a:prstGeom>
          <a:solidFill>
            <a:srgbClr val="F4F7F9"/>
          </a:solidFill>
          <a:ln w="16510">
            <a:solidFill>
              <a:srgbClr val="B9C7D3"/>
            </a:solidFill>
            <a:prstDash val="solid"/>
          </a:ln>
        </p:spPr>
      </p:sp>
      <p:sp>
        <p:nvSpPr>
          <p:cNvPr id="10" name="Text 8"/>
          <p:cNvSpPr txBox="1"/>
          <p:nvPr/>
        </p:nvSpPr>
        <p:spPr>
          <a:xfrm>
            <a:off x="3438144" y="1554480"/>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Processed korpus</a:t>
            </a:r>
            <a:endParaRPr lang="en-US" sz="1050" dirty="0"/>
          </a:p>
        </p:txBody>
      </p:sp>
      <p:sp>
        <p:nvSpPr>
          <p:cNvPr id="11" name="Text 9"/>
          <p:cNvSpPr txBox="1"/>
          <p:nvPr/>
        </p:nvSpPr>
        <p:spPr>
          <a:xfrm>
            <a:off x="3438144" y="1755648"/>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train 1ee6f457</a:t>
            </a:r>
            <a:endParaRPr lang="en-US" sz="800" dirty="0"/>
          </a:p>
        </p:txBody>
      </p:sp>
      <p:sp>
        <p:nvSpPr>
          <p:cNvPr id="12" name="Shape 10"/>
          <p:cNvSpPr/>
          <p:nvPr/>
        </p:nvSpPr>
        <p:spPr>
          <a:xfrm>
            <a:off x="5870448" y="1700784"/>
            <a:ext cx="237744" cy="164592"/>
          </a:xfrm>
          <a:prstGeom prst="rightArrow">
            <a:avLst/>
          </a:prstGeom>
          <a:solidFill>
            <a:srgbClr val="C7D3DD"/>
          </a:solidFill>
          <a:ln/>
        </p:spPr>
      </p:sp>
      <p:sp>
        <p:nvSpPr>
          <p:cNvPr id="13" name="Shape 11"/>
          <p:cNvSpPr/>
          <p:nvPr/>
        </p:nvSpPr>
        <p:spPr>
          <a:xfrm>
            <a:off x="6144768" y="1481328"/>
            <a:ext cx="2468880" cy="603504"/>
          </a:xfrm>
          <a:prstGeom prst="rect">
            <a:avLst/>
          </a:prstGeom>
          <a:solidFill>
            <a:srgbClr val="F4F7F9"/>
          </a:solidFill>
          <a:ln w="16510">
            <a:solidFill>
              <a:srgbClr val="B9C7D3"/>
            </a:solidFill>
            <a:prstDash val="solid"/>
          </a:ln>
        </p:spPr>
      </p:sp>
      <p:sp>
        <p:nvSpPr>
          <p:cNvPr id="14" name="Text 12"/>
          <p:cNvSpPr txBox="1"/>
          <p:nvPr/>
        </p:nvSpPr>
        <p:spPr>
          <a:xfrm>
            <a:off x="6236208" y="1554480"/>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Tokenizer</a:t>
            </a:r>
            <a:endParaRPr lang="en-US" sz="1050" dirty="0"/>
          </a:p>
        </p:txBody>
      </p:sp>
      <p:sp>
        <p:nvSpPr>
          <p:cNvPr id="15" name="Text 13"/>
          <p:cNvSpPr txBox="1"/>
          <p:nvPr/>
        </p:nvSpPr>
        <p:spPr>
          <a:xfrm>
            <a:off x="6236208" y="1755648"/>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be05949c</a:t>
            </a:r>
            <a:endParaRPr lang="en-US" sz="800" dirty="0"/>
          </a:p>
        </p:txBody>
      </p:sp>
      <p:sp>
        <p:nvSpPr>
          <p:cNvPr id="16" name="Shape 14"/>
          <p:cNvSpPr/>
          <p:nvPr/>
        </p:nvSpPr>
        <p:spPr>
          <a:xfrm>
            <a:off x="8668512" y="1700784"/>
            <a:ext cx="237744" cy="164592"/>
          </a:xfrm>
          <a:prstGeom prst="rightArrow">
            <a:avLst/>
          </a:prstGeom>
          <a:solidFill>
            <a:srgbClr val="C7D3DD"/>
          </a:solidFill>
          <a:ln/>
        </p:spPr>
      </p:sp>
      <p:sp>
        <p:nvSpPr>
          <p:cNvPr id="17" name="Shape 15"/>
          <p:cNvSpPr/>
          <p:nvPr/>
        </p:nvSpPr>
        <p:spPr>
          <a:xfrm>
            <a:off x="8942832" y="1481328"/>
            <a:ext cx="2468880" cy="603504"/>
          </a:xfrm>
          <a:prstGeom prst="rect">
            <a:avLst/>
          </a:prstGeom>
          <a:solidFill>
            <a:srgbClr val="F4F7F9"/>
          </a:solidFill>
          <a:ln w="16510">
            <a:solidFill>
              <a:srgbClr val="B9C7D3"/>
            </a:solidFill>
            <a:prstDash val="solid"/>
          </a:ln>
        </p:spPr>
      </p:sp>
      <p:sp>
        <p:nvSpPr>
          <p:cNvPr id="18" name="Text 16"/>
          <p:cNvSpPr txBox="1"/>
          <p:nvPr/>
        </p:nvSpPr>
        <p:spPr>
          <a:xfrm>
            <a:off x="9034272" y="1554480"/>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50M sequence</a:t>
            </a:r>
            <a:endParaRPr lang="en-US" sz="1050" dirty="0"/>
          </a:p>
        </p:txBody>
      </p:sp>
      <p:sp>
        <p:nvSpPr>
          <p:cNvPr id="19" name="Text 17"/>
          <p:cNvSpPr txBox="1"/>
          <p:nvPr/>
        </p:nvSpPr>
        <p:spPr>
          <a:xfrm>
            <a:off x="9034272" y="1755648"/>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805f7b18</a:t>
            </a:r>
            <a:endParaRPr lang="en-US" sz="800" dirty="0"/>
          </a:p>
        </p:txBody>
      </p:sp>
      <p:sp>
        <p:nvSpPr>
          <p:cNvPr id="20" name="Shape 18"/>
          <p:cNvSpPr/>
          <p:nvPr/>
        </p:nvSpPr>
        <p:spPr>
          <a:xfrm>
            <a:off x="548640" y="2798064"/>
            <a:ext cx="2468880" cy="603504"/>
          </a:xfrm>
          <a:prstGeom prst="rect">
            <a:avLst/>
          </a:prstGeom>
          <a:solidFill>
            <a:srgbClr val="E8F1F7"/>
          </a:solidFill>
          <a:ln w="16510">
            <a:solidFill>
              <a:srgbClr val="7FB3D5"/>
            </a:solidFill>
            <a:prstDash val="solid"/>
          </a:ln>
        </p:spPr>
      </p:sp>
      <p:sp>
        <p:nvSpPr>
          <p:cNvPr id="21" name="Text 19"/>
          <p:cNvSpPr txBox="1"/>
          <p:nvPr/>
        </p:nvSpPr>
        <p:spPr>
          <a:xfrm>
            <a:off x="640080" y="2871216"/>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Config  (PE arm)</a:t>
            </a:r>
            <a:endParaRPr lang="en-US" sz="1050" dirty="0"/>
          </a:p>
        </p:txBody>
      </p:sp>
      <p:sp>
        <p:nvSpPr>
          <p:cNvPr id="22" name="Text 20"/>
          <p:cNvSpPr txBox="1"/>
          <p:nvPr/>
        </p:nvSpPr>
        <p:spPr>
          <a:xfrm>
            <a:off x="640080" y="3072384"/>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pe_type + model_base</a:t>
            </a:r>
            <a:endParaRPr lang="en-US" sz="800" dirty="0"/>
          </a:p>
        </p:txBody>
      </p:sp>
      <p:sp>
        <p:nvSpPr>
          <p:cNvPr id="23" name="Shape 21"/>
          <p:cNvSpPr/>
          <p:nvPr/>
        </p:nvSpPr>
        <p:spPr>
          <a:xfrm>
            <a:off x="3072384" y="3017520"/>
            <a:ext cx="237744" cy="164592"/>
          </a:xfrm>
          <a:prstGeom prst="rightArrow">
            <a:avLst/>
          </a:prstGeom>
          <a:solidFill>
            <a:srgbClr val="C7D3DD"/>
          </a:solidFill>
          <a:ln/>
        </p:spPr>
      </p:sp>
      <p:sp>
        <p:nvSpPr>
          <p:cNvPr id="24" name="Shape 22"/>
          <p:cNvSpPr/>
          <p:nvPr/>
        </p:nvSpPr>
        <p:spPr>
          <a:xfrm>
            <a:off x="3346704" y="2798064"/>
            <a:ext cx="2468880" cy="603504"/>
          </a:xfrm>
          <a:prstGeom prst="rect">
            <a:avLst/>
          </a:prstGeom>
          <a:solidFill>
            <a:srgbClr val="E8F1F7"/>
          </a:solidFill>
          <a:ln w="16510">
            <a:solidFill>
              <a:srgbClr val="7FB3D5"/>
            </a:solidFill>
            <a:prstDash val="solid"/>
          </a:ln>
        </p:spPr>
      </p:sp>
      <p:sp>
        <p:nvSpPr>
          <p:cNvPr id="25" name="Text 23"/>
          <p:cNvSpPr txBox="1"/>
          <p:nvPr/>
        </p:nvSpPr>
        <p:spPr>
          <a:xfrm>
            <a:off x="3438144" y="2871216"/>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Source commit</a:t>
            </a:r>
            <a:endParaRPr lang="en-US" sz="1050" dirty="0"/>
          </a:p>
        </p:txBody>
      </p:sp>
      <p:sp>
        <p:nvSpPr>
          <p:cNvPr id="26" name="Text 24"/>
          <p:cNvSpPr txBox="1"/>
          <p:nvPr/>
        </p:nvSpPr>
        <p:spPr>
          <a:xfrm>
            <a:off x="3438144" y="3072384"/>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c1912f6e</a:t>
            </a:r>
            <a:endParaRPr lang="en-US" sz="800" dirty="0"/>
          </a:p>
        </p:txBody>
      </p:sp>
      <p:sp>
        <p:nvSpPr>
          <p:cNvPr id="27" name="Shape 25"/>
          <p:cNvSpPr/>
          <p:nvPr/>
        </p:nvSpPr>
        <p:spPr>
          <a:xfrm>
            <a:off x="5870448" y="3017520"/>
            <a:ext cx="237744" cy="164592"/>
          </a:xfrm>
          <a:prstGeom prst="rightArrow">
            <a:avLst/>
          </a:prstGeom>
          <a:solidFill>
            <a:srgbClr val="C7D3DD"/>
          </a:solidFill>
          <a:ln/>
        </p:spPr>
      </p:sp>
      <p:sp>
        <p:nvSpPr>
          <p:cNvPr id="28" name="Shape 26"/>
          <p:cNvSpPr/>
          <p:nvPr/>
        </p:nvSpPr>
        <p:spPr>
          <a:xfrm>
            <a:off x="6144768" y="2798064"/>
            <a:ext cx="2468880" cy="603504"/>
          </a:xfrm>
          <a:prstGeom prst="rect">
            <a:avLst/>
          </a:prstGeom>
          <a:solidFill>
            <a:srgbClr val="E8F1F7"/>
          </a:solidFill>
          <a:ln w="16510">
            <a:solidFill>
              <a:srgbClr val="7FB3D5"/>
            </a:solidFill>
            <a:prstDash val="solid"/>
          </a:ln>
        </p:spPr>
      </p:sp>
      <p:sp>
        <p:nvSpPr>
          <p:cNvPr id="29" name="Text 27"/>
          <p:cNvSpPr txBox="1"/>
          <p:nvPr/>
        </p:nvSpPr>
        <p:spPr>
          <a:xfrm>
            <a:off x="6236208" y="2871216"/>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Run ID  /  seed</a:t>
            </a:r>
            <a:endParaRPr lang="en-US" sz="1050" dirty="0"/>
          </a:p>
        </p:txBody>
      </p:sp>
      <p:sp>
        <p:nvSpPr>
          <p:cNvPr id="30" name="Text 28"/>
          <p:cNvSpPr txBox="1"/>
          <p:nvPr/>
        </p:nvSpPr>
        <p:spPr>
          <a:xfrm>
            <a:off x="6236208" y="3072384"/>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p31az-alibi-s17-…</a:t>
            </a:r>
            <a:endParaRPr lang="en-US" sz="800" dirty="0"/>
          </a:p>
        </p:txBody>
      </p:sp>
      <p:sp>
        <p:nvSpPr>
          <p:cNvPr id="31" name="Shape 29"/>
          <p:cNvSpPr/>
          <p:nvPr/>
        </p:nvSpPr>
        <p:spPr>
          <a:xfrm>
            <a:off x="8668512" y="3017520"/>
            <a:ext cx="237744" cy="164592"/>
          </a:xfrm>
          <a:prstGeom prst="rightArrow">
            <a:avLst/>
          </a:prstGeom>
          <a:solidFill>
            <a:srgbClr val="C7D3DD"/>
          </a:solidFill>
          <a:ln/>
        </p:spPr>
      </p:sp>
      <p:sp>
        <p:nvSpPr>
          <p:cNvPr id="32" name="Shape 30"/>
          <p:cNvSpPr/>
          <p:nvPr/>
        </p:nvSpPr>
        <p:spPr>
          <a:xfrm>
            <a:off x="8942832" y="2798064"/>
            <a:ext cx="2468880" cy="603504"/>
          </a:xfrm>
          <a:prstGeom prst="rect">
            <a:avLst/>
          </a:prstGeom>
          <a:solidFill>
            <a:srgbClr val="E8F1F7"/>
          </a:solidFill>
          <a:ln w="16510">
            <a:solidFill>
              <a:srgbClr val="7FB3D5"/>
            </a:solidFill>
            <a:prstDash val="solid"/>
          </a:ln>
        </p:spPr>
      </p:sp>
      <p:sp>
        <p:nvSpPr>
          <p:cNvPr id="33" name="Text 31"/>
          <p:cNvSpPr txBox="1"/>
          <p:nvPr/>
        </p:nvSpPr>
        <p:spPr>
          <a:xfrm>
            <a:off x="9034272" y="2871216"/>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Checkpoint</a:t>
            </a:r>
            <a:endParaRPr lang="en-US" sz="1050" dirty="0"/>
          </a:p>
        </p:txBody>
      </p:sp>
      <p:sp>
        <p:nvSpPr>
          <p:cNvPr id="34" name="Text 32"/>
          <p:cNvSpPr txBox="1"/>
          <p:nvPr/>
        </p:nvSpPr>
        <p:spPr>
          <a:xfrm>
            <a:off x="9034272" y="3072384"/>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50m_model.pt  ·  SHA-256</a:t>
            </a:r>
            <a:endParaRPr lang="en-US" sz="800" dirty="0"/>
          </a:p>
        </p:txBody>
      </p:sp>
      <p:sp>
        <p:nvSpPr>
          <p:cNvPr id="35" name="Shape 33"/>
          <p:cNvSpPr/>
          <p:nvPr/>
        </p:nvSpPr>
        <p:spPr>
          <a:xfrm>
            <a:off x="548640" y="4114800"/>
            <a:ext cx="2468880" cy="603504"/>
          </a:xfrm>
          <a:prstGeom prst="rect">
            <a:avLst/>
          </a:prstGeom>
          <a:solidFill>
            <a:srgbClr val="E6F5EF"/>
          </a:solidFill>
          <a:ln w="16510">
            <a:solidFill>
              <a:srgbClr val="6BBFA2"/>
            </a:solidFill>
            <a:prstDash val="solid"/>
          </a:ln>
        </p:spPr>
      </p:sp>
      <p:sp>
        <p:nvSpPr>
          <p:cNvPr id="36" name="Text 34"/>
          <p:cNvSpPr txBox="1"/>
          <p:nvPr/>
        </p:nvSpPr>
        <p:spPr>
          <a:xfrm>
            <a:off x="640080" y="4187952"/>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Evaluation protokolu</a:t>
            </a:r>
            <a:endParaRPr lang="en-US" sz="1050" dirty="0"/>
          </a:p>
        </p:txBody>
      </p:sp>
      <p:sp>
        <p:nvSpPr>
          <p:cNvPr id="37" name="Text 35"/>
          <p:cNvSpPr txBox="1"/>
          <p:nvPr/>
        </p:nvSpPr>
        <p:spPr>
          <a:xfrm>
            <a:off x="640080" y="4389120"/>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frozen  ·  version 2</a:t>
            </a:r>
            <a:endParaRPr lang="en-US" sz="800" dirty="0"/>
          </a:p>
        </p:txBody>
      </p:sp>
      <p:sp>
        <p:nvSpPr>
          <p:cNvPr id="38" name="Shape 36"/>
          <p:cNvSpPr/>
          <p:nvPr/>
        </p:nvSpPr>
        <p:spPr>
          <a:xfrm>
            <a:off x="3072384" y="4334256"/>
            <a:ext cx="237744" cy="164592"/>
          </a:xfrm>
          <a:prstGeom prst="rightArrow">
            <a:avLst/>
          </a:prstGeom>
          <a:solidFill>
            <a:srgbClr val="C7D3DD"/>
          </a:solidFill>
          <a:ln/>
        </p:spPr>
      </p:sp>
      <p:sp>
        <p:nvSpPr>
          <p:cNvPr id="39" name="Shape 37"/>
          <p:cNvSpPr/>
          <p:nvPr/>
        </p:nvSpPr>
        <p:spPr>
          <a:xfrm>
            <a:off x="3346704" y="4114800"/>
            <a:ext cx="2468880" cy="603504"/>
          </a:xfrm>
          <a:prstGeom prst="rect">
            <a:avLst/>
          </a:prstGeom>
          <a:solidFill>
            <a:srgbClr val="E6F5EF"/>
          </a:solidFill>
          <a:ln w="16510">
            <a:solidFill>
              <a:srgbClr val="6BBFA2"/>
            </a:solidFill>
            <a:prstDash val="solid"/>
          </a:ln>
        </p:spPr>
      </p:sp>
      <p:sp>
        <p:nvSpPr>
          <p:cNvPr id="40" name="Text 38"/>
          <p:cNvSpPr txBox="1"/>
          <p:nvPr/>
        </p:nvSpPr>
        <p:spPr>
          <a:xfrm>
            <a:off x="3438144" y="4187952"/>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Final test lock</a:t>
            </a:r>
            <a:endParaRPr lang="en-US" sz="1050" dirty="0"/>
          </a:p>
        </p:txBody>
      </p:sp>
      <p:sp>
        <p:nvSpPr>
          <p:cNvPr id="41" name="Text 39"/>
          <p:cNvSpPr txBox="1"/>
          <p:nvPr/>
        </p:nvSpPr>
        <p:spPr>
          <a:xfrm>
            <a:off x="3438144" y="4389120"/>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361f347b</a:t>
            </a:r>
            <a:endParaRPr lang="en-US" sz="800" dirty="0"/>
          </a:p>
        </p:txBody>
      </p:sp>
      <p:sp>
        <p:nvSpPr>
          <p:cNvPr id="42" name="Shape 40"/>
          <p:cNvSpPr/>
          <p:nvPr/>
        </p:nvSpPr>
        <p:spPr>
          <a:xfrm>
            <a:off x="5870448" y="4334256"/>
            <a:ext cx="237744" cy="164592"/>
          </a:xfrm>
          <a:prstGeom prst="rightArrow">
            <a:avLst/>
          </a:prstGeom>
          <a:solidFill>
            <a:srgbClr val="C7D3DD"/>
          </a:solidFill>
          <a:ln/>
        </p:spPr>
      </p:sp>
      <p:sp>
        <p:nvSpPr>
          <p:cNvPr id="43" name="Shape 41"/>
          <p:cNvSpPr/>
          <p:nvPr/>
        </p:nvSpPr>
        <p:spPr>
          <a:xfrm>
            <a:off x="6144768" y="4114800"/>
            <a:ext cx="2468880" cy="603504"/>
          </a:xfrm>
          <a:prstGeom prst="rect">
            <a:avLst/>
          </a:prstGeom>
          <a:solidFill>
            <a:srgbClr val="E6F5EF"/>
          </a:solidFill>
          <a:ln w="16510">
            <a:solidFill>
              <a:srgbClr val="6BBFA2"/>
            </a:solidFill>
            <a:prstDash val="solid"/>
          </a:ln>
        </p:spPr>
      </p:sp>
      <p:sp>
        <p:nvSpPr>
          <p:cNvPr id="44" name="Text 42"/>
          <p:cNvSpPr txBox="1"/>
          <p:nvPr/>
        </p:nvSpPr>
        <p:spPr>
          <a:xfrm>
            <a:off x="6236208" y="4187952"/>
            <a:ext cx="2286000" cy="219456"/>
          </a:xfrm>
          <a:prstGeom prst="rect">
            <a:avLst/>
          </a:prstGeom>
          <a:noFill/>
          <a:ln/>
        </p:spPr>
        <p:txBody>
          <a:bodyPr wrap="square" lIns="0" tIns="0" rIns="0" bIns="0" rtlCol="0" anchor="ctr"/>
          <a:lstStyle/>
          <a:p>
            <a:pPr marL="0" indent="0" algn="ctr">
              <a:buNone/>
            </a:pPr>
            <a:r>
              <a:rPr lang="en-US" sz="1050" b="1" dirty="0">
                <a:solidFill>
                  <a:srgbClr val="0E2438"/>
                </a:solidFill>
                <a:latin typeface="Calibri" pitchFamily="34" charset="0"/>
                <a:ea typeface="Calibri" pitchFamily="34" charset="-122"/>
                <a:cs typeface="Calibri" pitchFamily="34" charset="-120"/>
              </a:rPr>
              <a:t>Score faylları</a:t>
            </a:r>
            <a:endParaRPr lang="en-US" sz="1050" dirty="0"/>
          </a:p>
        </p:txBody>
      </p:sp>
      <p:sp>
        <p:nvSpPr>
          <p:cNvPr id="45" name="Text 43"/>
          <p:cNvSpPr txBox="1"/>
          <p:nvPr/>
        </p:nvSpPr>
        <p:spPr>
          <a:xfrm>
            <a:off x="6236208" y="4389120"/>
            <a:ext cx="22860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100 JSON + NPZ</a:t>
            </a:r>
            <a:endParaRPr lang="en-US" sz="800" dirty="0"/>
          </a:p>
        </p:txBody>
      </p:sp>
      <p:sp>
        <p:nvSpPr>
          <p:cNvPr id="46" name="Shape 44"/>
          <p:cNvSpPr/>
          <p:nvPr/>
        </p:nvSpPr>
        <p:spPr>
          <a:xfrm>
            <a:off x="8668512" y="4334256"/>
            <a:ext cx="237744" cy="164592"/>
          </a:xfrm>
          <a:prstGeom prst="rightArrow">
            <a:avLst/>
          </a:prstGeom>
          <a:solidFill>
            <a:srgbClr val="C7D3DD"/>
          </a:solidFill>
          <a:ln/>
        </p:spPr>
      </p:sp>
      <p:sp>
        <p:nvSpPr>
          <p:cNvPr id="47" name="Shape 45"/>
          <p:cNvSpPr/>
          <p:nvPr/>
        </p:nvSpPr>
        <p:spPr>
          <a:xfrm>
            <a:off x="8942832" y="4114800"/>
            <a:ext cx="2697480" cy="603504"/>
          </a:xfrm>
          <a:prstGeom prst="rect">
            <a:avLst/>
          </a:prstGeom>
          <a:solidFill>
            <a:srgbClr val="009E73"/>
          </a:solidFill>
          <a:ln/>
        </p:spPr>
      </p:sp>
      <p:sp>
        <p:nvSpPr>
          <p:cNvPr id="48" name="Text 46"/>
          <p:cNvSpPr txBox="1"/>
          <p:nvPr/>
        </p:nvSpPr>
        <p:spPr>
          <a:xfrm>
            <a:off x="9034272" y="4187952"/>
            <a:ext cx="2514600"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Nəticə cədvəlləri</a:t>
            </a:r>
            <a:endParaRPr lang="en-US" sz="1050" dirty="0"/>
          </a:p>
        </p:txBody>
      </p:sp>
      <p:sp>
        <p:nvSpPr>
          <p:cNvPr id="49" name="Text 47"/>
          <p:cNvSpPr txBox="1"/>
          <p:nvPr/>
        </p:nvSpPr>
        <p:spPr>
          <a:xfrm>
            <a:off x="9034272" y="4389120"/>
            <a:ext cx="2514600" cy="274320"/>
          </a:xfrm>
          <a:prstGeom prst="rect">
            <a:avLst/>
          </a:prstGeom>
          <a:noFill/>
          <a:ln/>
        </p:spPr>
        <p:txBody>
          <a:bodyPr wrap="square" lIns="0" tIns="0" rIns="0" bIns="0" rtlCol="0" anchor="ctr"/>
          <a:lstStyle/>
          <a:p>
            <a:pPr marL="0" indent="0" algn="ctr">
              <a:buNone/>
            </a:pPr>
            <a:r>
              <a:rPr lang="en-US" sz="800" dirty="0">
                <a:solidFill>
                  <a:srgbClr val="5F7082"/>
                </a:solidFill>
                <a:latin typeface="Courier New" pitchFamily="34" charset="0"/>
                <a:ea typeface="Courier New" pitchFamily="34" charset="-122"/>
                <a:cs typeface="Courier New" pitchFamily="34" charset="-120"/>
              </a:rPr>
              <a:t>primary · pairwise · length</a:t>
            </a:r>
            <a:endParaRPr lang="en-US" sz="800" dirty="0"/>
          </a:p>
        </p:txBody>
      </p:sp>
      <p:sp>
        <p:nvSpPr>
          <p:cNvPr id="50" name="Shape 48"/>
          <p:cNvSpPr/>
          <p:nvPr/>
        </p:nvSpPr>
        <p:spPr>
          <a:xfrm>
            <a:off x="1828800" y="2139696"/>
            <a:ext cx="164592" cy="585216"/>
          </a:xfrm>
          <a:prstGeom prst="downArrow">
            <a:avLst/>
          </a:prstGeom>
          <a:solidFill>
            <a:srgbClr val="C7D3DD"/>
          </a:solidFill>
          <a:ln/>
        </p:spPr>
      </p:sp>
      <p:sp>
        <p:nvSpPr>
          <p:cNvPr id="51" name="Shape 49"/>
          <p:cNvSpPr/>
          <p:nvPr/>
        </p:nvSpPr>
        <p:spPr>
          <a:xfrm>
            <a:off x="4626864" y="2139696"/>
            <a:ext cx="164592" cy="585216"/>
          </a:xfrm>
          <a:prstGeom prst="downArrow">
            <a:avLst/>
          </a:prstGeom>
          <a:solidFill>
            <a:srgbClr val="C7D3DD"/>
          </a:solidFill>
          <a:ln/>
        </p:spPr>
      </p:sp>
      <p:sp>
        <p:nvSpPr>
          <p:cNvPr id="52" name="Shape 50"/>
          <p:cNvSpPr/>
          <p:nvPr/>
        </p:nvSpPr>
        <p:spPr>
          <a:xfrm>
            <a:off x="7424928" y="2139696"/>
            <a:ext cx="164592" cy="585216"/>
          </a:xfrm>
          <a:prstGeom prst="downArrow">
            <a:avLst/>
          </a:prstGeom>
          <a:solidFill>
            <a:srgbClr val="C7D3DD"/>
          </a:solidFill>
          <a:ln/>
        </p:spPr>
      </p:sp>
      <p:sp>
        <p:nvSpPr>
          <p:cNvPr id="53" name="Shape 51"/>
          <p:cNvSpPr/>
          <p:nvPr/>
        </p:nvSpPr>
        <p:spPr>
          <a:xfrm>
            <a:off x="10222992" y="2139696"/>
            <a:ext cx="164592" cy="585216"/>
          </a:xfrm>
          <a:prstGeom prst="downArrow">
            <a:avLst/>
          </a:prstGeom>
          <a:solidFill>
            <a:srgbClr val="C7D3DD"/>
          </a:solidFill>
          <a:ln/>
        </p:spPr>
      </p:sp>
      <p:sp>
        <p:nvSpPr>
          <p:cNvPr id="54" name="Shape 52"/>
          <p:cNvSpPr/>
          <p:nvPr/>
        </p:nvSpPr>
        <p:spPr>
          <a:xfrm>
            <a:off x="10222992" y="3456432"/>
            <a:ext cx="164592" cy="585216"/>
          </a:xfrm>
          <a:prstGeom prst="downArrow">
            <a:avLst/>
          </a:prstGeom>
          <a:solidFill>
            <a:srgbClr val="C7D3DD"/>
          </a:solidFill>
          <a:ln/>
        </p:spPr>
      </p:sp>
      <p:sp>
        <p:nvSpPr>
          <p:cNvPr id="55" name="Shape 53"/>
          <p:cNvSpPr/>
          <p:nvPr/>
        </p:nvSpPr>
        <p:spPr>
          <a:xfrm>
            <a:off x="548640" y="4937760"/>
            <a:ext cx="11091672" cy="822960"/>
          </a:xfrm>
          <a:prstGeom prst="roundRect">
            <a:avLst>
              <a:gd name="adj" fmla="val 7778"/>
            </a:avLst>
          </a:prstGeom>
          <a:solidFill>
            <a:srgbClr val="F4F7F9"/>
          </a:solidFill>
          <a:ln/>
        </p:spPr>
      </p:sp>
      <p:sp>
        <p:nvSpPr>
          <p:cNvPr id="56" name="Text 54"/>
          <p:cNvSpPr txBox="1"/>
          <p:nvPr/>
        </p:nvSpPr>
        <p:spPr>
          <a:xfrm>
            <a:off x="731520" y="4937760"/>
            <a:ext cx="10698480" cy="822960"/>
          </a:xfrm>
          <a:prstGeom prst="rect">
            <a:avLst/>
          </a:prstGeom>
          <a:noFill/>
          <a:ln/>
        </p:spPr>
        <p:txBody>
          <a:bodyPr wrap="square" lIns="0" tIns="0" rIns="0" bIns="0" rtlCol="0" anchor="ctr"/>
          <a:lstStyle/>
          <a:p>
            <a:pPr marL="0" indent="0">
              <a:buNone/>
            </a:pPr>
            <a:r>
              <a:rPr lang="en-US" sz="1150" dirty="0">
                <a:solidFill>
                  <a:srgbClr val="14202E"/>
                </a:solidFill>
                <a:latin typeface="Calibri" pitchFamily="34" charset="0"/>
                <a:ea typeface="Calibri" pitchFamily="34" charset="-122"/>
                <a:cs typeface="Calibri" pitchFamily="34" charset="-120"/>
              </a:rPr>
              <a:t>Zəncirin hər halqası növbətisinə istinad edir: hər nəticə sətri konkret checkpoint-ə, o checkpoint konkret run ID və seed-ə, run isə konkret config, commit və token ardıcıllığına bağlıdır. Bir halqa dəyişsə, aşağıdakı hər şeyin identifikatoru dəyişir.</a:t>
            </a:r>
            <a:endParaRPr lang="en-US" sz="1150" dirty="0"/>
          </a:p>
        </p:txBody>
      </p:sp>
      <p:sp>
        <p:nvSpPr>
          <p:cNvPr id="57" name="Shape 55"/>
          <p:cNvSpPr/>
          <p:nvPr/>
        </p:nvSpPr>
        <p:spPr>
          <a:xfrm>
            <a:off x="548640" y="5888736"/>
            <a:ext cx="11091672" cy="420624"/>
          </a:xfrm>
          <a:prstGeom prst="roundRect">
            <a:avLst>
              <a:gd name="adj" fmla="val 15217"/>
            </a:avLst>
          </a:prstGeom>
          <a:solidFill>
            <a:srgbClr val="EAF0F4"/>
          </a:solidFill>
          <a:ln/>
        </p:spPr>
      </p:sp>
      <p:sp>
        <p:nvSpPr>
          <p:cNvPr id="58" name="Text 56"/>
          <p:cNvSpPr txBox="1"/>
          <p:nvPr/>
        </p:nvSpPr>
        <p:spPr>
          <a:xfrm>
            <a:off x="713232" y="5907024"/>
            <a:ext cx="10762488" cy="42062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Bu niyə vacibdir?  </a:t>
            </a:r>
            <a:r>
              <a:rPr lang="en-US" sz="1200" dirty="0">
                <a:solidFill>
                  <a:srgbClr val="14202E"/>
                </a:solidFill>
                <a:latin typeface="Calibri" pitchFamily="34" charset="0"/>
                <a:ea typeface="Calibri" pitchFamily="34" charset="-122"/>
                <a:cs typeface="Calibri" pitchFamily="34" charset="-120"/>
              </a:rPr>
              <a:t>“Nəticəni necə aldınız?” sualına cavab söz deyil, izlənə bilən artefakt zənciridir.</a:t>
            </a:r>
            <a:endParaRPr lang="en-US" sz="1200" dirty="0"/>
          </a:p>
        </p:txBody>
      </p:sp>
      <p:sp>
        <p:nvSpPr>
          <p:cNvPr id="59" name="Text 57"/>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60" name="Text 58"/>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data/metadata/training_data_contract.json · results/evaluation/workspace.json</a:t>
            </a:r>
            <a:endParaRPr lang="en-US" sz="850" dirty="0"/>
          </a:p>
        </p:txBody>
      </p:sp>
      <p:sp>
        <p:nvSpPr>
          <p:cNvPr id="61" name="Text 59"/>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SHA-256 ilə artifact identity</a:t>
            </a:r>
            <a:endParaRPr lang="en-US" sz="2500" dirty="0"/>
          </a:p>
        </p:txBody>
      </p:sp>
      <p:sp>
        <p:nvSpPr>
          <p:cNvPr id="4" name="Shape 2"/>
          <p:cNvSpPr/>
          <p:nvPr/>
        </p:nvSpPr>
        <p:spPr>
          <a:xfrm>
            <a:off x="548640" y="1188720"/>
            <a:ext cx="5212080" cy="1371600"/>
          </a:xfrm>
          <a:prstGeom prst="roundRect">
            <a:avLst>
              <a:gd name="adj" fmla="val 4667"/>
            </a:avLst>
          </a:prstGeom>
          <a:solidFill>
            <a:srgbClr val="FDF3EC"/>
          </a:solidFill>
          <a:ln/>
        </p:spPr>
      </p:sp>
      <p:sp>
        <p:nvSpPr>
          <p:cNvPr id="5" name="Text 3"/>
          <p:cNvSpPr txBox="1"/>
          <p:nvPr/>
        </p:nvSpPr>
        <p:spPr>
          <a:xfrm>
            <a:off x="731520" y="1298448"/>
            <a:ext cx="484632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PROBLEM: FAYL ADI KİFAYƏT DEYİL</a:t>
            </a:r>
            <a:endParaRPr lang="en-US" sz="1050" dirty="0"/>
          </a:p>
        </p:txBody>
      </p:sp>
      <p:sp>
        <p:nvSpPr>
          <p:cNvPr id="6" name="Shape 4"/>
          <p:cNvSpPr/>
          <p:nvPr/>
        </p:nvSpPr>
        <p:spPr>
          <a:xfrm>
            <a:off x="731520" y="1591056"/>
            <a:ext cx="2194560" cy="384048"/>
          </a:xfrm>
          <a:prstGeom prst="rect">
            <a:avLst/>
          </a:prstGeom>
          <a:solidFill>
            <a:srgbClr val="FFFFFF"/>
          </a:solidFill>
          <a:ln w="15240">
            <a:solidFill>
              <a:srgbClr val="D9C2A0"/>
            </a:solidFill>
            <a:prstDash val="solid"/>
          </a:ln>
        </p:spPr>
      </p:sp>
      <p:sp>
        <p:nvSpPr>
          <p:cNvPr id="7" name="Text 5"/>
          <p:cNvSpPr txBox="1"/>
          <p:nvPr/>
        </p:nvSpPr>
        <p:spPr>
          <a:xfrm>
            <a:off x="731520" y="1591056"/>
            <a:ext cx="2194560" cy="384048"/>
          </a:xfrm>
          <a:prstGeom prst="rect">
            <a:avLst/>
          </a:prstGeom>
          <a:noFill/>
          <a:ln/>
        </p:spPr>
        <p:txBody>
          <a:bodyPr wrap="square" lIns="0" tIns="0" rIns="0" bIns="0" rtlCol="0" anchor="ctr"/>
          <a:lstStyle/>
          <a:p>
            <a:pPr marL="0" indent="0" algn="ctr">
              <a:buNone/>
            </a:pPr>
            <a:r>
              <a:rPr lang="en-US" sz="1100" dirty="0">
                <a:solidFill>
                  <a:srgbClr val="0E2438"/>
                </a:solidFill>
                <a:latin typeface="Courier New" pitchFamily="34" charset="0"/>
                <a:ea typeface="Courier New" pitchFamily="34" charset="-122"/>
                <a:cs typeface="Courier New" pitchFamily="34" charset="-120"/>
              </a:rPr>
              <a:t>train.parquet</a:t>
            </a:r>
            <a:endParaRPr lang="en-US" sz="1100" dirty="0"/>
          </a:p>
        </p:txBody>
      </p:sp>
      <p:sp>
        <p:nvSpPr>
          <p:cNvPr id="8" name="Text 6"/>
          <p:cNvSpPr txBox="1"/>
          <p:nvPr/>
        </p:nvSpPr>
        <p:spPr>
          <a:xfrm>
            <a:off x="3017520" y="1591056"/>
            <a:ext cx="365760" cy="384048"/>
          </a:xfrm>
          <a:prstGeom prst="rect">
            <a:avLst/>
          </a:prstGeom>
          <a:noFill/>
          <a:ln/>
        </p:spPr>
        <p:txBody>
          <a:bodyPr wrap="square" lIns="0" tIns="0" rIns="0" bIns="0" rtlCol="0" anchor="ctr"/>
          <a:lstStyle/>
          <a:p>
            <a:pPr marL="0" indent="0" algn="ctr">
              <a:buNone/>
            </a:pPr>
            <a:r>
              <a:rPr lang="en-US" sz="1500" b="1" dirty="0">
                <a:solidFill>
                  <a:srgbClr val="B26B00"/>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3474720" y="1591056"/>
            <a:ext cx="2194560" cy="384048"/>
          </a:xfrm>
          <a:prstGeom prst="rect">
            <a:avLst/>
          </a:prstGeom>
          <a:solidFill>
            <a:srgbClr val="FFFFFF"/>
          </a:solidFill>
          <a:ln w="15240">
            <a:solidFill>
              <a:srgbClr val="D9C2A0"/>
            </a:solidFill>
            <a:prstDash val="solid"/>
          </a:ln>
        </p:spPr>
      </p:sp>
      <p:sp>
        <p:nvSpPr>
          <p:cNvPr id="10" name="Text 8"/>
          <p:cNvSpPr txBox="1"/>
          <p:nvPr/>
        </p:nvSpPr>
        <p:spPr>
          <a:xfrm>
            <a:off x="3474720" y="1591056"/>
            <a:ext cx="2194560" cy="384048"/>
          </a:xfrm>
          <a:prstGeom prst="rect">
            <a:avLst/>
          </a:prstGeom>
          <a:noFill/>
          <a:ln/>
        </p:spPr>
        <p:txBody>
          <a:bodyPr wrap="square" lIns="0" tIns="0" rIns="0" bIns="0" rtlCol="0" anchor="ctr"/>
          <a:lstStyle/>
          <a:p>
            <a:pPr marL="0" indent="0" algn="ctr">
              <a:buNone/>
            </a:pPr>
            <a:r>
              <a:rPr lang="en-US" sz="1100" dirty="0">
                <a:solidFill>
                  <a:srgbClr val="0E2438"/>
                </a:solidFill>
                <a:latin typeface="Courier New" pitchFamily="34" charset="0"/>
                <a:ea typeface="Courier New" pitchFamily="34" charset="-122"/>
                <a:cs typeface="Courier New" pitchFamily="34" charset="-120"/>
              </a:rPr>
              <a:t>train.parquet</a:t>
            </a:r>
            <a:endParaRPr lang="en-US" sz="1100" dirty="0"/>
          </a:p>
        </p:txBody>
      </p:sp>
      <p:sp>
        <p:nvSpPr>
          <p:cNvPr id="11" name="Text 9"/>
          <p:cNvSpPr txBox="1"/>
          <p:nvPr/>
        </p:nvSpPr>
        <p:spPr>
          <a:xfrm>
            <a:off x="731520" y="2048256"/>
            <a:ext cx="4846320" cy="43891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Eyni adlı iki fayl fərqli məzmun daşıya bilər: yenidən qurulmuş, kəsilmiş və ya başqa versiyadan gələn data.</a:t>
            </a:r>
            <a:endParaRPr lang="en-US" sz="1050" dirty="0"/>
          </a:p>
        </p:txBody>
      </p:sp>
      <p:sp>
        <p:nvSpPr>
          <p:cNvPr id="12" name="Shape 10"/>
          <p:cNvSpPr/>
          <p:nvPr/>
        </p:nvSpPr>
        <p:spPr>
          <a:xfrm>
            <a:off x="6035040" y="1188720"/>
            <a:ext cx="5605272" cy="1371600"/>
          </a:xfrm>
          <a:prstGeom prst="roundRect">
            <a:avLst>
              <a:gd name="adj" fmla="val 4667"/>
            </a:avLst>
          </a:prstGeom>
          <a:solidFill>
            <a:srgbClr val="E6F5EF"/>
          </a:solidFill>
          <a:ln/>
        </p:spPr>
      </p:sp>
      <p:sp>
        <p:nvSpPr>
          <p:cNvPr id="13" name="Text 11"/>
          <p:cNvSpPr txBox="1"/>
          <p:nvPr/>
        </p:nvSpPr>
        <p:spPr>
          <a:xfrm>
            <a:off x="6217920" y="1298448"/>
            <a:ext cx="5212080" cy="219456"/>
          </a:xfrm>
          <a:prstGeom prst="rect">
            <a:avLst/>
          </a:prstGeom>
          <a:noFill/>
          <a:ln/>
        </p:spPr>
        <p:txBody>
          <a:bodyPr wrap="square" lIns="0" tIns="0" rIns="0" bIns="0" rtlCol="0" anchor="ctr"/>
          <a:lstStyle/>
          <a:p>
            <a:pPr marL="0" indent="0">
              <a:buNone/>
            </a:pPr>
            <a:r>
              <a:rPr lang="en-US" sz="1050" b="1" kern="0" spc="110" dirty="0">
                <a:solidFill>
                  <a:srgbClr val="0B6B50"/>
                </a:solidFill>
                <a:latin typeface="Calibri" pitchFamily="34" charset="0"/>
                <a:ea typeface="Calibri" pitchFamily="34" charset="-122"/>
                <a:cs typeface="Calibri" pitchFamily="34" charset="-120"/>
              </a:rPr>
              <a:t>HƏLL: MƏZMUNDAN ALINAN BARMAQ İZİ</a:t>
            </a:r>
            <a:endParaRPr lang="en-US" sz="1050" dirty="0"/>
          </a:p>
        </p:txBody>
      </p:sp>
      <p:sp>
        <p:nvSpPr>
          <p:cNvPr id="14" name="Shape 12"/>
          <p:cNvSpPr/>
          <p:nvPr/>
        </p:nvSpPr>
        <p:spPr>
          <a:xfrm>
            <a:off x="6217920" y="1645920"/>
            <a:ext cx="1554480" cy="384048"/>
          </a:xfrm>
          <a:prstGeom prst="rect">
            <a:avLst/>
          </a:prstGeom>
          <a:solidFill>
            <a:srgbClr val="FFFFFF"/>
          </a:solidFill>
          <a:ln w="15240">
            <a:solidFill>
              <a:srgbClr val="9CCBB8"/>
            </a:solidFill>
            <a:prstDash val="solid"/>
          </a:ln>
        </p:spPr>
      </p:sp>
      <p:sp>
        <p:nvSpPr>
          <p:cNvPr id="15" name="Text 13"/>
          <p:cNvSpPr txBox="1"/>
          <p:nvPr/>
        </p:nvSpPr>
        <p:spPr>
          <a:xfrm>
            <a:off x="6217920" y="1645920"/>
            <a:ext cx="1554480" cy="384048"/>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fayl baytları</a:t>
            </a:r>
            <a:endParaRPr lang="en-US" sz="1000" dirty="0"/>
          </a:p>
        </p:txBody>
      </p:sp>
      <p:sp>
        <p:nvSpPr>
          <p:cNvPr id="16" name="Shape 14"/>
          <p:cNvSpPr/>
          <p:nvPr/>
        </p:nvSpPr>
        <p:spPr>
          <a:xfrm>
            <a:off x="7827264" y="1764792"/>
            <a:ext cx="274320" cy="146304"/>
          </a:xfrm>
          <a:prstGeom prst="rightArrow">
            <a:avLst/>
          </a:prstGeom>
          <a:solidFill>
            <a:srgbClr val="9CCBB8"/>
          </a:solidFill>
          <a:ln/>
        </p:spPr>
      </p:sp>
      <p:sp>
        <p:nvSpPr>
          <p:cNvPr id="17" name="Shape 15"/>
          <p:cNvSpPr/>
          <p:nvPr/>
        </p:nvSpPr>
        <p:spPr>
          <a:xfrm>
            <a:off x="8174736" y="1645920"/>
            <a:ext cx="1188720" cy="384048"/>
          </a:xfrm>
          <a:prstGeom prst="rect">
            <a:avLst/>
          </a:prstGeom>
          <a:solidFill>
            <a:srgbClr val="FFFFFF"/>
          </a:solidFill>
          <a:ln w="15240">
            <a:solidFill>
              <a:srgbClr val="9CCBB8"/>
            </a:solidFill>
            <a:prstDash val="solid"/>
          </a:ln>
        </p:spPr>
      </p:sp>
      <p:sp>
        <p:nvSpPr>
          <p:cNvPr id="18" name="Text 16"/>
          <p:cNvSpPr txBox="1"/>
          <p:nvPr/>
        </p:nvSpPr>
        <p:spPr>
          <a:xfrm>
            <a:off x="8174736" y="1645920"/>
            <a:ext cx="1188720" cy="384048"/>
          </a:xfrm>
          <a:prstGeom prst="rect">
            <a:avLst/>
          </a:prstGeom>
          <a:noFill/>
          <a:ln/>
        </p:spPr>
        <p:txBody>
          <a:bodyPr wrap="square" lIns="0" tIns="0" rIns="0" bIns="0" rtlCol="0" anchor="ctr"/>
          <a:lstStyle/>
          <a:p>
            <a:pPr marL="0" indent="0" algn="ctr">
              <a:buNone/>
            </a:pPr>
            <a:r>
              <a:rPr lang="en-US" sz="1000" b="1" dirty="0">
                <a:solidFill>
                  <a:srgbClr val="0B6B50"/>
                </a:solidFill>
                <a:latin typeface="Calibri" pitchFamily="34" charset="0"/>
                <a:ea typeface="Calibri" pitchFamily="34" charset="-122"/>
                <a:cs typeface="Calibri" pitchFamily="34" charset="-120"/>
              </a:rPr>
              <a:t>SHA-256</a:t>
            </a:r>
            <a:endParaRPr lang="en-US" sz="1000" dirty="0"/>
          </a:p>
        </p:txBody>
      </p:sp>
      <p:sp>
        <p:nvSpPr>
          <p:cNvPr id="19" name="Shape 17"/>
          <p:cNvSpPr/>
          <p:nvPr/>
        </p:nvSpPr>
        <p:spPr>
          <a:xfrm>
            <a:off x="9418320" y="1764792"/>
            <a:ext cx="274320" cy="146304"/>
          </a:xfrm>
          <a:prstGeom prst="rightArrow">
            <a:avLst/>
          </a:prstGeom>
          <a:solidFill>
            <a:srgbClr val="9CCBB8"/>
          </a:solidFill>
          <a:ln/>
        </p:spPr>
      </p:sp>
      <p:sp>
        <p:nvSpPr>
          <p:cNvPr id="20" name="Shape 18"/>
          <p:cNvSpPr/>
          <p:nvPr/>
        </p:nvSpPr>
        <p:spPr>
          <a:xfrm>
            <a:off x="9765792" y="1645920"/>
            <a:ext cx="1691640" cy="384048"/>
          </a:xfrm>
          <a:prstGeom prst="rect">
            <a:avLst/>
          </a:prstGeom>
          <a:solidFill>
            <a:srgbClr val="FFFFFF"/>
          </a:solidFill>
          <a:ln w="15240">
            <a:solidFill>
              <a:srgbClr val="9CCBB8"/>
            </a:solidFill>
            <a:prstDash val="solid"/>
          </a:ln>
        </p:spPr>
      </p:sp>
      <p:sp>
        <p:nvSpPr>
          <p:cNvPr id="21" name="Text 19"/>
          <p:cNvSpPr txBox="1"/>
          <p:nvPr/>
        </p:nvSpPr>
        <p:spPr>
          <a:xfrm>
            <a:off x="9765792" y="1645920"/>
            <a:ext cx="1691640" cy="384048"/>
          </a:xfrm>
          <a:prstGeom prst="rect">
            <a:avLst/>
          </a:prstGeom>
          <a:noFill/>
          <a:ln/>
        </p:spPr>
        <p:txBody>
          <a:bodyPr wrap="square" lIns="0" tIns="0" rIns="0" bIns="0" rtlCol="0" anchor="ctr"/>
          <a:lstStyle/>
          <a:p>
            <a:pPr marL="0" indent="0" algn="ctr">
              <a:buNone/>
            </a:pPr>
            <a:r>
              <a:rPr lang="en-US" sz="1000" dirty="0">
                <a:solidFill>
                  <a:srgbClr val="0E2438"/>
                </a:solidFill>
                <a:latin typeface="Calibri" pitchFamily="34" charset="0"/>
                <a:ea typeface="Calibri" pitchFamily="34" charset="-122"/>
                <a:cs typeface="Calibri" pitchFamily="34" charset="-120"/>
              </a:rPr>
              <a:t>unikal barmaq izi</a:t>
            </a:r>
            <a:endParaRPr lang="en-US" sz="1000" dirty="0"/>
          </a:p>
        </p:txBody>
      </p:sp>
      <p:sp>
        <p:nvSpPr>
          <p:cNvPr id="22" name="Text 20"/>
          <p:cNvSpPr txBox="1"/>
          <p:nvPr/>
        </p:nvSpPr>
        <p:spPr>
          <a:xfrm>
            <a:off x="6217920" y="2103120"/>
            <a:ext cx="5212080" cy="38404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Bir baytlıq dəyişiklik tamamilə fərqli hash verir — yəni identifikator məzmunun özündən çıxır.</a:t>
            </a:r>
            <a:endParaRPr lang="en-US" sz="1050" dirty="0"/>
          </a:p>
        </p:txBody>
      </p:sp>
      <p:sp>
        <p:nvSpPr>
          <p:cNvPr id="23" name="Text 21"/>
          <p:cNvSpPr txBox="1"/>
          <p:nvPr/>
        </p:nvSpPr>
        <p:spPr>
          <a:xfrm>
            <a:off x="548640" y="2724912"/>
            <a:ext cx="1106424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DONDURULMUŞ ARTEFAKT REYESTRİ</a:t>
            </a:r>
            <a:endParaRPr lang="en-US" sz="1050" dirty="0"/>
          </a:p>
        </p:txBody>
      </p:sp>
      <p:sp>
        <p:nvSpPr>
          <p:cNvPr id="24" name="Shape 22"/>
          <p:cNvSpPr/>
          <p:nvPr/>
        </p:nvSpPr>
        <p:spPr>
          <a:xfrm>
            <a:off x="548640" y="3017520"/>
            <a:ext cx="11064240" cy="329184"/>
          </a:xfrm>
          <a:prstGeom prst="rect">
            <a:avLst/>
          </a:prstGeom>
          <a:solidFill>
            <a:srgbClr val="F4F7F9"/>
          </a:solidFill>
          <a:ln w="12700">
            <a:solidFill>
              <a:srgbClr val="E3E9EF"/>
            </a:solidFill>
            <a:prstDash val="solid"/>
          </a:ln>
        </p:spPr>
      </p:sp>
      <p:sp>
        <p:nvSpPr>
          <p:cNvPr id="25" name="Text 23"/>
          <p:cNvSpPr txBox="1"/>
          <p:nvPr/>
        </p:nvSpPr>
        <p:spPr>
          <a:xfrm>
            <a:off x="694944" y="301752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train manifest</a:t>
            </a:r>
            <a:endParaRPr lang="en-US" sz="1050" dirty="0"/>
          </a:p>
        </p:txBody>
      </p:sp>
      <p:sp>
        <p:nvSpPr>
          <p:cNvPr id="26" name="Text 24"/>
          <p:cNvSpPr txBox="1"/>
          <p:nvPr/>
        </p:nvSpPr>
        <p:spPr>
          <a:xfrm>
            <a:off x="3474720" y="301752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data/manifests/train.parquet</a:t>
            </a:r>
            <a:endParaRPr lang="en-US" sz="950" dirty="0"/>
          </a:p>
        </p:txBody>
      </p:sp>
      <p:sp>
        <p:nvSpPr>
          <p:cNvPr id="27" name="Text 25"/>
          <p:cNvSpPr txBox="1"/>
          <p:nvPr/>
        </p:nvSpPr>
        <p:spPr>
          <a:xfrm>
            <a:off x="8321040" y="301752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ab69a284 0324 …</a:t>
            </a:r>
            <a:endParaRPr lang="en-US" sz="1000" dirty="0"/>
          </a:p>
        </p:txBody>
      </p:sp>
      <p:sp>
        <p:nvSpPr>
          <p:cNvPr id="28" name="Text 26"/>
          <p:cNvSpPr txBox="1"/>
          <p:nvPr/>
        </p:nvSpPr>
        <p:spPr>
          <a:xfrm>
            <a:off x="10515600" y="301752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29" name="Shape 27"/>
          <p:cNvSpPr/>
          <p:nvPr/>
        </p:nvSpPr>
        <p:spPr>
          <a:xfrm>
            <a:off x="548640" y="3383280"/>
            <a:ext cx="11064240" cy="329184"/>
          </a:xfrm>
          <a:prstGeom prst="rect">
            <a:avLst/>
          </a:prstGeom>
          <a:solidFill>
            <a:srgbClr val="FFFFFF"/>
          </a:solidFill>
          <a:ln w="12700">
            <a:solidFill>
              <a:srgbClr val="E3E9EF"/>
            </a:solidFill>
            <a:prstDash val="solid"/>
          </a:ln>
        </p:spPr>
      </p:sp>
      <p:sp>
        <p:nvSpPr>
          <p:cNvPr id="30" name="Text 28"/>
          <p:cNvSpPr txBox="1"/>
          <p:nvPr/>
        </p:nvSpPr>
        <p:spPr>
          <a:xfrm>
            <a:off x="694944" y="338328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validation manifest</a:t>
            </a:r>
            <a:endParaRPr lang="en-US" sz="1050" dirty="0"/>
          </a:p>
        </p:txBody>
      </p:sp>
      <p:sp>
        <p:nvSpPr>
          <p:cNvPr id="31" name="Text 29"/>
          <p:cNvSpPr txBox="1"/>
          <p:nvPr/>
        </p:nvSpPr>
        <p:spPr>
          <a:xfrm>
            <a:off x="3474720" y="338328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data/manifests/validation.parquet</a:t>
            </a:r>
            <a:endParaRPr lang="en-US" sz="950" dirty="0"/>
          </a:p>
        </p:txBody>
      </p:sp>
      <p:sp>
        <p:nvSpPr>
          <p:cNvPr id="32" name="Text 30"/>
          <p:cNvSpPr txBox="1"/>
          <p:nvPr/>
        </p:nvSpPr>
        <p:spPr>
          <a:xfrm>
            <a:off x="8321040" y="338328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1a0dd2d2 44ca …</a:t>
            </a:r>
            <a:endParaRPr lang="en-US" sz="1000" dirty="0"/>
          </a:p>
        </p:txBody>
      </p:sp>
      <p:sp>
        <p:nvSpPr>
          <p:cNvPr id="33" name="Text 31"/>
          <p:cNvSpPr txBox="1"/>
          <p:nvPr/>
        </p:nvSpPr>
        <p:spPr>
          <a:xfrm>
            <a:off x="10515600" y="338328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34" name="Shape 32"/>
          <p:cNvSpPr/>
          <p:nvPr/>
        </p:nvSpPr>
        <p:spPr>
          <a:xfrm>
            <a:off x="548640" y="3749040"/>
            <a:ext cx="11064240" cy="329184"/>
          </a:xfrm>
          <a:prstGeom prst="rect">
            <a:avLst/>
          </a:prstGeom>
          <a:solidFill>
            <a:srgbClr val="F4F7F9"/>
          </a:solidFill>
          <a:ln w="12700">
            <a:solidFill>
              <a:srgbClr val="E3E9EF"/>
            </a:solidFill>
            <a:prstDash val="solid"/>
          </a:ln>
        </p:spPr>
      </p:sp>
      <p:sp>
        <p:nvSpPr>
          <p:cNvPr id="35" name="Text 33"/>
          <p:cNvSpPr txBox="1"/>
          <p:nvPr/>
        </p:nvSpPr>
        <p:spPr>
          <a:xfrm>
            <a:off x="694944" y="374904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test manifest</a:t>
            </a:r>
            <a:endParaRPr lang="en-US" sz="1050" dirty="0"/>
          </a:p>
        </p:txBody>
      </p:sp>
      <p:sp>
        <p:nvSpPr>
          <p:cNvPr id="36" name="Text 34"/>
          <p:cNvSpPr txBox="1"/>
          <p:nvPr/>
        </p:nvSpPr>
        <p:spPr>
          <a:xfrm>
            <a:off x="3474720" y="374904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data/manifests/test.parquet</a:t>
            </a:r>
            <a:endParaRPr lang="en-US" sz="950" dirty="0"/>
          </a:p>
        </p:txBody>
      </p:sp>
      <p:sp>
        <p:nvSpPr>
          <p:cNvPr id="37" name="Text 35"/>
          <p:cNvSpPr txBox="1"/>
          <p:nvPr/>
        </p:nvSpPr>
        <p:spPr>
          <a:xfrm>
            <a:off x="8321040" y="374904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ecf19790 6ed9 …</a:t>
            </a:r>
            <a:endParaRPr lang="en-US" sz="1000" dirty="0"/>
          </a:p>
        </p:txBody>
      </p:sp>
      <p:sp>
        <p:nvSpPr>
          <p:cNvPr id="38" name="Text 36"/>
          <p:cNvSpPr txBox="1"/>
          <p:nvPr/>
        </p:nvSpPr>
        <p:spPr>
          <a:xfrm>
            <a:off x="10515600" y="374904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39" name="Shape 37"/>
          <p:cNvSpPr/>
          <p:nvPr/>
        </p:nvSpPr>
        <p:spPr>
          <a:xfrm>
            <a:off x="548640" y="4114800"/>
            <a:ext cx="11064240" cy="329184"/>
          </a:xfrm>
          <a:prstGeom prst="rect">
            <a:avLst/>
          </a:prstGeom>
          <a:solidFill>
            <a:srgbClr val="FFFFFF"/>
          </a:solidFill>
          <a:ln w="12700">
            <a:solidFill>
              <a:srgbClr val="E3E9EF"/>
            </a:solidFill>
            <a:prstDash val="solid"/>
          </a:ln>
        </p:spPr>
      </p:sp>
      <p:sp>
        <p:nvSpPr>
          <p:cNvPr id="40" name="Text 38"/>
          <p:cNvSpPr txBox="1"/>
          <p:nvPr/>
        </p:nvSpPr>
        <p:spPr>
          <a:xfrm>
            <a:off x="694944" y="411480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tokenizer modeli</a:t>
            </a:r>
            <a:endParaRPr lang="en-US" sz="1050" dirty="0"/>
          </a:p>
        </p:txBody>
      </p:sp>
      <p:sp>
        <p:nvSpPr>
          <p:cNvPr id="41" name="Text 39"/>
          <p:cNvSpPr txBox="1"/>
          <p:nvPr/>
        </p:nvSpPr>
        <p:spPr>
          <a:xfrm>
            <a:off x="3474720" y="411480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tokenizer/tokenizer.model</a:t>
            </a:r>
            <a:endParaRPr lang="en-US" sz="950" dirty="0"/>
          </a:p>
        </p:txBody>
      </p:sp>
      <p:sp>
        <p:nvSpPr>
          <p:cNvPr id="42" name="Text 40"/>
          <p:cNvSpPr txBox="1"/>
          <p:nvPr/>
        </p:nvSpPr>
        <p:spPr>
          <a:xfrm>
            <a:off x="8321040" y="411480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be05949c 40af …</a:t>
            </a:r>
            <a:endParaRPr lang="en-US" sz="1000" dirty="0"/>
          </a:p>
        </p:txBody>
      </p:sp>
      <p:sp>
        <p:nvSpPr>
          <p:cNvPr id="43" name="Text 41"/>
          <p:cNvSpPr txBox="1"/>
          <p:nvPr/>
        </p:nvSpPr>
        <p:spPr>
          <a:xfrm>
            <a:off x="10515600" y="411480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44" name="Shape 42"/>
          <p:cNvSpPr/>
          <p:nvPr/>
        </p:nvSpPr>
        <p:spPr>
          <a:xfrm>
            <a:off x="548640" y="4480560"/>
            <a:ext cx="11064240" cy="329184"/>
          </a:xfrm>
          <a:prstGeom prst="rect">
            <a:avLst/>
          </a:prstGeom>
          <a:solidFill>
            <a:srgbClr val="F4F7F9"/>
          </a:solidFill>
          <a:ln w="12700">
            <a:solidFill>
              <a:srgbClr val="E3E9EF"/>
            </a:solidFill>
            <a:prstDash val="solid"/>
          </a:ln>
        </p:spPr>
      </p:sp>
      <p:sp>
        <p:nvSpPr>
          <p:cNvPr id="45" name="Text 43"/>
          <p:cNvSpPr txBox="1"/>
          <p:nvPr/>
        </p:nvSpPr>
        <p:spPr>
          <a:xfrm>
            <a:off x="694944" y="448056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50M training manifesti</a:t>
            </a:r>
            <a:endParaRPr lang="en-US" sz="1050" dirty="0"/>
          </a:p>
        </p:txBody>
      </p:sp>
      <p:sp>
        <p:nvSpPr>
          <p:cNvPr id="46" name="Text 44"/>
          <p:cNvSpPr txBox="1"/>
          <p:nvPr/>
        </p:nvSpPr>
        <p:spPr>
          <a:xfrm>
            <a:off x="3474720" y="448056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data/manifests/train_50m.parquet</a:t>
            </a:r>
            <a:endParaRPr lang="en-US" sz="950" dirty="0"/>
          </a:p>
        </p:txBody>
      </p:sp>
      <p:sp>
        <p:nvSpPr>
          <p:cNvPr id="47" name="Text 45"/>
          <p:cNvSpPr txBox="1"/>
          <p:nvPr/>
        </p:nvSpPr>
        <p:spPr>
          <a:xfrm>
            <a:off x="8321040" y="448056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805f7b18 c170 …</a:t>
            </a:r>
            <a:endParaRPr lang="en-US" sz="1000" dirty="0"/>
          </a:p>
        </p:txBody>
      </p:sp>
      <p:sp>
        <p:nvSpPr>
          <p:cNvPr id="48" name="Text 46"/>
          <p:cNvSpPr txBox="1"/>
          <p:nvPr/>
        </p:nvSpPr>
        <p:spPr>
          <a:xfrm>
            <a:off x="10515600" y="448056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49" name="Shape 47"/>
          <p:cNvSpPr/>
          <p:nvPr/>
        </p:nvSpPr>
        <p:spPr>
          <a:xfrm>
            <a:off x="548640" y="4846320"/>
            <a:ext cx="11064240" cy="329184"/>
          </a:xfrm>
          <a:prstGeom prst="rect">
            <a:avLst/>
          </a:prstGeom>
          <a:solidFill>
            <a:srgbClr val="FFFFFF"/>
          </a:solidFill>
          <a:ln w="12700">
            <a:solidFill>
              <a:srgbClr val="E3E9EF"/>
            </a:solidFill>
            <a:prstDash val="solid"/>
          </a:ln>
        </p:spPr>
      </p:sp>
      <p:sp>
        <p:nvSpPr>
          <p:cNvPr id="50" name="Text 48"/>
          <p:cNvSpPr txBox="1"/>
          <p:nvPr/>
        </p:nvSpPr>
        <p:spPr>
          <a:xfrm>
            <a:off x="694944" y="484632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training token cache</a:t>
            </a:r>
            <a:endParaRPr lang="en-US" sz="1050" dirty="0"/>
          </a:p>
        </p:txBody>
      </p:sp>
      <p:sp>
        <p:nvSpPr>
          <p:cNvPr id="51" name="Text 49"/>
          <p:cNvSpPr txBox="1"/>
          <p:nvPr/>
        </p:nvSpPr>
        <p:spPr>
          <a:xfrm>
            <a:off x="3474720" y="484632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training → evaluation ortaq cache</a:t>
            </a:r>
            <a:endParaRPr lang="en-US" sz="950" dirty="0"/>
          </a:p>
        </p:txBody>
      </p:sp>
      <p:sp>
        <p:nvSpPr>
          <p:cNvPr id="52" name="Text 50"/>
          <p:cNvSpPr txBox="1"/>
          <p:nvPr/>
        </p:nvSpPr>
        <p:spPr>
          <a:xfrm>
            <a:off x="8321040" y="484632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3d36d765 8c9e …</a:t>
            </a:r>
            <a:endParaRPr lang="en-US" sz="1000" dirty="0"/>
          </a:p>
        </p:txBody>
      </p:sp>
      <p:sp>
        <p:nvSpPr>
          <p:cNvPr id="53" name="Text 51"/>
          <p:cNvSpPr txBox="1"/>
          <p:nvPr/>
        </p:nvSpPr>
        <p:spPr>
          <a:xfrm>
            <a:off x="10515600" y="484632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54" name="Shape 52"/>
          <p:cNvSpPr/>
          <p:nvPr/>
        </p:nvSpPr>
        <p:spPr>
          <a:xfrm>
            <a:off x="548640" y="5212080"/>
            <a:ext cx="11064240" cy="329184"/>
          </a:xfrm>
          <a:prstGeom prst="rect">
            <a:avLst/>
          </a:prstGeom>
          <a:solidFill>
            <a:srgbClr val="F4F7F9"/>
          </a:solidFill>
          <a:ln w="12700">
            <a:solidFill>
              <a:srgbClr val="E3E9EF"/>
            </a:solidFill>
            <a:prstDash val="solid"/>
          </a:ln>
        </p:spPr>
      </p:sp>
      <p:sp>
        <p:nvSpPr>
          <p:cNvPr id="55" name="Text 53"/>
          <p:cNvSpPr txBox="1"/>
          <p:nvPr/>
        </p:nvSpPr>
        <p:spPr>
          <a:xfrm>
            <a:off x="694944" y="5212080"/>
            <a:ext cx="2743200" cy="329184"/>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final test manifesti</a:t>
            </a:r>
            <a:endParaRPr lang="en-US" sz="1050" dirty="0"/>
          </a:p>
        </p:txBody>
      </p:sp>
      <p:sp>
        <p:nvSpPr>
          <p:cNvPr id="56" name="Text 54"/>
          <p:cNvSpPr txBox="1"/>
          <p:nvPr/>
        </p:nvSpPr>
        <p:spPr>
          <a:xfrm>
            <a:off x="3474720" y="5212080"/>
            <a:ext cx="4754880" cy="329184"/>
          </a:xfrm>
          <a:prstGeom prst="rect">
            <a:avLst/>
          </a:prstGeom>
          <a:noFill/>
          <a:ln/>
        </p:spPr>
        <p:txBody>
          <a:bodyPr wrap="square" lIns="0" tIns="0" rIns="0" bIns="0" rtlCol="0" anchor="ctr"/>
          <a:lstStyle/>
          <a:p>
            <a:pPr marL="0" indent="0">
              <a:buNone/>
            </a:pPr>
            <a:r>
              <a:rPr lang="en-US" sz="950" dirty="0">
                <a:solidFill>
                  <a:srgbClr val="5F7082"/>
                </a:solidFill>
                <a:latin typeface="Courier New" pitchFamily="34" charset="0"/>
                <a:ea typeface="Courier New" pitchFamily="34" charset="-122"/>
                <a:cs typeface="Courier New" pitchFamily="34" charset="-120"/>
              </a:rPr>
              <a:t>results/evaluation/final_test_manifest.json</a:t>
            </a:r>
            <a:endParaRPr lang="en-US" sz="950" dirty="0"/>
          </a:p>
        </p:txBody>
      </p:sp>
      <p:sp>
        <p:nvSpPr>
          <p:cNvPr id="57" name="Text 55"/>
          <p:cNvSpPr txBox="1"/>
          <p:nvPr/>
        </p:nvSpPr>
        <p:spPr>
          <a:xfrm>
            <a:off x="8321040" y="5212080"/>
            <a:ext cx="2103120" cy="329184"/>
          </a:xfrm>
          <a:prstGeom prst="rect">
            <a:avLst/>
          </a:prstGeom>
          <a:noFill/>
          <a:ln/>
        </p:spPr>
        <p:txBody>
          <a:bodyPr wrap="square" lIns="0" tIns="0" rIns="0" bIns="0" rtlCol="0" anchor="ctr"/>
          <a:lstStyle/>
          <a:p>
            <a:pPr marL="0" indent="0">
              <a:buNone/>
            </a:pPr>
            <a:r>
              <a:rPr lang="en-US" sz="1000" dirty="0">
                <a:solidFill>
                  <a:srgbClr val="12324F"/>
                </a:solidFill>
                <a:latin typeface="Courier New" pitchFamily="34" charset="0"/>
                <a:ea typeface="Courier New" pitchFamily="34" charset="-122"/>
                <a:cs typeface="Courier New" pitchFamily="34" charset="-120"/>
              </a:rPr>
              <a:t>aa58372d 3412 …</a:t>
            </a:r>
            <a:endParaRPr lang="en-US" sz="1000" dirty="0"/>
          </a:p>
        </p:txBody>
      </p:sp>
      <p:sp>
        <p:nvSpPr>
          <p:cNvPr id="58" name="Text 56"/>
          <p:cNvSpPr txBox="1"/>
          <p:nvPr/>
        </p:nvSpPr>
        <p:spPr>
          <a:xfrm>
            <a:off x="10515600" y="5212080"/>
            <a:ext cx="1005840" cy="329184"/>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 yoxlanılıb</a:t>
            </a:r>
            <a:endParaRPr lang="en-US" sz="900" dirty="0"/>
          </a:p>
        </p:txBody>
      </p:sp>
      <p:sp>
        <p:nvSpPr>
          <p:cNvPr id="59" name="Shape 57"/>
          <p:cNvSpPr/>
          <p:nvPr/>
        </p:nvSpPr>
        <p:spPr>
          <a:xfrm>
            <a:off x="548640" y="5614416"/>
            <a:ext cx="11091672" cy="621792"/>
          </a:xfrm>
          <a:prstGeom prst="roundRect">
            <a:avLst>
              <a:gd name="adj" fmla="val 10294"/>
            </a:avLst>
          </a:prstGeom>
          <a:solidFill>
            <a:srgbClr val="EAF0F4"/>
          </a:solidFill>
          <a:ln/>
        </p:spPr>
      </p:sp>
      <p:sp>
        <p:nvSpPr>
          <p:cNvPr id="60" name="Text 58"/>
          <p:cNvSpPr txBox="1"/>
          <p:nvPr/>
        </p:nvSpPr>
        <p:spPr>
          <a:xfrm>
            <a:off x="731520" y="5614416"/>
            <a:ext cx="10698480" cy="621792"/>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training_data_contract.json  —  bütün mühüm artefaktların yolunu, ölçüsünü və SHA-256 dəyərini saxlayan dondurulmuş xəritə. Model və evaluation mərhələləri məhz bu sənədi oxuyur.</a:t>
            </a:r>
            <a:endParaRPr lang="en-US" sz="1100" dirty="0"/>
          </a:p>
        </p:txBody>
      </p:sp>
      <p:sp>
        <p:nvSpPr>
          <p:cNvPr id="61" name="Text 59"/>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62" name="Text 60"/>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data/metadata/training_data_contract.json · manifest_hashes.json</a:t>
            </a:r>
            <a:endParaRPr lang="en-US" sz="850" dirty="0"/>
          </a:p>
        </p:txBody>
      </p:sp>
      <p:sp>
        <p:nvSpPr>
          <p:cNvPr id="63" name="Text 61"/>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Quality gates: fairness, leakage və reproducibility testləri</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Hər mərhələ növbətisinə keçməzdən əvvəl avtomatik yoxlamadan keçir</a:t>
            </a:r>
            <a:endParaRPr lang="en-US" sz="1300" dirty="0"/>
          </a:p>
        </p:txBody>
      </p:sp>
      <p:sp>
        <p:nvSpPr>
          <p:cNvPr id="5" name="Shape 3"/>
          <p:cNvSpPr/>
          <p:nvPr/>
        </p:nvSpPr>
        <p:spPr>
          <a:xfrm>
            <a:off x="548640" y="1463040"/>
            <a:ext cx="5394960" cy="493776"/>
          </a:xfrm>
          <a:prstGeom prst="rect">
            <a:avLst/>
          </a:prstGeom>
          <a:solidFill>
            <a:srgbClr val="F4F7F9"/>
          </a:solidFill>
          <a:ln w="12700">
            <a:solidFill>
              <a:srgbClr val="E3E9EF"/>
            </a:solidFill>
            <a:prstDash val="solid"/>
          </a:ln>
        </p:spPr>
      </p:sp>
      <p:sp>
        <p:nvSpPr>
          <p:cNvPr id="6" name="Shape 4"/>
          <p:cNvSpPr/>
          <p:nvPr/>
        </p:nvSpPr>
        <p:spPr>
          <a:xfrm>
            <a:off x="676656" y="1600200"/>
            <a:ext cx="219456" cy="219456"/>
          </a:xfrm>
          <a:prstGeom prst="ellipse">
            <a:avLst/>
          </a:prstGeom>
          <a:solidFill>
            <a:srgbClr val="009E73"/>
          </a:solidFill>
          <a:ln/>
        </p:spPr>
      </p:sp>
      <p:sp>
        <p:nvSpPr>
          <p:cNvPr id="7" name="Text 5"/>
          <p:cNvSpPr txBox="1"/>
          <p:nvPr/>
        </p:nvSpPr>
        <p:spPr>
          <a:xfrm>
            <a:off x="1005840" y="1517904"/>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Korpus validasiyası</a:t>
            </a:r>
            <a:endParaRPr lang="en-US" sz="1050" dirty="0"/>
          </a:p>
        </p:txBody>
      </p:sp>
      <p:sp>
        <p:nvSpPr>
          <p:cNvPr id="8" name="Text 6"/>
          <p:cNvSpPr txBox="1"/>
          <p:nvPr/>
        </p:nvSpPr>
        <p:spPr>
          <a:xfrm>
            <a:off x="1005840" y="1719072"/>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manifestlər, token sayları, sətir istinadları</a:t>
            </a:r>
            <a:endParaRPr lang="en-US" sz="850" dirty="0"/>
          </a:p>
        </p:txBody>
      </p:sp>
      <p:sp>
        <p:nvSpPr>
          <p:cNvPr id="9" name="Text 7"/>
          <p:cNvSpPr txBox="1"/>
          <p:nvPr/>
        </p:nvSpPr>
        <p:spPr>
          <a:xfrm>
            <a:off x="5029200" y="1463040"/>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10" name="Shape 8"/>
          <p:cNvSpPr/>
          <p:nvPr/>
        </p:nvSpPr>
        <p:spPr>
          <a:xfrm>
            <a:off x="6217920" y="1463040"/>
            <a:ext cx="5394960" cy="493776"/>
          </a:xfrm>
          <a:prstGeom prst="rect">
            <a:avLst/>
          </a:prstGeom>
          <a:solidFill>
            <a:srgbClr val="FFFFFF"/>
          </a:solidFill>
          <a:ln w="12700">
            <a:solidFill>
              <a:srgbClr val="E3E9EF"/>
            </a:solidFill>
            <a:prstDash val="solid"/>
          </a:ln>
        </p:spPr>
      </p:sp>
      <p:sp>
        <p:nvSpPr>
          <p:cNvPr id="11" name="Shape 9"/>
          <p:cNvSpPr/>
          <p:nvPr/>
        </p:nvSpPr>
        <p:spPr>
          <a:xfrm>
            <a:off x="6345936" y="1600200"/>
            <a:ext cx="219456" cy="219456"/>
          </a:xfrm>
          <a:prstGeom prst="ellipse">
            <a:avLst/>
          </a:prstGeom>
          <a:solidFill>
            <a:srgbClr val="009E73"/>
          </a:solidFill>
          <a:ln/>
        </p:spPr>
      </p:sp>
      <p:sp>
        <p:nvSpPr>
          <p:cNvPr id="12" name="Text 10"/>
          <p:cNvSpPr txBox="1"/>
          <p:nvPr/>
        </p:nvSpPr>
        <p:spPr>
          <a:xfrm>
            <a:off x="6675120" y="1517904"/>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Leakage auditi</a:t>
            </a:r>
            <a:endParaRPr lang="en-US" sz="1050" dirty="0"/>
          </a:p>
        </p:txBody>
      </p:sp>
      <p:sp>
        <p:nvSpPr>
          <p:cNvPr id="13" name="Text 11"/>
          <p:cNvSpPr txBox="1"/>
          <p:nvPr/>
        </p:nvSpPr>
        <p:spPr>
          <a:xfrm>
            <a:off x="6675120" y="1719072"/>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ID, hash, klaster və near-duplicate kəsişmələri = 0</a:t>
            </a:r>
            <a:endParaRPr lang="en-US" sz="850" dirty="0"/>
          </a:p>
        </p:txBody>
      </p:sp>
      <p:sp>
        <p:nvSpPr>
          <p:cNvPr id="14" name="Text 12"/>
          <p:cNvSpPr txBox="1"/>
          <p:nvPr/>
        </p:nvSpPr>
        <p:spPr>
          <a:xfrm>
            <a:off x="10698480" y="1463040"/>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15" name="Shape 13"/>
          <p:cNvSpPr/>
          <p:nvPr/>
        </p:nvSpPr>
        <p:spPr>
          <a:xfrm>
            <a:off x="548640" y="2029968"/>
            <a:ext cx="5394960" cy="493776"/>
          </a:xfrm>
          <a:prstGeom prst="rect">
            <a:avLst/>
          </a:prstGeom>
          <a:solidFill>
            <a:srgbClr val="F4F7F9"/>
          </a:solidFill>
          <a:ln w="12700">
            <a:solidFill>
              <a:srgbClr val="E3E9EF"/>
            </a:solidFill>
            <a:prstDash val="solid"/>
          </a:ln>
        </p:spPr>
      </p:sp>
      <p:sp>
        <p:nvSpPr>
          <p:cNvPr id="16" name="Shape 14"/>
          <p:cNvSpPr/>
          <p:nvPr/>
        </p:nvSpPr>
        <p:spPr>
          <a:xfrm>
            <a:off x="676656" y="2167128"/>
            <a:ext cx="219456" cy="219456"/>
          </a:xfrm>
          <a:prstGeom prst="ellipse">
            <a:avLst/>
          </a:prstGeom>
          <a:solidFill>
            <a:srgbClr val="009E73"/>
          </a:solidFill>
          <a:ln/>
        </p:spPr>
      </p:sp>
      <p:sp>
        <p:nvSpPr>
          <p:cNvPr id="17" name="Text 15"/>
          <p:cNvSpPr txBox="1"/>
          <p:nvPr/>
        </p:nvSpPr>
        <p:spPr>
          <a:xfrm>
            <a:off x="1005840" y="2084832"/>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Tokenizer auditi</a:t>
            </a:r>
            <a:endParaRPr lang="en-US" sz="1050" dirty="0"/>
          </a:p>
        </p:txBody>
      </p:sp>
      <p:sp>
        <p:nvSpPr>
          <p:cNvPr id="18" name="Text 16"/>
          <p:cNvSpPr txBox="1"/>
          <p:nvPr/>
        </p:nvSpPr>
        <p:spPr>
          <a:xfrm>
            <a:off x="1005840" y="2286000"/>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train-only öyrətmə, namizəd müqayisəsi</a:t>
            </a:r>
            <a:endParaRPr lang="en-US" sz="850" dirty="0"/>
          </a:p>
        </p:txBody>
      </p:sp>
      <p:sp>
        <p:nvSpPr>
          <p:cNvPr id="19" name="Text 17"/>
          <p:cNvSpPr txBox="1"/>
          <p:nvPr/>
        </p:nvSpPr>
        <p:spPr>
          <a:xfrm>
            <a:off x="5029200" y="2029968"/>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20" name="Shape 18"/>
          <p:cNvSpPr/>
          <p:nvPr/>
        </p:nvSpPr>
        <p:spPr>
          <a:xfrm>
            <a:off x="6217920" y="2029968"/>
            <a:ext cx="5394960" cy="493776"/>
          </a:xfrm>
          <a:prstGeom prst="rect">
            <a:avLst/>
          </a:prstGeom>
          <a:solidFill>
            <a:srgbClr val="FFFFFF"/>
          </a:solidFill>
          <a:ln w="12700">
            <a:solidFill>
              <a:srgbClr val="E3E9EF"/>
            </a:solidFill>
            <a:prstDash val="solid"/>
          </a:ln>
        </p:spPr>
      </p:sp>
      <p:sp>
        <p:nvSpPr>
          <p:cNvPr id="21" name="Shape 19"/>
          <p:cNvSpPr/>
          <p:nvPr/>
        </p:nvSpPr>
        <p:spPr>
          <a:xfrm>
            <a:off x="6345936" y="2167128"/>
            <a:ext cx="219456" cy="219456"/>
          </a:xfrm>
          <a:prstGeom prst="ellipse">
            <a:avLst/>
          </a:prstGeom>
          <a:solidFill>
            <a:srgbClr val="009E73"/>
          </a:solidFill>
          <a:ln/>
        </p:spPr>
      </p:sp>
      <p:sp>
        <p:nvSpPr>
          <p:cNvPr id="22" name="Text 20"/>
          <p:cNvSpPr txBox="1"/>
          <p:nvPr/>
        </p:nvSpPr>
        <p:spPr>
          <a:xfrm>
            <a:off x="6675120" y="2084832"/>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Model smoke testləri</a:t>
            </a:r>
            <a:endParaRPr lang="en-US" sz="1050" dirty="0"/>
          </a:p>
        </p:txBody>
      </p:sp>
      <p:sp>
        <p:nvSpPr>
          <p:cNvPr id="23" name="Text 21"/>
          <p:cNvSpPr txBox="1"/>
          <p:nvPr/>
        </p:nvSpPr>
        <p:spPr>
          <a:xfrm>
            <a:off x="6675120" y="2286000"/>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beş arm üçün forward/backward</a:t>
            </a:r>
            <a:endParaRPr lang="en-US" sz="850" dirty="0"/>
          </a:p>
        </p:txBody>
      </p:sp>
      <p:sp>
        <p:nvSpPr>
          <p:cNvPr id="24" name="Text 22"/>
          <p:cNvSpPr txBox="1"/>
          <p:nvPr/>
        </p:nvSpPr>
        <p:spPr>
          <a:xfrm>
            <a:off x="10698480" y="2029968"/>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25" name="Shape 23"/>
          <p:cNvSpPr/>
          <p:nvPr/>
        </p:nvSpPr>
        <p:spPr>
          <a:xfrm>
            <a:off x="548640" y="2596896"/>
            <a:ext cx="5394960" cy="493776"/>
          </a:xfrm>
          <a:prstGeom prst="rect">
            <a:avLst/>
          </a:prstGeom>
          <a:solidFill>
            <a:srgbClr val="F4F7F9"/>
          </a:solidFill>
          <a:ln w="12700">
            <a:solidFill>
              <a:srgbClr val="E3E9EF"/>
            </a:solidFill>
            <a:prstDash val="solid"/>
          </a:ln>
        </p:spPr>
      </p:sp>
      <p:sp>
        <p:nvSpPr>
          <p:cNvPr id="26" name="Shape 24"/>
          <p:cNvSpPr/>
          <p:nvPr/>
        </p:nvSpPr>
        <p:spPr>
          <a:xfrm>
            <a:off x="676656" y="2734056"/>
            <a:ext cx="219456" cy="219456"/>
          </a:xfrm>
          <a:prstGeom prst="ellipse">
            <a:avLst/>
          </a:prstGeom>
          <a:solidFill>
            <a:srgbClr val="009E73"/>
          </a:solidFill>
          <a:ln/>
        </p:spPr>
      </p:sp>
      <p:sp>
        <p:nvSpPr>
          <p:cNvPr id="27" name="Text 25"/>
          <p:cNvSpPr txBox="1"/>
          <p:nvPr/>
        </p:nvSpPr>
        <p:spPr>
          <a:xfrm>
            <a:off x="1005840" y="2651760"/>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Config drift auditi</a:t>
            </a:r>
            <a:endParaRPr lang="en-US" sz="1050" dirty="0"/>
          </a:p>
        </p:txBody>
      </p:sp>
      <p:sp>
        <p:nvSpPr>
          <p:cNvPr id="28" name="Text 26"/>
          <p:cNvSpPr txBox="1"/>
          <p:nvPr/>
        </p:nvSpPr>
        <p:spPr>
          <a:xfrm>
            <a:off x="1005840" y="2852928"/>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icazə verilən yeganə fərq: pe_type</a:t>
            </a:r>
            <a:endParaRPr lang="en-US" sz="850" dirty="0"/>
          </a:p>
        </p:txBody>
      </p:sp>
      <p:sp>
        <p:nvSpPr>
          <p:cNvPr id="29" name="Text 27"/>
          <p:cNvSpPr txBox="1"/>
          <p:nvPr/>
        </p:nvSpPr>
        <p:spPr>
          <a:xfrm>
            <a:off x="5029200" y="2596896"/>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30" name="Shape 28"/>
          <p:cNvSpPr/>
          <p:nvPr/>
        </p:nvSpPr>
        <p:spPr>
          <a:xfrm>
            <a:off x="6217920" y="2596896"/>
            <a:ext cx="5394960" cy="493776"/>
          </a:xfrm>
          <a:prstGeom prst="rect">
            <a:avLst/>
          </a:prstGeom>
          <a:solidFill>
            <a:srgbClr val="FFFFFF"/>
          </a:solidFill>
          <a:ln w="12700">
            <a:solidFill>
              <a:srgbClr val="E3E9EF"/>
            </a:solidFill>
            <a:prstDash val="solid"/>
          </a:ln>
        </p:spPr>
      </p:sp>
      <p:sp>
        <p:nvSpPr>
          <p:cNvPr id="31" name="Shape 29"/>
          <p:cNvSpPr/>
          <p:nvPr/>
        </p:nvSpPr>
        <p:spPr>
          <a:xfrm>
            <a:off x="6345936" y="2734056"/>
            <a:ext cx="219456" cy="219456"/>
          </a:xfrm>
          <a:prstGeom prst="ellipse">
            <a:avLst/>
          </a:prstGeom>
          <a:solidFill>
            <a:srgbClr val="009E73"/>
          </a:solidFill>
          <a:ln/>
        </p:spPr>
      </p:sp>
      <p:sp>
        <p:nvSpPr>
          <p:cNvPr id="32" name="Text 30"/>
          <p:cNvSpPr txBox="1"/>
          <p:nvPr/>
        </p:nvSpPr>
        <p:spPr>
          <a:xfrm>
            <a:off x="6675120" y="2651760"/>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Parametr ədalətliliyi</a:t>
            </a:r>
            <a:endParaRPr lang="en-US" sz="1050" dirty="0"/>
          </a:p>
        </p:txBody>
      </p:sp>
      <p:sp>
        <p:nvSpPr>
          <p:cNvPr id="33" name="Text 31"/>
          <p:cNvSpPr txBox="1"/>
          <p:nvPr/>
        </p:nvSpPr>
        <p:spPr>
          <a:xfrm>
            <a:off x="6675120" y="2852928"/>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paylaşılan komponentlərin eyniliyi</a:t>
            </a:r>
            <a:endParaRPr lang="en-US" sz="850" dirty="0"/>
          </a:p>
        </p:txBody>
      </p:sp>
      <p:sp>
        <p:nvSpPr>
          <p:cNvPr id="34" name="Text 32"/>
          <p:cNvSpPr txBox="1"/>
          <p:nvPr/>
        </p:nvSpPr>
        <p:spPr>
          <a:xfrm>
            <a:off x="10698480" y="2596896"/>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35" name="Shape 33"/>
          <p:cNvSpPr/>
          <p:nvPr/>
        </p:nvSpPr>
        <p:spPr>
          <a:xfrm>
            <a:off x="548640" y="3163824"/>
            <a:ext cx="5394960" cy="493776"/>
          </a:xfrm>
          <a:prstGeom prst="rect">
            <a:avLst/>
          </a:prstGeom>
          <a:solidFill>
            <a:srgbClr val="F4F7F9"/>
          </a:solidFill>
          <a:ln w="12700">
            <a:solidFill>
              <a:srgbClr val="E3E9EF"/>
            </a:solidFill>
            <a:prstDash val="solid"/>
          </a:ln>
        </p:spPr>
      </p:sp>
      <p:sp>
        <p:nvSpPr>
          <p:cNvPr id="36" name="Shape 34"/>
          <p:cNvSpPr/>
          <p:nvPr/>
        </p:nvSpPr>
        <p:spPr>
          <a:xfrm>
            <a:off x="676656" y="3300984"/>
            <a:ext cx="219456" cy="219456"/>
          </a:xfrm>
          <a:prstGeom prst="ellipse">
            <a:avLst/>
          </a:prstGeom>
          <a:solidFill>
            <a:srgbClr val="009E73"/>
          </a:solidFill>
          <a:ln/>
        </p:spPr>
      </p:sp>
      <p:sp>
        <p:nvSpPr>
          <p:cNvPr id="37" name="Text 35"/>
          <p:cNvSpPr txBox="1"/>
          <p:nvPr/>
        </p:nvSpPr>
        <p:spPr>
          <a:xfrm>
            <a:off x="1005840" y="3218688"/>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Checkpoint / resume</a:t>
            </a:r>
            <a:endParaRPr lang="en-US" sz="1050" dirty="0"/>
          </a:p>
        </p:txBody>
      </p:sp>
      <p:sp>
        <p:nvSpPr>
          <p:cNvPr id="38" name="Text 36"/>
          <p:cNvSpPr txBox="1"/>
          <p:nvPr/>
        </p:nvSpPr>
        <p:spPr>
          <a:xfrm>
            <a:off x="1005840" y="3419856"/>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saxla → yüklə → davam et ekvivalentliyi</a:t>
            </a:r>
            <a:endParaRPr lang="en-US" sz="850" dirty="0"/>
          </a:p>
        </p:txBody>
      </p:sp>
      <p:sp>
        <p:nvSpPr>
          <p:cNvPr id="39" name="Text 37"/>
          <p:cNvSpPr txBox="1"/>
          <p:nvPr/>
        </p:nvSpPr>
        <p:spPr>
          <a:xfrm>
            <a:off x="5029200" y="3163824"/>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40" name="Shape 38"/>
          <p:cNvSpPr/>
          <p:nvPr/>
        </p:nvSpPr>
        <p:spPr>
          <a:xfrm>
            <a:off x="6217920" y="3163824"/>
            <a:ext cx="5394960" cy="493776"/>
          </a:xfrm>
          <a:prstGeom prst="rect">
            <a:avLst/>
          </a:prstGeom>
          <a:solidFill>
            <a:srgbClr val="FFFFFF"/>
          </a:solidFill>
          <a:ln w="12700">
            <a:solidFill>
              <a:srgbClr val="E3E9EF"/>
            </a:solidFill>
            <a:prstDash val="solid"/>
          </a:ln>
        </p:spPr>
      </p:sp>
      <p:sp>
        <p:nvSpPr>
          <p:cNvPr id="41" name="Shape 39"/>
          <p:cNvSpPr/>
          <p:nvPr/>
        </p:nvSpPr>
        <p:spPr>
          <a:xfrm>
            <a:off x="6345936" y="3300984"/>
            <a:ext cx="219456" cy="219456"/>
          </a:xfrm>
          <a:prstGeom prst="ellipse">
            <a:avLst/>
          </a:prstGeom>
          <a:solidFill>
            <a:srgbClr val="009E73"/>
          </a:solidFill>
          <a:ln/>
        </p:spPr>
      </p:sp>
      <p:sp>
        <p:nvSpPr>
          <p:cNvPr id="42" name="Text 40"/>
          <p:cNvSpPr txBox="1"/>
          <p:nvPr/>
        </p:nvSpPr>
        <p:spPr>
          <a:xfrm>
            <a:off x="6675120" y="3218688"/>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CUDA determinizmi</a:t>
            </a:r>
            <a:endParaRPr lang="en-US" sz="1050" dirty="0"/>
          </a:p>
        </p:txBody>
      </p:sp>
      <p:sp>
        <p:nvSpPr>
          <p:cNvPr id="43" name="Text 41"/>
          <p:cNvSpPr txBox="1"/>
          <p:nvPr/>
        </p:nvSpPr>
        <p:spPr>
          <a:xfrm>
            <a:off x="6675120" y="3419856"/>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sınaqdan keçmiş runtime daxilində</a:t>
            </a:r>
            <a:endParaRPr lang="en-US" sz="850" dirty="0"/>
          </a:p>
        </p:txBody>
      </p:sp>
      <p:sp>
        <p:nvSpPr>
          <p:cNvPr id="44" name="Text 42"/>
          <p:cNvSpPr txBox="1"/>
          <p:nvPr/>
        </p:nvSpPr>
        <p:spPr>
          <a:xfrm>
            <a:off x="10698480" y="3163824"/>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45" name="Shape 43"/>
          <p:cNvSpPr/>
          <p:nvPr/>
        </p:nvSpPr>
        <p:spPr>
          <a:xfrm>
            <a:off x="548640" y="3730752"/>
            <a:ext cx="5394960" cy="493776"/>
          </a:xfrm>
          <a:prstGeom prst="rect">
            <a:avLst/>
          </a:prstGeom>
          <a:solidFill>
            <a:srgbClr val="F4F7F9"/>
          </a:solidFill>
          <a:ln w="12700">
            <a:solidFill>
              <a:srgbClr val="E3E9EF"/>
            </a:solidFill>
            <a:prstDash val="solid"/>
          </a:ln>
        </p:spPr>
      </p:sp>
      <p:sp>
        <p:nvSpPr>
          <p:cNvPr id="46" name="Shape 44"/>
          <p:cNvSpPr/>
          <p:nvPr/>
        </p:nvSpPr>
        <p:spPr>
          <a:xfrm>
            <a:off x="676656" y="3867912"/>
            <a:ext cx="219456" cy="219456"/>
          </a:xfrm>
          <a:prstGeom prst="ellipse">
            <a:avLst/>
          </a:prstGeom>
          <a:solidFill>
            <a:srgbClr val="009E73"/>
          </a:solidFill>
          <a:ln/>
        </p:spPr>
      </p:sp>
      <p:sp>
        <p:nvSpPr>
          <p:cNvPr id="47" name="Text 45"/>
          <p:cNvSpPr txBox="1"/>
          <p:nvPr/>
        </p:nvSpPr>
        <p:spPr>
          <a:xfrm>
            <a:off x="1005840" y="3785616"/>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Evaluation sintetik testləri</a:t>
            </a:r>
            <a:endParaRPr lang="en-US" sz="1050" dirty="0"/>
          </a:p>
        </p:txBody>
      </p:sp>
      <p:sp>
        <p:nvSpPr>
          <p:cNvPr id="48" name="Text 46"/>
          <p:cNvSpPr txBox="1"/>
          <p:nvPr/>
        </p:nvSpPr>
        <p:spPr>
          <a:xfrm>
            <a:off x="1005840" y="3986784"/>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bilinən cavablı süni nümunələr</a:t>
            </a:r>
            <a:endParaRPr lang="en-US" sz="850" dirty="0"/>
          </a:p>
        </p:txBody>
      </p:sp>
      <p:sp>
        <p:nvSpPr>
          <p:cNvPr id="49" name="Text 47"/>
          <p:cNvSpPr txBox="1"/>
          <p:nvPr/>
        </p:nvSpPr>
        <p:spPr>
          <a:xfrm>
            <a:off x="5029200" y="3730752"/>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50" name="Shape 48"/>
          <p:cNvSpPr/>
          <p:nvPr/>
        </p:nvSpPr>
        <p:spPr>
          <a:xfrm>
            <a:off x="6217920" y="3730752"/>
            <a:ext cx="5394960" cy="493776"/>
          </a:xfrm>
          <a:prstGeom prst="rect">
            <a:avLst/>
          </a:prstGeom>
          <a:solidFill>
            <a:srgbClr val="FFFFFF"/>
          </a:solidFill>
          <a:ln w="12700">
            <a:solidFill>
              <a:srgbClr val="E3E9EF"/>
            </a:solidFill>
            <a:prstDash val="solid"/>
          </a:ln>
        </p:spPr>
      </p:sp>
      <p:sp>
        <p:nvSpPr>
          <p:cNvPr id="51" name="Shape 49"/>
          <p:cNvSpPr/>
          <p:nvPr/>
        </p:nvSpPr>
        <p:spPr>
          <a:xfrm>
            <a:off x="6345936" y="3867912"/>
            <a:ext cx="219456" cy="219456"/>
          </a:xfrm>
          <a:prstGeom prst="ellipse">
            <a:avLst/>
          </a:prstGeom>
          <a:solidFill>
            <a:srgbClr val="009E73"/>
          </a:solidFill>
          <a:ln/>
        </p:spPr>
      </p:sp>
      <p:sp>
        <p:nvSpPr>
          <p:cNvPr id="52" name="Text 50"/>
          <p:cNvSpPr txBox="1"/>
          <p:nvPr/>
        </p:nvSpPr>
        <p:spPr>
          <a:xfrm>
            <a:off x="6675120" y="3785616"/>
            <a:ext cx="3291840" cy="219456"/>
          </a:xfrm>
          <a:prstGeom prst="rect">
            <a:avLst/>
          </a:prstGeom>
          <a:noFill/>
          <a:ln/>
        </p:spPr>
        <p:txBody>
          <a:bodyPr wrap="square" lIns="0" tIns="0" rIns="0" bIns="0" rtlCol="0" anchor="ctr"/>
          <a:lstStyle/>
          <a:p>
            <a:pPr marL="0" indent="0">
              <a:buNone/>
            </a:pPr>
            <a:r>
              <a:rPr lang="en-US" sz="1050" b="1" dirty="0">
                <a:solidFill>
                  <a:srgbClr val="0E2438"/>
                </a:solidFill>
                <a:latin typeface="Calibri" pitchFamily="34" charset="0"/>
                <a:ea typeface="Calibri" pitchFamily="34" charset="-122"/>
                <a:cs typeface="Calibri" pitchFamily="34" charset="-120"/>
              </a:rPr>
              <a:t>Release / manifest yoxlaması</a:t>
            </a:r>
            <a:endParaRPr lang="en-US" sz="1050" dirty="0"/>
          </a:p>
        </p:txBody>
      </p:sp>
      <p:sp>
        <p:nvSpPr>
          <p:cNvPr id="53" name="Text 51"/>
          <p:cNvSpPr txBox="1"/>
          <p:nvPr/>
        </p:nvSpPr>
        <p:spPr>
          <a:xfrm>
            <a:off x="6675120" y="3986784"/>
            <a:ext cx="3657600" cy="201168"/>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artefaktların mövcudluğu və bütövlüyü</a:t>
            </a:r>
            <a:endParaRPr lang="en-US" sz="850" dirty="0"/>
          </a:p>
        </p:txBody>
      </p:sp>
      <p:sp>
        <p:nvSpPr>
          <p:cNvPr id="54" name="Text 52"/>
          <p:cNvSpPr txBox="1"/>
          <p:nvPr/>
        </p:nvSpPr>
        <p:spPr>
          <a:xfrm>
            <a:off x="10698480" y="3730752"/>
            <a:ext cx="822960" cy="493776"/>
          </a:xfrm>
          <a:prstGeom prst="rect">
            <a:avLst/>
          </a:prstGeom>
          <a:noFill/>
          <a:ln/>
        </p:spPr>
        <p:txBody>
          <a:bodyPr wrap="square" lIns="0" tIns="0" rIns="0" bIns="0" rtlCol="0" anchor="ctr"/>
          <a:lstStyle/>
          <a:p>
            <a:pPr marL="0" indent="0" algn="r">
              <a:buNone/>
            </a:pPr>
            <a:r>
              <a:rPr lang="en-US" sz="1050" b="1" dirty="0">
                <a:solidFill>
                  <a:srgbClr val="009E73"/>
                </a:solidFill>
                <a:latin typeface="Calibri" pitchFamily="34" charset="0"/>
                <a:ea typeface="Calibri" pitchFamily="34" charset="-122"/>
                <a:cs typeface="Calibri" pitchFamily="34" charset="-120"/>
              </a:rPr>
              <a:t>PASS</a:t>
            </a:r>
            <a:endParaRPr lang="en-US" sz="1050" dirty="0"/>
          </a:p>
        </p:txBody>
      </p:sp>
      <p:sp>
        <p:nvSpPr>
          <p:cNvPr id="55" name="Shape 53"/>
          <p:cNvSpPr/>
          <p:nvPr/>
        </p:nvSpPr>
        <p:spPr>
          <a:xfrm>
            <a:off x="548640" y="4370832"/>
            <a:ext cx="6766560" cy="1371600"/>
          </a:xfrm>
          <a:prstGeom prst="roundRect">
            <a:avLst>
              <a:gd name="adj" fmla="val 4667"/>
            </a:avLst>
          </a:prstGeom>
          <a:solidFill>
            <a:srgbClr val="EAF0F4"/>
          </a:solidFill>
          <a:ln/>
        </p:spPr>
      </p:sp>
      <p:sp>
        <p:nvSpPr>
          <p:cNvPr id="56" name="Text 54"/>
          <p:cNvSpPr txBox="1"/>
          <p:nvPr/>
        </p:nvSpPr>
        <p:spPr>
          <a:xfrm>
            <a:off x="731520" y="4480560"/>
            <a:ext cx="640080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DAVAMLI İNTEQRASİYA  (GitHub Actions)</a:t>
            </a:r>
            <a:endParaRPr lang="en-US" sz="1050" dirty="0"/>
          </a:p>
        </p:txBody>
      </p:sp>
      <p:sp>
        <p:nvSpPr>
          <p:cNvPr id="57" name="Text 55"/>
          <p:cNvSpPr txBox="1"/>
          <p:nvPr/>
        </p:nvSpPr>
        <p:spPr>
          <a:xfrm>
            <a:off x="731520" y="4736592"/>
            <a:ext cx="6400800" cy="256032"/>
          </a:xfrm>
          <a:prstGeom prst="rect">
            <a:avLst/>
          </a:prstGeom>
          <a:noFill/>
          <a:ln/>
        </p:spPr>
        <p:txBody>
          <a:bodyPr wrap="square" lIns="0" tIns="0" rIns="0" bIns="0" rtlCol="0" anchor="ctr"/>
          <a:lstStyle/>
          <a:p>
            <a:pPr marL="0" indent="0">
              <a:buNone/>
            </a:pPr>
            <a:r>
              <a:rPr lang="en-US" sz="1150" b="1" dirty="0">
                <a:solidFill>
                  <a:srgbClr val="009E73"/>
                </a:solidFill>
                <a:latin typeface="Calibri" pitchFamily="34" charset="0"/>
                <a:ea typeface="Calibri" pitchFamily="34" charset="-122"/>
                <a:cs typeface="Calibri" pitchFamily="34" charset="-120"/>
              </a:rPr>
              <a:t>main üzərindəki son CI işləməsi:  uğurlu  (11 sentyabr 2026)</a:t>
            </a:r>
            <a:endParaRPr lang="en-US" sz="1150" dirty="0"/>
          </a:p>
        </p:txBody>
      </p:sp>
      <p:sp>
        <p:nvSpPr>
          <p:cNvPr id="58" name="Text 56"/>
          <p:cNvSpPr txBox="1"/>
          <p:nvPr/>
        </p:nvSpPr>
        <p:spPr>
          <a:xfrm>
            <a:off x="731520" y="5029200"/>
            <a:ext cx="6400800" cy="64008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CI yalnız CPU-da işləyən yoxlamaları icra edir: unit və integration testləri, config drift auditi, parametr ədalətliliyi auditi və release yoxlaması. Tam pretraining və 25-run matrisi qəsdən CI-dan kənarda saxlanılıb — onlar GPU tələb edir və saatlarla çəkir.</a:t>
            </a:r>
            <a:endParaRPr lang="en-US" sz="1000" dirty="0"/>
          </a:p>
        </p:txBody>
      </p:sp>
      <p:sp>
        <p:nvSpPr>
          <p:cNvPr id="59" name="Shape 57"/>
          <p:cNvSpPr/>
          <p:nvPr/>
        </p:nvSpPr>
        <p:spPr>
          <a:xfrm>
            <a:off x="7543800" y="4370832"/>
            <a:ext cx="4096512" cy="1371600"/>
          </a:xfrm>
          <a:prstGeom prst="roundRect">
            <a:avLst>
              <a:gd name="adj" fmla="val 4667"/>
            </a:avLst>
          </a:prstGeom>
          <a:solidFill>
            <a:srgbClr val="FDF3EC"/>
          </a:solidFill>
          <a:ln/>
        </p:spPr>
      </p:sp>
      <p:sp>
        <p:nvSpPr>
          <p:cNvPr id="60" name="Text 58"/>
          <p:cNvSpPr txBox="1"/>
          <p:nvPr/>
        </p:nvSpPr>
        <p:spPr>
          <a:xfrm>
            <a:off x="7726680" y="4480560"/>
            <a:ext cx="374904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TESTLƏRİN ROLU HAQQINDA DÜRÜST QEYD</a:t>
            </a:r>
            <a:endParaRPr lang="en-US" sz="1050" dirty="0"/>
          </a:p>
        </p:txBody>
      </p:sp>
      <p:sp>
        <p:nvSpPr>
          <p:cNvPr id="61" name="Text 59"/>
          <p:cNvSpPr txBox="1"/>
          <p:nvPr/>
        </p:nvSpPr>
        <p:spPr>
          <a:xfrm>
            <a:off x="7726680" y="4736592"/>
            <a:ext cx="3749040" cy="91440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Bu testlər elmi nəticənin DOĞRU olduğunu sübut etmir. Onlar boru xəttinin qaydalara uyğun işlədiyini yoxlayır: leakage yoxdur, konfiqurasiyalar ədalətlidir, artefaktlar bütövdür.</a:t>
            </a:r>
            <a:endParaRPr lang="en-US" sz="1000" dirty="0"/>
          </a:p>
        </p:txBody>
      </p:sp>
      <p:sp>
        <p:nvSpPr>
          <p:cNvPr id="62" name="Shape 60"/>
          <p:cNvSpPr/>
          <p:nvPr/>
        </p:nvSpPr>
        <p:spPr>
          <a:xfrm>
            <a:off x="548640" y="5888736"/>
            <a:ext cx="11091672" cy="420624"/>
          </a:xfrm>
          <a:prstGeom prst="roundRect">
            <a:avLst>
              <a:gd name="adj" fmla="val 15217"/>
            </a:avLst>
          </a:prstGeom>
          <a:solidFill>
            <a:srgbClr val="EAF0F4"/>
          </a:solidFill>
          <a:ln/>
        </p:spPr>
      </p:sp>
      <p:sp>
        <p:nvSpPr>
          <p:cNvPr id="63" name="Text 61"/>
          <p:cNvSpPr txBox="1"/>
          <p:nvPr/>
        </p:nvSpPr>
        <p:spPr>
          <a:xfrm>
            <a:off x="713232" y="5907024"/>
            <a:ext cx="10762488" cy="420624"/>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Experimental control:  </a:t>
            </a:r>
            <a:r>
              <a:rPr lang="en-US" sz="1200" dirty="0">
                <a:solidFill>
                  <a:srgbClr val="14202E"/>
                </a:solidFill>
                <a:latin typeface="Calibri" pitchFamily="34" charset="0"/>
                <a:ea typeface="Calibri" pitchFamily="34" charset="-122"/>
                <a:cs typeface="Calibri" pitchFamily="34" charset="-120"/>
              </a:rPr>
              <a:t>Keyfiyyət nəzarəti sonda deyil, hər mərhələdə aparılıb — qüsur tapıldıqda mərhələ təkrar icra olunub.</a:t>
            </a:r>
            <a:endParaRPr lang="en-US" sz="1200" dirty="0"/>
          </a:p>
        </p:txBody>
      </p:sp>
      <p:sp>
        <p:nvSpPr>
          <p:cNvPr id="64" name="Text 62"/>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65" name="Text 63"/>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.github/workflows/ci.yml · release_verification.json</a:t>
            </a:r>
            <a:endParaRPr lang="en-US" sz="850" dirty="0"/>
          </a:p>
        </p:txBody>
      </p:sp>
      <p:sp>
        <p:nvSpPr>
          <p:cNvPr id="66" name="Text 64"/>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Validation-dan final testə: test setini necə qoruduq?</a:t>
            </a:r>
            <a:endParaRPr lang="en-US" sz="2500" dirty="0"/>
          </a:p>
        </p:txBody>
      </p:sp>
      <p:sp>
        <p:nvSpPr>
          <p:cNvPr id="4" name="Shape 2"/>
          <p:cNvSpPr/>
          <p:nvPr/>
        </p:nvSpPr>
        <p:spPr>
          <a:xfrm>
            <a:off x="548640" y="1316736"/>
            <a:ext cx="2560320" cy="475488"/>
          </a:xfrm>
          <a:prstGeom prst="rect">
            <a:avLst/>
          </a:prstGeom>
          <a:solidFill>
            <a:srgbClr val="12324F"/>
          </a:solidFill>
          <a:ln/>
        </p:spPr>
      </p:sp>
      <p:sp>
        <p:nvSpPr>
          <p:cNvPr id="5" name="Text 3"/>
          <p:cNvSpPr txBox="1"/>
          <p:nvPr/>
        </p:nvSpPr>
        <p:spPr>
          <a:xfrm>
            <a:off x="548640" y="1316736"/>
            <a:ext cx="256032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TRAIN</a:t>
            </a:r>
            <a:endParaRPr lang="en-US" sz="1300" dirty="0"/>
          </a:p>
        </p:txBody>
      </p:sp>
      <p:sp>
        <p:nvSpPr>
          <p:cNvPr id="6" name="Shape 4"/>
          <p:cNvSpPr/>
          <p:nvPr/>
        </p:nvSpPr>
        <p:spPr>
          <a:xfrm>
            <a:off x="548640" y="1865376"/>
            <a:ext cx="2560320" cy="1828800"/>
          </a:xfrm>
          <a:prstGeom prst="roundRect">
            <a:avLst>
              <a:gd name="adj" fmla="val 3500"/>
            </a:avLst>
          </a:prstGeom>
          <a:solidFill>
            <a:srgbClr val="F4F7F9"/>
          </a:solidFill>
          <a:ln/>
        </p:spPr>
      </p:sp>
      <p:sp>
        <p:nvSpPr>
          <p:cNvPr id="7" name="Text 5"/>
          <p:cNvSpPr txBox="1"/>
          <p:nvPr/>
        </p:nvSpPr>
        <p:spPr>
          <a:xfrm>
            <a:off x="694944" y="1975104"/>
            <a:ext cx="226771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model yalnız buradan öyrənir</a:t>
            </a:r>
            <a:endParaRPr lang="en-US" sz="1000" dirty="0"/>
          </a:p>
        </p:txBody>
      </p:sp>
      <p:sp>
        <p:nvSpPr>
          <p:cNvPr id="8" name="Text 6"/>
          <p:cNvSpPr txBox="1"/>
          <p:nvPr/>
        </p:nvSpPr>
        <p:spPr>
          <a:xfrm>
            <a:off x="694944" y="2395728"/>
            <a:ext cx="226771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5 574 885 sənəd</a:t>
            </a:r>
            <a:endParaRPr lang="en-US" sz="1000" dirty="0"/>
          </a:p>
        </p:txBody>
      </p:sp>
      <p:sp>
        <p:nvSpPr>
          <p:cNvPr id="9" name="Text 7"/>
          <p:cNvSpPr txBox="1"/>
          <p:nvPr/>
        </p:nvSpPr>
        <p:spPr>
          <a:xfrm>
            <a:off x="694944" y="2816352"/>
            <a:ext cx="226771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50M tokenlik alt-ardıcıllıq</a:t>
            </a:r>
            <a:endParaRPr lang="en-US" sz="1000" dirty="0"/>
          </a:p>
        </p:txBody>
      </p:sp>
      <p:sp>
        <p:nvSpPr>
          <p:cNvPr id="10" name="Shape 8"/>
          <p:cNvSpPr/>
          <p:nvPr/>
        </p:nvSpPr>
        <p:spPr>
          <a:xfrm>
            <a:off x="3200400" y="1463040"/>
            <a:ext cx="274320" cy="182880"/>
          </a:xfrm>
          <a:prstGeom prst="rightArrow">
            <a:avLst/>
          </a:prstGeom>
          <a:solidFill>
            <a:srgbClr val="C7D3DD"/>
          </a:solidFill>
          <a:ln/>
        </p:spPr>
      </p:sp>
      <p:sp>
        <p:nvSpPr>
          <p:cNvPr id="11" name="Shape 9"/>
          <p:cNvSpPr/>
          <p:nvPr/>
        </p:nvSpPr>
        <p:spPr>
          <a:xfrm>
            <a:off x="3566160" y="1316736"/>
            <a:ext cx="2651760" cy="475488"/>
          </a:xfrm>
          <a:prstGeom prst="rect">
            <a:avLst/>
          </a:prstGeom>
          <a:solidFill>
            <a:srgbClr val="2E7D8F"/>
          </a:solidFill>
          <a:ln/>
        </p:spPr>
      </p:sp>
      <p:sp>
        <p:nvSpPr>
          <p:cNvPr id="12" name="Text 10"/>
          <p:cNvSpPr txBox="1"/>
          <p:nvPr/>
        </p:nvSpPr>
        <p:spPr>
          <a:xfrm>
            <a:off x="3566160" y="1316736"/>
            <a:ext cx="26517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VALIDATION</a:t>
            </a:r>
            <a:endParaRPr lang="en-US" sz="1300" dirty="0"/>
          </a:p>
        </p:txBody>
      </p:sp>
      <p:sp>
        <p:nvSpPr>
          <p:cNvPr id="13" name="Shape 11"/>
          <p:cNvSpPr/>
          <p:nvPr/>
        </p:nvSpPr>
        <p:spPr>
          <a:xfrm>
            <a:off x="3566160" y="1865376"/>
            <a:ext cx="2651760" cy="1828800"/>
          </a:xfrm>
          <a:prstGeom prst="roundRect">
            <a:avLst>
              <a:gd name="adj" fmla="val 3500"/>
            </a:avLst>
          </a:prstGeom>
          <a:solidFill>
            <a:srgbClr val="F4F7F9"/>
          </a:solidFill>
          <a:ln/>
        </p:spPr>
      </p:sp>
      <p:sp>
        <p:nvSpPr>
          <p:cNvPr id="14" name="Text 12"/>
          <p:cNvSpPr txBox="1"/>
          <p:nvPr/>
        </p:nvSpPr>
        <p:spPr>
          <a:xfrm>
            <a:off x="3712464" y="1975104"/>
            <a:ext cx="235915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evaluator-un işlənməsi</a:t>
            </a:r>
            <a:endParaRPr lang="en-US" sz="1000" dirty="0"/>
          </a:p>
        </p:txBody>
      </p:sp>
      <p:sp>
        <p:nvSpPr>
          <p:cNvPr id="15" name="Text 13"/>
          <p:cNvSpPr txBox="1"/>
          <p:nvPr/>
        </p:nvSpPr>
        <p:spPr>
          <a:xfrm>
            <a:off x="3712464" y="2395728"/>
            <a:ext cx="235915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learning curve-lər</a:t>
            </a:r>
            <a:endParaRPr lang="en-US" sz="1000" dirty="0"/>
          </a:p>
        </p:txBody>
      </p:sp>
      <p:sp>
        <p:nvSpPr>
          <p:cNvPr id="16" name="Text 14"/>
          <p:cNvSpPr txBox="1"/>
          <p:nvPr/>
        </p:nvSpPr>
        <p:spPr>
          <a:xfrm>
            <a:off x="3712464" y="2816352"/>
            <a:ext cx="235915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protokolun yoxlanılması</a:t>
            </a:r>
            <a:endParaRPr lang="en-US" sz="1000" dirty="0"/>
          </a:p>
        </p:txBody>
      </p:sp>
      <p:sp>
        <p:nvSpPr>
          <p:cNvPr id="17" name="Text 15"/>
          <p:cNvSpPr txBox="1"/>
          <p:nvPr/>
        </p:nvSpPr>
        <p:spPr>
          <a:xfrm>
            <a:off x="3712464" y="3236976"/>
            <a:ext cx="235915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309 677 sənəd  ·  30 329 083 token</a:t>
            </a:r>
            <a:endParaRPr lang="en-US" sz="1000" dirty="0"/>
          </a:p>
        </p:txBody>
      </p:sp>
      <p:sp>
        <p:nvSpPr>
          <p:cNvPr id="18" name="Shape 16"/>
          <p:cNvSpPr/>
          <p:nvPr/>
        </p:nvSpPr>
        <p:spPr>
          <a:xfrm>
            <a:off x="6309360" y="1463040"/>
            <a:ext cx="274320" cy="182880"/>
          </a:xfrm>
          <a:prstGeom prst="rightArrow">
            <a:avLst/>
          </a:prstGeom>
          <a:solidFill>
            <a:srgbClr val="C7D3DD"/>
          </a:solidFill>
          <a:ln/>
        </p:spPr>
      </p:sp>
      <p:sp>
        <p:nvSpPr>
          <p:cNvPr id="19" name="Shape 17"/>
          <p:cNvSpPr/>
          <p:nvPr/>
        </p:nvSpPr>
        <p:spPr>
          <a:xfrm>
            <a:off x="6675120" y="1316736"/>
            <a:ext cx="2286000" cy="475488"/>
          </a:xfrm>
          <a:prstGeom prst="rect">
            <a:avLst/>
          </a:prstGeom>
          <a:solidFill>
            <a:srgbClr val="B26B00"/>
          </a:solidFill>
          <a:ln/>
        </p:spPr>
      </p:sp>
      <p:sp>
        <p:nvSpPr>
          <p:cNvPr id="20" name="Text 18"/>
          <p:cNvSpPr txBox="1"/>
          <p:nvPr/>
        </p:nvSpPr>
        <p:spPr>
          <a:xfrm>
            <a:off x="6675120" y="1316736"/>
            <a:ext cx="22860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FREEZE</a:t>
            </a:r>
            <a:endParaRPr lang="en-US" sz="1300" dirty="0"/>
          </a:p>
        </p:txBody>
      </p:sp>
      <p:sp>
        <p:nvSpPr>
          <p:cNvPr id="21" name="Shape 19"/>
          <p:cNvSpPr/>
          <p:nvPr/>
        </p:nvSpPr>
        <p:spPr>
          <a:xfrm>
            <a:off x="6675120" y="1865376"/>
            <a:ext cx="2286000" cy="1828800"/>
          </a:xfrm>
          <a:prstGeom prst="roundRect">
            <a:avLst>
              <a:gd name="adj" fmla="val 3500"/>
            </a:avLst>
          </a:prstGeom>
          <a:solidFill>
            <a:srgbClr val="FDF3EC"/>
          </a:solidFill>
          <a:ln/>
        </p:spPr>
      </p:sp>
      <p:sp>
        <p:nvSpPr>
          <p:cNvPr id="22" name="Text 20"/>
          <p:cNvSpPr txBox="1"/>
          <p:nvPr/>
        </p:nvSpPr>
        <p:spPr>
          <a:xfrm>
            <a:off x="6821424" y="1975104"/>
            <a:ext cx="199339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evaluation protokolu</a:t>
            </a:r>
            <a:endParaRPr lang="en-US" sz="1000" dirty="0"/>
          </a:p>
        </p:txBody>
      </p:sp>
      <p:sp>
        <p:nvSpPr>
          <p:cNvPr id="23" name="Text 21"/>
          <p:cNvSpPr txBox="1"/>
          <p:nvPr/>
        </p:nvSpPr>
        <p:spPr>
          <a:xfrm>
            <a:off x="6821424" y="2395728"/>
            <a:ext cx="199339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scoring qaydaları</a:t>
            </a:r>
            <a:endParaRPr lang="en-US" sz="1000" dirty="0"/>
          </a:p>
        </p:txBody>
      </p:sp>
      <p:sp>
        <p:nvSpPr>
          <p:cNvPr id="24" name="Text 22"/>
          <p:cNvSpPr txBox="1"/>
          <p:nvPr/>
        </p:nvSpPr>
        <p:spPr>
          <a:xfrm>
            <a:off x="6821424" y="2816352"/>
            <a:ext cx="199339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statistik qaydalar</a:t>
            </a:r>
            <a:endParaRPr lang="en-US" sz="1000" dirty="0"/>
          </a:p>
        </p:txBody>
      </p:sp>
      <p:sp>
        <p:nvSpPr>
          <p:cNvPr id="25" name="Text 23"/>
          <p:cNvSpPr txBox="1"/>
          <p:nvPr/>
        </p:nvSpPr>
        <p:spPr>
          <a:xfrm>
            <a:off x="6821424" y="3236976"/>
            <a:ext cx="1993392"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final-test lock</a:t>
            </a:r>
            <a:endParaRPr lang="en-US" sz="1000" dirty="0"/>
          </a:p>
        </p:txBody>
      </p:sp>
      <p:sp>
        <p:nvSpPr>
          <p:cNvPr id="26" name="Shape 24"/>
          <p:cNvSpPr/>
          <p:nvPr/>
        </p:nvSpPr>
        <p:spPr>
          <a:xfrm>
            <a:off x="9052560" y="1463040"/>
            <a:ext cx="274320" cy="182880"/>
          </a:xfrm>
          <a:prstGeom prst="rightArrow">
            <a:avLst/>
          </a:prstGeom>
          <a:solidFill>
            <a:srgbClr val="C7D3DD"/>
          </a:solidFill>
          <a:ln/>
        </p:spPr>
      </p:sp>
      <p:sp>
        <p:nvSpPr>
          <p:cNvPr id="27" name="Shape 25"/>
          <p:cNvSpPr/>
          <p:nvPr/>
        </p:nvSpPr>
        <p:spPr>
          <a:xfrm>
            <a:off x="9418320" y="1316736"/>
            <a:ext cx="2221992" cy="475488"/>
          </a:xfrm>
          <a:prstGeom prst="rect">
            <a:avLst/>
          </a:prstGeom>
          <a:solidFill>
            <a:srgbClr val="0B6B50"/>
          </a:solidFill>
          <a:ln/>
        </p:spPr>
      </p:sp>
      <p:sp>
        <p:nvSpPr>
          <p:cNvPr id="28" name="Text 26"/>
          <p:cNvSpPr txBox="1"/>
          <p:nvPr/>
        </p:nvSpPr>
        <p:spPr>
          <a:xfrm>
            <a:off x="9418320" y="1316736"/>
            <a:ext cx="2221992"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29" name="Shape 27"/>
          <p:cNvSpPr/>
          <p:nvPr/>
        </p:nvSpPr>
        <p:spPr>
          <a:xfrm>
            <a:off x="9418320" y="1865376"/>
            <a:ext cx="2221992" cy="1828800"/>
          </a:xfrm>
          <a:prstGeom prst="roundRect">
            <a:avLst>
              <a:gd name="adj" fmla="val 3500"/>
            </a:avLst>
          </a:prstGeom>
          <a:solidFill>
            <a:srgbClr val="E6F5EF"/>
          </a:solidFill>
          <a:ln/>
        </p:spPr>
      </p:sp>
      <p:sp>
        <p:nvSpPr>
          <p:cNvPr id="30" name="Text 28"/>
          <p:cNvSpPr txBox="1"/>
          <p:nvPr/>
        </p:nvSpPr>
        <p:spPr>
          <a:xfrm>
            <a:off x="9564624" y="1975104"/>
            <a:ext cx="1929384"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yalnız bir dəfə</a:t>
            </a:r>
            <a:endParaRPr lang="en-US" sz="1000" dirty="0"/>
          </a:p>
        </p:txBody>
      </p:sp>
      <p:sp>
        <p:nvSpPr>
          <p:cNvPr id="31" name="Text 29"/>
          <p:cNvSpPr txBox="1"/>
          <p:nvPr/>
        </p:nvSpPr>
        <p:spPr>
          <a:xfrm>
            <a:off x="9564624" y="2395728"/>
            <a:ext cx="1929384"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yalnız final 50M modellər</a:t>
            </a:r>
            <a:endParaRPr lang="en-US" sz="1000" dirty="0"/>
          </a:p>
        </p:txBody>
      </p:sp>
      <p:sp>
        <p:nvSpPr>
          <p:cNvPr id="32" name="Text 30"/>
          <p:cNvSpPr txBox="1"/>
          <p:nvPr/>
        </p:nvSpPr>
        <p:spPr>
          <a:xfrm>
            <a:off x="9564624" y="2816352"/>
            <a:ext cx="1929384" cy="402336"/>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  elmi son nöqtə</a:t>
            </a:r>
            <a:endParaRPr lang="en-US" sz="1000" dirty="0"/>
          </a:p>
        </p:txBody>
      </p:sp>
      <p:sp>
        <p:nvSpPr>
          <p:cNvPr id="33" name="Text 31"/>
          <p:cNvSpPr txBox="1"/>
          <p:nvPr/>
        </p:nvSpPr>
        <p:spPr>
          <a:xfrm>
            <a:off x="548640" y="3858768"/>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HELD-OUT TEST HƏCMİ</a:t>
            </a:r>
            <a:endParaRPr lang="en-US" sz="1050" dirty="0"/>
          </a:p>
        </p:txBody>
      </p:sp>
      <p:sp>
        <p:nvSpPr>
          <p:cNvPr id="34" name="Shape 32"/>
          <p:cNvSpPr/>
          <p:nvPr/>
        </p:nvSpPr>
        <p:spPr>
          <a:xfrm>
            <a:off x="548640" y="4151376"/>
            <a:ext cx="2633472" cy="877824"/>
          </a:xfrm>
          <a:prstGeom prst="roundRect">
            <a:avLst>
              <a:gd name="adj" fmla="val 7292"/>
            </a:avLst>
          </a:prstGeom>
          <a:solidFill>
            <a:srgbClr val="F4F7F9"/>
          </a:solidFill>
          <a:ln/>
        </p:spPr>
      </p:sp>
      <p:sp>
        <p:nvSpPr>
          <p:cNvPr id="35" name="Text 33"/>
          <p:cNvSpPr txBox="1"/>
          <p:nvPr/>
        </p:nvSpPr>
        <p:spPr>
          <a:xfrm>
            <a:off x="694944" y="4224528"/>
            <a:ext cx="2377440" cy="365760"/>
          </a:xfrm>
          <a:prstGeom prst="rect">
            <a:avLst/>
          </a:prstGeom>
          <a:noFill/>
          <a:ln/>
        </p:spPr>
        <p:txBody>
          <a:bodyPr wrap="square" lIns="0" tIns="0" rIns="0" bIns="0" rtlCol="0" anchor="ctr"/>
          <a:lstStyle/>
          <a:p>
            <a:pPr marL="0" indent="0">
              <a:buNone/>
            </a:pPr>
            <a:r>
              <a:rPr lang="en-US" sz="1900" b="1" dirty="0">
                <a:solidFill>
                  <a:srgbClr val="12324F"/>
                </a:solidFill>
                <a:latin typeface="Cambria" pitchFamily="34" charset="0"/>
                <a:ea typeface="Cambria" pitchFamily="34" charset="-122"/>
                <a:cs typeface="Cambria" pitchFamily="34" charset="-120"/>
              </a:rPr>
              <a:t>309 369</a:t>
            </a:r>
            <a:endParaRPr lang="en-US" sz="1900" dirty="0"/>
          </a:p>
        </p:txBody>
      </p:sp>
      <p:sp>
        <p:nvSpPr>
          <p:cNvPr id="36" name="Text 34"/>
          <p:cNvSpPr txBox="1"/>
          <p:nvPr/>
        </p:nvSpPr>
        <p:spPr>
          <a:xfrm>
            <a:off x="694944" y="4608576"/>
            <a:ext cx="2377440" cy="347472"/>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test sənədi</a:t>
            </a:r>
            <a:endParaRPr lang="en-US" sz="950" dirty="0"/>
          </a:p>
        </p:txBody>
      </p:sp>
      <p:sp>
        <p:nvSpPr>
          <p:cNvPr id="37" name="Shape 35"/>
          <p:cNvSpPr/>
          <p:nvPr/>
        </p:nvSpPr>
        <p:spPr>
          <a:xfrm>
            <a:off x="3346704" y="4151376"/>
            <a:ext cx="2633472" cy="877824"/>
          </a:xfrm>
          <a:prstGeom prst="roundRect">
            <a:avLst>
              <a:gd name="adj" fmla="val 7292"/>
            </a:avLst>
          </a:prstGeom>
          <a:solidFill>
            <a:srgbClr val="F4F7F9"/>
          </a:solidFill>
          <a:ln/>
        </p:spPr>
      </p:sp>
      <p:sp>
        <p:nvSpPr>
          <p:cNvPr id="38" name="Text 36"/>
          <p:cNvSpPr txBox="1"/>
          <p:nvPr/>
        </p:nvSpPr>
        <p:spPr>
          <a:xfrm>
            <a:off x="3493008" y="4224528"/>
            <a:ext cx="2377440" cy="365760"/>
          </a:xfrm>
          <a:prstGeom prst="rect">
            <a:avLst/>
          </a:prstGeom>
          <a:noFill/>
          <a:ln/>
        </p:spPr>
        <p:txBody>
          <a:bodyPr wrap="square" lIns="0" tIns="0" rIns="0" bIns="0" rtlCol="0" anchor="ctr"/>
          <a:lstStyle/>
          <a:p>
            <a:pPr marL="0" indent="0">
              <a:buNone/>
            </a:pPr>
            <a:r>
              <a:rPr lang="en-US" sz="1900" b="1" dirty="0">
                <a:solidFill>
                  <a:srgbClr val="12324F"/>
                </a:solidFill>
                <a:latin typeface="Cambria" pitchFamily="34" charset="0"/>
                <a:ea typeface="Cambria" pitchFamily="34" charset="-122"/>
                <a:cs typeface="Cambria" pitchFamily="34" charset="-120"/>
              </a:rPr>
              <a:t>30 892 742</a:t>
            </a:r>
            <a:endParaRPr lang="en-US" sz="1900" dirty="0"/>
          </a:p>
        </p:txBody>
      </p:sp>
      <p:sp>
        <p:nvSpPr>
          <p:cNvPr id="39" name="Text 37"/>
          <p:cNvSpPr txBox="1"/>
          <p:nvPr/>
        </p:nvSpPr>
        <p:spPr>
          <a:xfrm>
            <a:off x="3493008" y="4608576"/>
            <a:ext cx="2377440" cy="347472"/>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korpus tokeni</a:t>
            </a:r>
            <a:endParaRPr lang="en-US" sz="950" dirty="0"/>
          </a:p>
        </p:txBody>
      </p:sp>
      <p:sp>
        <p:nvSpPr>
          <p:cNvPr id="40" name="Shape 38"/>
          <p:cNvSpPr/>
          <p:nvPr/>
        </p:nvSpPr>
        <p:spPr>
          <a:xfrm>
            <a:off x="6144768" y="4151376"/>
            <a:ext cx="2633472" cy="877824"/>
          </a:xfrm>
          <a:prstGeom prst="roundRect">
            <a:avLst>
              <a:gd name="adj" fmla="val 7292"/>
            </a:avLst>
          </a:prstGeom>
          <a:solidFill>
            <a:srgbClr val="F4F7F9"/>
          </a:solidFill>
          <a:ln/>
        </p:spPr>
      </p:sp>
      <p:sp>
        <p:nvSpPr>
          <p:cNvPr id="41" name="Text 39"/>
          <p:cNvSpPr txBox="1"/>
          <p:nvPr/>
        </p:nvSpPr>
        <p:spPr>
          <a:xfrm>
            <a:off x="6291072" y="4224528"/>
            <a:ext cx="2377440" cy="365760"/>
          </a:xfrm>
          <a:prstGeom prst="rect">
            <a:avLst/>
          </a:prstGeom>
          <a:noFill/>
          <a:ln/>
        </p:spPr>
        <p:txBody>
          <a:bodyPr wrap="square" lIns="0" tIns="0" rIns="0" bIns="0" rtlCol="0" anchor="ctr"/>
          <a:lstStyle/>
          <a:p>
            <a:pPr marL="0" indent="0">
              <a:buNone/>
            </a:pPr>
            <a:r>
              <a:rPr lang="en-US" sz="1900" b="1" dirty="0">
                <a:solidFill>
                  <a:srgbClr val="12324F"/>
                </a:solidFill>
                <a:latin typeface="Cambria" pitchFamily="34" charset="0"/>
                <a:ea typeface="Cambria" pitchFamily="34" charset="-122"/>
                <a:cs typeface="Cambria" pitchFamily="34" charset="-120"/>
              </a:rPr>
              <a:t>30 583 373</a:t>
            </a:r>
            <a:endParaRPr lang="en-US" sz="1900" dirty="0"/>
          </a:p>
        </p:txBody>
      </p:sp>
      <p:sp>
        <p:nvSpPr>
          <p:cNvPr id="42" name="Text 40"/>
          <p:cNvSpPr txBox="1"/>
          <p:nvPr/>
        </p:nvSpPr>
        <p:spPr>
          <a:xfrm>
            <a:off x="6291072" y="4608576"/>
            <a:ext cx="2377440" cy="347472"/>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hər seed üçün qiymətləndirilən hədəf</a:t>
            </a:r>
            <a:endParaRPr lang="en-US" sz="950" dirty="0"/>
          </a:p>
        </p:txBody>
      </p:sp>
      <p:sp>
        <p:nvSpPr>
          <p:cNvPr id="43" name="Shape 41"/>
          <p:cNvSpPr/>
          <p:nvPr/>
        </p:nvSpPr>
        <p:spPr>
          <a:xfrm>
            <a:off x="8942832" y="4151376"/>
            <a:ext cx="2633472" cy="877824"/>
          </a:xfrm>
          <a:prstGeom prst="roundRect">
            <a:avLst>
              <a:gd name="adj" fmla="val 7292"/>
            </a:avLst>
          </a:prstGeom>
          <a:solidFill>
            <a:srgbClr val="F4F7F9"/>
          </a:solidFill>
          <a:ln/>
        </p:spPr>
      </p:sp>
      <p:sp>
        <p:nvSpPr>
          <p:cNvPr id="44" name="Text 42"/>
          <p:cNvSpPr txBox="1"/>
          <p:nvPr/>
        </p:nvSpPr>
        <p:spPr>
          <a:xfrm>
            <a:off x="9089136" y="4224528"/>
            <a:ext cx="2377440" cy="365760"/>
          </a:xfrm>
          <a:prstGeom prst="rect">
            <a:avLst/>
          </a:prstGeom>
          <a:noFill/>
          <a:ln/>
        </p:spPr>
        <p:txBody>
          <a:bodyPr wrap="square" lIns="0" tIns="0" rIns="0" bIns="0" rtlCol="0" anchor="ctr"/>
          <a:lstStyle/>
          <a:p>
            <a:pPr marL="0" indent="0">
              <a:buNone/>
            </a:pPr>
            <a:r>
              <a:rPr lang="en-US" sz="1900" b="1" dirty="0">
                <a:solidFill>
                  <a:srgbClr val="12324F"/>
                </a:solidFill>
                <a:latin typeface="Cambria" pitchFamily="34" charset="0"/>
                <a:ea typeface="Cambria" pitchFamily="34" charset="-122"/>
                <a:cs typeface="Cambria" pitchFamily="34" charset="-120"/>
              </a:rPr>
              <a:t>5</a:t>
            </a:r>
            <a:endParaRPr lang="en-US" sz="1900" dirty="0"/>
          </a:p>
        </p:txBody>
      </p:sp>
      <p:sp>
        <p:nvSpPr>
          <p:cNvPr id="45" name="Text 43"/>
          <p:cNvSpPr txBox="1"/>
          <p:nvPr/>
        </p:nvSpPr>
        <p:spPr>
          <a:xfrm>
            <a:off x="9089136" y="4608576"/>
            <a:ext cx="2377440" cy="347472"/>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final model / metod</a:t>
            </a:r>
            <a:endParaRPr lang="en-US" sz="950" dirty="0"/>
          </a:p>
        </p:txBody>
      </p:sp>
      <p:sp>
        <p:nvSpPr>
          <p:cNvPr id="46" name="Shape 44"/>
          <p:cNvSpPr/>
          <p:nvPr/>
        </p:nvSpPr>
        <p:spPr>
          <a:xfrm>
            <a:off x="548640" y="5138928"/>
            <a:ext cx="11091672" cy="786384"/>
          </a:xfrm>
          <a:prstGeom prst="roundRect">
            <a:avLst>
              <a:gd name="adj" fmla="val 8140"/>
            </a:avLst>
          </a:prstGeom>
          <a:solidFill>
            <a:srgbClr val="EAF0F4"/>
          </a:solidFill>
          <a:ln/>
        </p:spPr>
      </p:sp>
      <p:sp>
        <p:nvSpPr>
          <p:cNvPr id="47" name="Text 45"/>
          <p:cNvSpPr txBox="1"/>
          <p:nvPr/>
        </p:nvSpPr>
        <p:spPr>
          <a:xfrm>
            <a:off x="731520" y="5212080"/>
            <a:ext cx="548640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NƏ ETMƏDİK</a:t>
            </a:r>
            <a:endParaRPr lang="en-US" sz="1050" dirty="0"/>
          </a:p>
        </p:txBody>
      </p:sp>
      <p:sp>
        <p:nvSpPr>
          <p:cNvPr id="48" name="Text 46"/>
          <p:cNvSpPr txBox="1"/>
          <p:nvPr/>
        </p:nvSpPr>
        <p:spPr>
          <a:xfrm>
            <a:off x="731520" y="5449824"/>
            <a:ext cx="10698480" cy="420624"/>
          </a:xfrm>
          <a:prstGeom prst="rect">
            <a:avLst/>
          </a:prstGeom>
          <a:noFill/>
          <a:ln/>
        </p:spPr>
        <p:txBody>
          <a:bodyPr wrap="square" lIns="0" tIns="0" rIns="0" bIns="0" rtlCol="0" anchor="ctr"/>
          <a:lstStyle/>
          <a:p>
            <a:pPr marL="0" indent="0">
              <a:buNone/>
            </a:pPr>
            <a:r>
              <a:rPr lang="en-US" sz="1100" dirty="0">
                <a:solidFill>
                  <a:srgbClr val="14202E"/>
                </a:solidFill>
                <a:latin typeface="Calibri" pitchFamily="34" charset="0"/>
                <a:ea typeface="Calibri" pitchFamily="34" charset="-122"/>
                <a:cs typeface="Calibri" pitchFamily="34" charset="-120"/>
              </a:rPr>
              <a:t>Test nəticələrini gördükdən sonra heç bir parametr, protokol və ya statistik qayda dəyişdirilməyib. Model seçimi, pəncərə qaydaları və müqayisə kriteriyaları final test başlamazdan əvvəl dondurulub və lock faylı ilə qeydə alınıb.</a:t>
            </a:r>
            <a:endParaRPr lang="en-US" sz="1100" dirty="0"/>
          </a:p>
        </p:txBody>
      </p:sp>
      <p:sp>
        <p:nvSpPr>
          <p:cNvPr id="49" name="Shape 47"/>
          <p:cNvSpPr/>
          <p:nvPr/>
        </p:nvSpPr>
        <p:spPr>
          <a:xfrm>
            <a:off x="548640" y="6035040"/>
            <a:ext cx="11091672" cy="402336"/>
          </a:xfrm>
          <a:prstGeom prst="roundRect">
            <a:avLst>
              <a:gd name="adj" fmla="val 15909"/>
            </a:avLst>
          </a:prstGeom>
          <a:solidFill>
            <a:srgbClr val="EAF0F4"/>
          </a:solidFill>
          <a:ln/>
        </p:spPr>
      </p:sp>
      <p:sp>
        <p:nvSpPr>
          <p:cNvPr id="50" name="Text 48"/>
          <p:cNvSpPr txBox="1"/>
          <p:nvPr/>
        </p:nvSpPr>
        <p:spPr>
          <a:xfrm>
            <a:off x="713232" y="6053328"/>
            <a:ext cx="10762488" cy="402336"/>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Bu niyə vacibdir?  </a:t>
            </a:r>
            <a:r>
              <a:rPr lang="en-US" sz="1150" dirty="0">
                <a:solidFill>
                  <a:srgbClr val="14202E"/>
                </a:solidFill>
                <a:latin typeface="Calibri" pitchFamily="34" charset="0"/>
                <a:ea typeface="Calibri" pitchFamily="34" charset="-122"/>
                <a:cs typeface="Calibri" pitchFamily="34" charset="-120"/>
              </a:rPr>
              <a:t>Test dəsti yalnız bir dəfə istifadə olunduqda “held-out” adlanır — dəfələrlə baxılan test faktiki olaraq validation-a çevrilir.</a:t>
            </a:r>
            <a:endParaRPr lang="en-US" sz="1150" dirty="0"/>
          </a:p>
        </p:txBody>
      </p:sp>
      <p:sp>
        <p:nvSpPr>
          <p:cNvPr id="51" name="Text 49"/>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52" name="Text 50"/>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configs/evaluation_protocol.json · final_test_manifest.json</a:t>
            </a:r>
            <a:endParaRPr lang="en-US" sz="850" dirty="0"/>
          </a:p>
        </p:txBody>
      </p:sp>
      <p:sp>
        <p:nvSpPr>
          <p:cNvPr id="53" name="Text 51"/>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NLL və Perplexity nəticəni necə ölçür?</a:t>
            </a:r>
            <a:endParaRPr lang="en-US" sz="2500" dirty="0"/>
          </a:p>
        </p:txBody>
      </p:sp>
      <p:sp>
        <p:nvSpPr>
          <p:cNvPr id="4" name="Shape 2"/>
          <p:cNvSpPr/>
          <p:nvPr/>
        </p:nvSpPr>
        <p:spPr>
          <a:xfrm>
            <a:off x="548640" y="1188720"/>
            <a:ext cx="5486400" cy="1737360"/>
          </a:xfrm>
          <a:prstGeom prst="roundRect">
            <a:avLst>
              <a:gd name="adj" fmla="val 3684"/>
            </a:avLst>
          </a:prstGeom>
          <a:solidFill>
            <a:srgbClr val="F4F7F9"/>
          </a:solidFill>
          <a:ln/>
        </p:spPr>
      </p:sp>
      <p:sp>
        <p:nvSpPr>
          <p:cNvPr id="5" name="Text 3"/>
          <p:cNvSpPr txBox="1"/>
          <p:nvPr/>
        </p:nvSpPr>
        <p:spPr>
          <a:xfrm>
            <a:off x="731520" y="1280160"/>
            <a:ext cx="5120640" cy="237744"/>
          </a:xfrm>
          <a:prstGeom prst="rect">
            <a:avLst/>
          </a:prstGeom>
          <a:noFill/>
          <a:ln/>
        </p:spPr>
        <p:txBody>
          <a:bodyPr wrap="square" lIns="0" tIns="0" rIns="0" bIns="0" rtlCol="0" anchor="ctr"/>
          <a:lstStyle/>
          <a:p>
            <a:pPr marL="0" indent="0">
              <a:buNone/>
            </a:pPr>
            <a:r>
              <a:rPr lang="en-US" sz="1100" dirty="0">
                <a:solidFill>
                  <a:srgbClr val="5F7082"/>
                </a:solidFill>
                <a:latin typeface="Calibri" pitchFamily="34" charset="0"/>
                <a:ea typeface="Calibri" pitchFamily="34" charset="-122"/>
                <a:cs typeface="Calibri" pitchFamily="34" charset="-120"/>
              </a:rPr>
              <a:t>Hər hədəf token üçün model bir ehtimal verir:</a:t>
            </a:r>
            <a:endParaRPr lang="en-US" sz="1100" dirty="0"/>
          </a:p>
        </p:txBody>
      </p:sp>
      <p:sp>
        <p:nvSpPr>
          <p:cNvPr id="6" name="Text 4"/>
          <p:cNvSpPr txBox="1"/>
          <p:nvPr/>
        </p:nvSpPr>
        <p:spPr>
          <a:xfrm>
            <a:off x="731520" y="1517904"/>
            <a:ext cx="5120640" cy="310896"/>
          </a:xfrm>
          <a:prstGeom prst="rect">
            <a:avLst/>
          </a:prstGeom>
          <a:noFill/>
          <a:ln/>
        </p:spPr>
        <p:txBody>
          <a:bodyPr wrap="square" lIns="0" tIns="0" rIns="0" bIns="0" rtlCol="0" anchor="ctr"/>
          <a:lstStyle/>
          <a:p>
            <a:pPr marL="0" indent="0">
              <a:buNone/>
            </a:pPr>
            <a:r>
              <a:rPr lang="en-US" sz="1600" b="1" dirty="0">
                <a:solidFill>
                  <a:srgbClr val="0E2438"/>
                </a:solidFill>
                <a:latin typeface="Cambria" pitchFamily="34" charset="0"/>
                <a:ea typeface="Cambria" pitchFamily="34" charset="-122"/>
                <a:cs typeface="Cambria" pitchFamily="34" charset="-120"/>
              </a:rPr>
              <a:t>p ( xₜ | x₍&lt;ₜ₎ )</a:t>
            </a:r>
            <a:endParaRPr lang="en-US" sz="1600" dirty="0"/>
          </a:p>
        </p:txBody>
      </p:sp>
      <p:sp>
        <p:nvSpPr>
          <p:cNvPr id="7" name="Text 5"/>
          <p:cNvSpPr txBox="1"/>
          <p:nvPr/>
        </p:nvSpPr>
        <p:spPr>
          <a:xfrm>
            <a:off x="731520" y="1865376"/>
            <a:ext cx="5120640" cy="457200"/>
          </a:xfrm>
          <a:prstGeom prst="rect">
            <a:avLst/>
          </a:prstGeom>
          <a:noFill/>
          <a:ln/>
        </p:spPr>
        <p:txBody>
          <a:bodyPr wrap="square" lIns="0" tIns="0" rIns="0" bIns="0" rtlCol="0" anchor="ctr"/>
          <a:lstStyle/>
          <a:p>
            <a:pPr marL="0" indent="0">
              <a:buNone/>
            </a:pPr>
            <a:r>
              <a:rPr lang="en-US" sz="1150" dirty="0">
                <a:solidFill>
                  <a:srgbClr val="14202E"/>
                </a:solidFill>
                <a:latin typeface="Calibri" pitchFamily="34" charset="0"/>
                <a:ea typeface="Calibri" pitchFamily="34" charset="-122"/>
                <a:cs typeface="Calibri" pitchFamily="34" charset="-120"/>
              </a:rPr>
              <a:t>NLL  =  − log p        ·        run üçün:   NLL  =  ümumi hədəf loss  /  qiymətləndirilən hədəf sayı</a:t>
            </a:r>
            <a:endParaRPr lang="en-US" sz="1150" dirty="0"/>
          </a:p>
        </p:txBody>
      </p:sp>
      <p:sp>
        <p:nvSpPr>
          <p:cNvPr id="8" name="Text 6"/>
          <p:cNvSpPr txBox="1"/>
          <p:nvPr/>
        </p:nvSpPr>
        <p:spPr>
          <a:xfrm>
            <a:off x="731520" y="2340864"/>
            <a:ext cx="2377440" cy="310896"/>
          </a:xfrm>
          <a:prstGeom prst="rect">
            <a:avLst/>
          </a:prstGeom>
          <a:noFill/>
          <a:ln/>
        </p:spPr>
        <p:txBody>
          <a:bodyPr wrap="square" lIns="0" tIns="0" rIns="0" bIns="0" rtlCol="0" anchor="ctr"/>
          <a:lstStyle/>
          <a:p>
            <a:pPr marL="0" indent="0">
              <a:buNone/>
            </a:pPr>
            <a:r>
              <a:rPr lang="en-US" sz="1600" b="1" dirty="0">
                <a:solidFill>
                  <a:srgbClr val="12324F"/>
                </a:solidFill>
                <a:latin typeface="Cambria" pitchFamily="34" charset="0"/>
                <a:ea typeface="Cambria" pitchFamily="34" charset="-122"/>
                <a:cs typeface="Cambria" pitchFamily="34" charset="-120"/>
              </a:rPr>
              <a:t>PPL  =  exp( NLL )</a:t>
            </a:r>
            <a:endParaRPr lang="en-US" sz="1600" dirty="0"/>
          </a:p>
        </p:txBody>
      </p:sp>
      <p:sp>
        <p:nvSpPr>
          <p:cNvPr id="9" name="Text 7"/>
          <p:cNvSpPr txBox="1"/>
          <p:nvPr/>
        </p:nvSpPr>
        <p:spPr>
          <a:xfrm>
            <a:off x="3200400" y="2377440"/>
            <a:ext cx="2651760" cy="274320"/>
          </a:xfrm>
          <a:prstGeom prst="rect">
            <a:avLst/>
          </a:prstGeom>
          <a:noFill/>
          <a:ln/>
        </p:spPr>
        <p:txBody>
          <a:bodyPr wrap="square" lIns="0" tIns="0" rIns="0" bIns="0" rtlCol="0" anchor="ctr"/>
          <a:lstStyle/>
          <a:p>
            <a:pPr marL="0" indent="0">
              <a:buNone/>
            </a:pPr>
            <a:r>
              <a:rPr lang="en-US" sz="1050" b="1" dirty="0">
                <a:solidFill>
                  <a:srgbClr val="009E73"/>
                </a:solidFill>
                <a:latin typeface="Calibri" pitchFamily="34" charset="0"/>
                <a:ea typeface="Calibri" pitchFamily="34" charset="-122"/>
                <a:cs typeface="Calibri" pitchFamily="34" charset="-120"/>
              </a:rPr>
              <a:t>↓  hər ikisində aşağı dəyər daha yaxşıdır</a:t>
            </a:r>
            <a:endParaRPr lang="en-US" sz="1050" dirty="0"/>
          </a:p>
        </p:txBody>
      </p:sp>
      <p:sp>
        <p:nvSpPr>
          <p:cNvPr id="10" name="Text 8"/>
          <p:cNvSpPr txBox="1"/>
          <p:nvPr/>
        </p:nvSpPr>
        <p:spPr>
          <a:xfrm>
            <a:off x="731520" y="2651760"/>
            <a:ext cx="5120640" cy="274320"/>
          </a:xfrm>
          <a:prstGeom prst="rect">
            <a:avLst/>
          </a:prstGeom>
          <a:noFill/>
          <a:ln/>
        </p:spPr>
        <p:txBody>
          <a:bodyPr wrap="square" lIns="0" tIns="0" rIns="0" bIns="0" rtlCol="0" anchor="ctr"/>
          <a:lstStyle/>
          <a:p>
            <a:pPr marL="0" indent="0">
              <a:buNone/>
            </a:pPr>
            <a:r>
              <a:rPr lang="en-US" sz="1000" i="1" dirty="0">
                <a:solidFill>
                  <a:srgbClr val="5F7082"/>
                </a:solidFill>
                <a:latin typeface="Calibri" pitchFamily="34" charset="0"/>
                <a:ea typeface="Calibri" pitchFamily="34" charset="-122"/>
                <a:cs typeface="Calibri" pitchFamily="34" charset="-120"/>
              </a:rPr>
              <a:t>Perplexity-ni “model növbəti token üçün neçə variant arasında qərarsızdır” kimi oxumaq olar.</a:t>
            </a:r>
            <a:endParaRPr lang="en-US" sz="1000" dirty="0"/>
          </a:p>
        </p:txBody>
      </p:sp>
      <p:pic>
        <p:nvPicPr>
          <p:cNvPr id="11" name="Image 0" descr="/home/claude/assets/fig_nll.png"/>
          <p:cNvPicPr>
            <a:picLocks noChangeAspect="1"/>
          </p:cNvPicPr>
          <p:nvPr/>
        </p:nvPicPr>
        <p:blipFill>
          <a:blip r:embed="rId3"/>
          <a:stretch>
            <a:fillRect/>
          </a:stretch>
        </p:blipFill>
        <p:spPr>
          <a:xfrm>
            <a:off x="548640" y="3017520"/>
            <a:ext cx="5486400" cy="2286000"/>
          </a:xfrm>
          <a:prstGeom prst="rect">
            <a:avLst/>
          </a:prstGeom>
        </p:spPr>
      </p:pic>
      <p:sp>
        <p:nvSpPr>
          <p:cNvPr id="12" name="Text 9"/>
          <p:cNvSpPr txBox="1"/>
          <p:nvPr/>
        </p:nvSpPr>
        <p:spPr>
          <a:xfrm>
            <a:off x="6400800" y="1188720"/>
            <a:ext cx="5239512"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PƏNCƏRƏLƏR: HƏR TOKEN DƏQİQ BİR DƏFƏ SAYILIR</a:t>
            </a:r>
            <a:endParaRPr lang="en-US" sz="1050" dirty="0"/>
          </a:p>
        </p:txBody>
      </p:sp>
      <p:sp>
        <p:nvSpPr>
          <p:cNvPr id="13" name="Text 10"/>
          <p:cNvSpPr txBox="1"/>
          <p:nvPr/>
        </p:nvSpPr>
        <p:spPr>
          <a:xfrm>
            <a:off x="6400800" y="1463040"/>
            <a:ext cx="5239512" cy="256032"/>
          </a:xfrm>
          <a:prstGeom prst="rect">
            <a:avLst/>
          </a:prstGeom>
          <a:noFill/>
          <a:ln/>
        </p:spPr>
        <p:txBody>
          <a:bodyPr wrap="square" lIns="0" tIns="0" rIns="0" bIns="0" rtlCol="0" anchor="ctr"/>
          <a:lstStyle/>
          <a:p>
            <a:pPr marL="0" indent="0">
              <a:buNone/>
            </a:pPr>
            <a:r>
              <a:rPr lang="en-US" sz="1150" b="1" dirty="0">
                <a:solidFill>
                  <a:srgbClr val="0E2438"/>
                </a:solidFill>
                <a:latin typeface="Courier New" pitchFamily="34" charset="0"/>
                <a:ea typeface="Courier New" pitchFamily="34" charset="-122"/>
                <a:cs typeface="Courier New" pitchFamily="34" charset="-120"/>
              </a:rPr>
              <a:t>primary context = 512   ·   stride = 256</a:t>
            </a:r>
            <a:endParaRPr lang="en-US" sz="1150" dirty="0"/>
          </a:p>
        </p:txBody>
      </p:sp>
      <p:sp>
        <p:nvSpPr>
          <p:cNvPr id="14" name="Shape 11"/>
          <p:cNvSpPr/>
          <p:nvPr/>
        </p:nvSpPr>
        <p:spPr>
          <a:xfrm>
            <a:off x="6400800" y="1828800"/>
            <a:ext cx="5029200" cy="310896"/>
          </a:xfrm>
          <a:prstGeom prst="rect">
            <a:avLst/>
          </a:prstGeom>
          <a:solidFill>
            <a:srgbClr val="EAF0F4"/>
          </a:solidFill>
          <a:ln w="15240">
            <a:solidFill>
              <a:srgbClr val="B9C7D3"/>
            </a:solidFill>
            <a:prstDash val="solid"/>
          </a:ln>
        </p:spPr>
      </p:sp>
      <p:sp>
        <p:nvSpPr>
          <p:cNvPr id="15" name="Text 12"/>
          <p:cNvSpPr txBox="1"/>
          <p:nvPr/>
        </p:nvSpPr>
        <p:spPr>
          <a:xfrm>
            <a:off x="6400800" y="1828800"/>
            <a:ext cx="5029200" cy="310896"/>
          </a:xfrm>
          <a:prstGeom prst="rect">
            <a:avLst/>
          </a:prstGeom>
          <a:noFill/>
          <a:ln/>
        </p:spPr>
        <p:txBody>
          <a:bodyPr wrap="square" lIns="0" tIns="0" rIns="0" bIns="0" rtlCol="0" anchor="ctr"/>
          <a:lstStyle/>
          <a:p>
            <a:pPr marL="0" indent="0" algn="ctr">
              <a:buNone/>
            </a:pPr>
            <a:r>
              <a:rPr lang="en-US" sz="950" dirty="0">
                <a:solidFill>
                  <a:srgbClr val="5F7082"/>
                </a:solidFill>
                <a:latin typeface="Calibri" pitchFamily="34" charset="0"/>
                <a:ea typeface="Calibri" pitchFamily="34" charset="-122"/>
                <a:cs typeface="Calibri" pitchFamily="34" charset="-120"/>
              </a:rPr>
              <a:t>sənəd token-ləri  →  sonda bir &lt;eod&gt;</a:t>
            </a:r>
            <a:endParaRPr lang="en-US" sz="950" dirty="0"/>
          </a:p>
        </p:txBody>
      </p:sp>
      <p:sp>
        <p:nvSpPr>
          <p:cNvPr id="16" name="Shape 13"/>
          <p:cNvSpPr/>
          <p:nvPr/>
        </p:nvSpPr>
        <p:spPr>
          <a:xfrm>
            <a:off x="6400800" y="2231136"/>
            <a:ext cx="2514600" cy="274320"/>
          </a:xfrm>
          <a:prstGeom prst="rect">
            <a:avLst/>
          </a:prstGeom>
          <a:solidFill>
            <a:srgbClr val="D6E6F0"/>
          </a:solidFill>
          <a:ln w="15240">
            <a:solidFill>
              <a:srgbClr val="0072B2"/>
            </a:solidFill>
            <a:prstDash val="solid"/>
          </a:ln>
        </p:spPr>
      </p:sp>
      <p:sp>
        <p:nvSpPr>
          <p:cNvPr id="17" name="Text 14"/>
          <p:cNvSpPr txBox="1"/>
          <p:nvPr/>
        </p:nvSpPr>
        <p:spPr>
          <a:xfrm>
            <a:off x="6400800" y="2231136"/>
            <a:ext cx="1188720" cy="274320"/>
          </a:xfrm>
          <a:prstGeom prst="rect">
            <a:avLst/>
          </a:prstGeom>
          <a:noFill/>
          <a:ln/>
        </p:spPr>
        <p:txBody>
          <a:bodyPr wrap="square" lIns="0" tIns="0" rIns="0" bIns="0" rtlCol="0" anchor="ctr"/>
          <a:lstStyle/>
          <a:p>
            <a:pPr marL="0" indent="0" algn="ctr">
              <a:buNone/>
            </a:pPr>
            <a:r>
              <a:rPr lang="en-US" sz="850" dirty="0">
                <a:solidFill>
                  <a:srgbClr val="005B8F"/>
                </a:solidFill>
                <a:latin typeface="Calibri" pitchFamily="34" charset="0"/>
                <a:ea typeface="Calibri" pitchFamily="34" charset="-122"/>
                <a:cs typeface="Calibri" pitchFamily="34" charset="-120"/>
              </a:rPr>
              <a:t>pəncərə 1</a:t>
            </a:r>
            <a:endParaRPr lang="en-US" sz="850" dirty="0"/>
          </a:p>
        </p:txBody>
      </p:sp>
      <p:sp>
        <p:nvSpPr>
          <p:cNvPr id="18" name="Shape 15"/>
          <p:cNvSpPr/>
          <p:nvPr/>
        </p:nvSpPr>
        <p:spPr>
          <a:xfrm>
            <a:off x="7662672" y="2231136"/>
            <a:ext cx="1252728" cy="274320"/>
          </a:xfrm>
          <a:prstGeom prst="rect">
            <a:avLst/>
          </a:prstGeom>
          <a:solidFill>
            <a:srgbClr val="9CCBB8"/>
          </a:solidFill>
          <a:ln/>
        </p:spPr>
      </p:sp>
      <p:sp>
        <p:nvSpPr>
          <p:cNvPr id="19" name="Text 16"/>
          <p:cNvSpPr txBox="1"/>
          <p:nvPr/>
        </p:nvSpPr>
        <p:spPr>
          <a:xfrm>
            <a:off x="7662672" y="2231136"/>
            <a:ext cx="1252728" cy="274320"/>
          </a:xfrm>
          <a:prstGeom prst="rect">
            <a:avLst/>
          </a:prstGeom>
          <a:noFill/>
          <a:ln/>
        </p:spPr>
        <p:txBody>
          <a:bodyPr wrap="square" lIns="0" tIns="0" rIns="0" bIns="0" rtlCol="0" anchor="ctr"/>
          <a:lstStyle/>
          <a:p>
            <a:pPr marL="0" indent="0" algn="ctr">
              <a:buNone/>
            </a:pPr>
            <a:r>
              <a:rPr lang="en-US" sz="800" dirty="0">
                <a:solidFill>
                  <a:srgbClr val="0B4A38"/>
                </a:solidFill>
                <a:latin typeface="Calibri" pitchFamily="34" charset="0"/>
                <a:ea typeface="Calibri" pitchFamily="34" charset="-122"/>
                <a:cs typeface="Calibri" pitchFamily="34" charset="-120"/>
              </a:rPr>
              <a:t>sayılan hədəflər</a:t>
            </a:r>
            <a:endParaRPr lang="en-US" sz="800" dirty="0"/>
          </a:p>
        </p:txBody>
      </p:sp>
      <p:sp>
        <p:nvSpPr>
          <p:cNvPr id="20" name="Shape 17"/>
          <p:cNvSpPr/>
          <p:nvPr/>
        </p:nvSpPr>
        <p:spPr>
          <a:xfrm>
            <a:off x="7662672" y="2615184"/>
            <a:ext cx="2514600" cy="274320"/>
          </a:xfrm>
          <a:prstGeom prst="rect">
            <a:avLst/>
          </a:prstGeom>
          <a:solidFill>
            <a:srgbClr val="D6E6F0"/>
          </a:solidFill>
          <a:ln w="15240">
            <a:solidFill>
              <a:srgbClr val="0072B2"/>
            </a:solidFill>
            <a:prstDash val="solid"/>
          </a:ln>
        </p:spPr>
      </p:sp>
      <p:sp>
        <p:nvSpPr>
          <p:cNvPr id="21" name="Text 18"/>
          <p:cNvSpPr txBox="1"/>
          <p:nvPr/>
        </p:nvSpPr>
        <p:spPr>
          <a:xfrm>
            <a:off x="7662672" y="2615184"/>
            <a:ext cx="1188720" cy="274320"/>
          </a:xfrm>
          <a:prstGeom prst="rect">
            <a:avLst/>
          </a:prstGeom>
          <a:noFill/>
          <a:ln/>
        </p:spPr>
        <p:txBody>
          <a:bodyPr wrap="square" lIns="0" tIns="0" rIns="0" bIns="0" rtlCol="0" anchor="ctr"/>
          <a:lstStyle/>
          <a:p>
            <a:pPr marL="0" indent="0" algn="ctr">
              <a:buNone/>
            </a:pPr>
            <a:r>
              <a:rPr lang="en-US" sz="850" dirty="0">
                <a:solidFill>
                  <a:srgbClr val="005B8F"/>
                </a:solidFill>
                <a:latin typeface="Calibri" pitchFamily="34" charset="0"/>
                <a:ea typeface="Calibri" pitchFamily="34" charset="-122"/>
                <a:cs typeface="Calibri" pitchFamily="34" charset="-120"/>
              </a:rPr>
              <a:t>pəncərə 2</a:t>
            </a:r>
            <a:endParaRPr lang="en-US" sz="850" dirty="0"/>
          </a:p>
        </p:txBody>
      </p:sp>
      <p:sp>
        <p:nvSpPr>
          <p:cNvPr id="22" name="Shape 19"/>
          <p:cNvSpPr/>
          <p:nvPr/>
        </p:nvSpPr>
        <p:spPr>
          <a:xfrm>
            <a:off x="8924544" y="2615184"/>
            <a:ext cx="1252728" cy="274320"/>
          </a:xfrm>
          <a:prstGeom prst="rect">
            <a:avLst/>
          </a:prstGeom>
          <a:solidFill>
            <a:srgbClr val="9CCBB8"/>
          </a:solidFill>
          <a:ln/>
        </p:spPr>
      </p:sp>
      <p:sp>
        <p:nvSpPr>
          <p:cNvPr id="23" name="Text 20"/>
          <p:cNvSpPr txBox="1"/>
          <p:nvPr/>
        </p:nvSpPr>
        <p:spPr>
          <a:xfrm>
            <a:off x="8924544" y="2615184"/>
            <a:ext cx="1252728" cy="274320"/>
          </a:xfrm>
          <a:prstGeom prst="rect">
            <a:avLst/>
          </a:prstGeom>
          <a:noFill/>
          <a:ln/>
        </p:spPr>
        <p:txBody>
          <a:bodyPr wrap="square" lIns="0" tIns="0" rIns="0" bIns="0" rtlCol="0" anchor="ctr"/>
          <a:lstStyle/>
          <a:p>
            <a:pPr marL="0" indent="0" algn="ctr">
              <a:buNone/>
            </a:pPr>
            <a:r>
              <a:rPr lang="en-US" sz="800" dirty="0">
                <a:solidFill>
                  <a:srgbClr val="0B4A38"/>
                </a:solidFill>
                <a:latin typeface="Calibri" pitchFamily="34" charset="0"/>
                <a:ea typeface="Calibri" pitchFamily="34" charset="-122"/>
                <a:cs typeface="Calibri" pitchFamily="34" charset="-120"/>
              </a:rPr>
              <a:t>sayılan hədəflər</a:t>
            </a:r>
            <a:endParaRPr lang="en-US" sz="800" dirty="0"/>
          </a:p>
        </p:txBody>
      </p:sp>
      <p:sp>
        <p:nvSpPr>
          <p:cNvPr id="24" name="Shape 21"/>
          <p:cNvSpPr/>
          <p:nvPr/>
        </p:nvSpPr>
        <p:spPr>
          <a:xfrm>
            <a:off x="8924544" y="2999232"/>
            <a:ext cx="2514600" cy="274320"/>
          </a:xfrm>
          <a:prstGeom prst="rect">
            <a:avLst/>
          </a:prstGeom>
          <a:solidFill>
            <a:srgbClr val="D6E6F0"/>
          </a:solidFill>
          <a:ln w="15240">
            <a:solidFill>
              <a:srgbClr val="0072B2"/>
            </a:solidFill>
            <a:prstDash val="solid"/>
          </a:ln>
        </p:spPr>
      </p:sp>
      <p:sp>
        <p:nvSpPr>
          <p:cNvPr id="25" name="Text 22"/>
          <p:cNvSpPr txBox="1"/>
          <p:nvPr/>
        </p:nvSpPr>
        <p:spPr>
          <a:xfrm>
            <a:off x="8924544" y="2999232"/>
            <a:ext cx="1188720" cy="274320"/>
          </a:xfrm>
          <a:prstGeom prst="rect">
            <a:avLst/>
          </a:prstGeom>
          <a:noFill/>
          <a:ln/>
        </p:spPr>
        <p:txBody>
          <a:bodyPr wrap="square" lIns="0" tIns="0" rIns="0" bIns="0" rtlCol="0" anchor="ctr"/>
          <a:lstStyle/>
          <a:p>
            <a:pPr marL="0" indent="0" algn="ctr">
              <a:buNone/>
            </a:pPr>
            <a:r>
              <a:rPr lang="en-US" sz="850" dirty="0">
                <a:solidFill>
                  <a:srgbClr val="005B8F"/>
                </a:solidFill>
                <a:latin typeface="Calibri" pitchFamily="34" charset="0"/>
                <a:ea typeface="Calibri" pitchFamily="34" charset="-122"/>
                <a:cs typeface="Calibri" pitchFamily="34" charset="-120"/>
              </a:rPr>
              <a:t>pəncərə 3</a:t>
            </a:r>
            <a:endParaRPr lang="en-US" sz="850" dirty="0"/>
          </a:p>
        </p:txBody>
      </p:sp>
      <p:sp>
        <p:nvSpPr>
          <p:cNvPr id="26" name="Shape 23"/>
          <p:cNvSpPr/>
          <p:nvPr/>
        </p:nvSpPr>
        <p:spPr>
          <a:xfrm>
            <a:off x="10186416" y="2999232"/>
            <a:ext cx="1252728" cy="274320"/>
          </a:xfrm>
          <a:prstGeom prst="rect">
            <a:avLst/>
          </a:prstGeom>
          <a:solidFill>
            <a:srgbClr val="9CCBB8"/>
          </a:solidFill>
          <a:ln/>
        </p:spPr>
      </p:sp>
      <p:sp>
        <p:nvSpPr>
          <p:cNvPr id="27" name="Text 24"/>
          <p:cNvSpPr txBox="1"/>
          <p:nvPr/>
        </p:nvSpPr>
        <p:spPr>
          <a:xfrm>
            <a:off x="10186416" y="2999232"/>
            <a:ext cx="1252728" cy="274320"/>
          </a:xfrm>
          <a:prstGeom prst="rect">
            <a:avLst/>
          </a:prstGeom>
          <a:noFill/>
          <a:ln/>
        </p:spPr>
        <p:txBody>
          <a:bodyPr wrap="square" lIns="0" tIns="0" rIns="0" bIns="0" rtlCol="0" anchor="ctr"/>
          <a:lstStyle/>
          <a:p>
            <a:pPr marL="0" indent="0" algn="ctr">
              <a:buNone/>
            </a:pPr>
            <a:r>
              <a:rPr lang="en-US" sz="800" dirty="0">
                <a:solidFill>
                  <a:srgbClr val="0B4A38"/>
                </a:solidFill>
                <a:latin typeface="Calibri" pitchFamily="34" charset="0"/>
                <a:ea typeface="Calibri" pitchFamily="34" charset="-122"/>
                <a:cs typeface="Calibri" pitchFamily="34" charset="-120"/>
              </a:rPr>
              <a:t>sayılan hədəflər</a:t>
            </a:r>
            <a:endParaRPr lang="en-US" sz="800" dirty="0"/>
          </a:p>
        </p:txBody>
      </p:sp>
      <p:sp>
        <p:nvSpPr>
          <p:cNvPr id="28" name="Text 25"/>
          <p:cNvSpPr txBox="1"/>
          <p:nvPr/>
        </p:nvSpPr>
        <p:spPr>
          <a:xfrm>
            <a:off x="6400800" y="3383280"/>
            <a:ext cx="5239512" cy="56692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Pəncərələr 256 addımla sürüşür: hər yeni pəncərənin yalnız ikinci yarısı sayılır. Beləliklə ilk tokendən sonrakı hər token — &lt;eod&gt; daxil olmaqla — dəqiq bir dəfə qiymətləndirilir.</a:t>
            </a:r>
            <a:endParaRPr lang="en-US" sz="1050" dirty="0"/>
          </a:p>
        </p:txBody>
      </p:sp>
      <p:sp>
        <p:nvSpPr>
          <p:cNvPr id="29" name="Shape 26"/>
          <p:cNvSpPr/>
          <p:nvPr/>
        </p:nvSpPr>
        <p:spPr>
          <a:xfrm>
            <a:off x="6400800" y="4041648"/>
            <a:ext cx="5239512" cy="1261872"/>
          </a:xfrm>
          <a:prstGeom prst="roundRect">
            <a:avLst>
              <a:gd name="adj" fmla="val 5072"/>
            </a:avLst>
          </a:prstGeom>
          <a:solidFill>
            <a:srgbClr val="EAF0F4"/>
          </a:solidFill>
          <a:ln/>
        </p:spPr>
      </p:sp>
      <p:sp>
        <p:nvSpPr>
          <p:cNvPr id="30" name="Text 27"/>
          <p:cNvSpPr txBox="1"/>
          <p:nvPr/>
        </p:nvSpPr>
        <p:spPr>
          <a:xfrm>
            <a:off x="6565392" y="4151376"/>
            <a:ext cx="493776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NİYƏ SÜRÜŞƏN PƏNCƏRƏ?</a:t>
            </a:r>
            <a:endParaRPr lang="en-US" sz="1050" dirty="0"/>
          </a:p>
        </p:txBody>
      </p:sp>
      <p:sp>
        <p:nvSpPr>
          <p:cNvPr id="31" name="Text 28"/>
          <p:cNvSpPr txBox="1"/>
          <p:nvPr/>
        </p:nvSpPr>
        <p:spPr>
          <a:xfrm>
            <a:off x="6565392" y="4407408"/>
            <a:ext cx="4937760" cy="822960"/>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Sənədi sadəcə 512-lik bloklara bölsək, hər bloğun ilk tokenləri demək olar kontekstsiz qiymətləndirilər və nəticə süni şəkildə pisləşər. Sürüşən pəncərə hər hədəfə mümkün qədər çox kontekst verir — və bu qayda beş metodun hamısı üçün eynidir.</a:t>
            </a:r>
            <a:endParaRPr lang="en-US" sz="1050" dirty="0"/>
          </a:p>
        </p:txBody>
      </p:sp>
      <p:sp>
        <p:nvSpPr>
          <p:cNvPr id="32" name="Shape 29"/>
          <p:cNvSpPr/>
          <p:nvPr/>
        </p:nvSpPr>
        <p:spPr>
          <a:xfrm>
            <a:off x="548640" y="5468112"/>
            <a:ext cx="11091672" cy="457200"/>
          </a:xfrm>
          <a:prstGeom prst="roundRect">
            <a:avLst>
              <a:gd name="adj" fmla="val 14000"/>
            </a:avLst>
          </a:prstGeom>
          <a:solidFill>
            <a:srgbClr val="EAF0F4"/>
          </a:solidFill>
          <a:ln/>
        </p:spPr>
      </p:sp>
      <p:sp>
        <p:nvSpPr>
          <p:cNvPr id="33" name="Text 30"/>
          <p:cNvSpPr txBox="1"/>
          <p:nvPr/>
        </p:nvSpPr>
        <p:spPr>
          <a:xfrm>
            <a:off x="713232" y="5486400"/>
            <a:ext cx="10762488" cy="45720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Əsas fikir:  </a:t>
            </a:r>
            <a:r>
              <a:rPr lang="en-US" sz="1200" dirty="0">
                <a:solidFill>
                  <a:srgbClr val="14202E"/>
                </a:solidFill>
                <a:latin typeface="Calibri" pitchFamily="34" charset="0"/>
                <a:ea typeface="Calibri" pitchFamily="34" charset="-122"/>
                <a:cs typeface="Calibri" pitchFamily="34" charset="-120"/>
              </a:rPr>
              <a:t>NLL modelin düzgün tokenə nə qədər ehtimal verdiyini ölçür; PPL isə eyni ədədi daha intuitiv miqyasda göstərir. Ölçmə qaydası bütün metodlar üçün eynidir.</a:t>
            </a:r>
            <a:endParaRPr lang="en-US" sz="1200" dirty="0"/>
          </a:p>
        </p:txBody>
      </p:sp>
      <p:sp>
        <p:nvSpPr>
          <p:cNvPr id="34" name="Text 31"/>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35" name="Text 32"/>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configs/evaluation_protocol.json · src/evaluation/metrics.py</a:t>
            </a:r>
            <a:endParaRPr lang="en-US" sz="850" dirty="0"/>
          </a:p>
        </p:txBody>
      </p:sp>
      <p:sp>
        <p:nvSpPr>
          <p:cNvPr id="36" name="Text 33"/>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04  /  REPRODUCIBILITY</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Bir orta kifayət deyil: statistik sübut necə quruldu?</a:t>
            </a:r>
            <a:endParaRPr lang="en-US" sz="2500" dirty="0"/>
          </a:p>
        </p:txBody>
      </p:sp>
      <p:sp>
        <p:nvSpPr>
          <p:cNvPr id="4" name="Shape 2"/>
          <p:cNvSpPr/>
          <p:nvPr/>
        </p:nvSpPr>
        <p:spPr>
          <a:xfrm>
            <a:off x="548640" y="1207008"/>
            <a:ext cx="3520440" cy="566928"/>
          </a:xfrm>
          <a:prstGeom prst="rect">
            <a:avLst/>
          </a:prstGeom>
          <a:solidFill>
            <a:srgbClr val="F4F7F9"/>
          </a:solidFill>
          <a:ln w="12700">
            <a:solidFill>
              <a:srgbClr val="E3E9EF"/>
            </a:solidFill>
            <a:prstDash val="solid"/>
          </a:ln>
        </p:spPr>
      </p:sp>
      <p:sp>
        <p:nvSpPr>
          <p:cNvPr id="5" name="Text 3"/>
          <p:cNvSpPr txBox="1"/>
          <p:nvPr/>
        </p:nvSpPr>
        <p:spPr>
          <a:xfrm>
            <a:off x="694944" y="1261872"/>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5</a:t>
            </a:r>
            <a:endParaRPr lang="en-US" sz="1500" dirty="0"/>
          </a:p>
        </p:txBody>
      </p:sp>
      <p:sp>
        <p:nvSpPr>
          <p:cNvPr id="6" name="Text 4"/>
          <p:cNvSpPr txBox="1"/>
          <p:nvPr/>
        </p:nvSpPr>
        <p:spPr>
          <a:xfrm>
            <a:off x="2331720" y="1207008"/>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öyrədilmiş seed</a:t>
            </a:r>
            <a:endParaRPr lang="en-US" sz="950" dirty="0"/>
          </a:p>
        </p:txBody>
      </p:sp>
      <p:sp>
        <p:nvSpPr>
          <p:cNvPr id="7" name="Shape 5"/>
          <p:cNvSpPr/>
          <p:nvPr/>
        </p:nvSpPr>
        <p:spPr>
          <a:xfrm>
            <a:off x="4261104" y="1207008"/>
            <a:ext cx="3520440" cy="566928"/>
          </a:xfrm>
          <a:prstGeom prst="rect">
            <a:avLst/>
          </a:prstGeom>
          <a:solidFill>
            <a:srgbClr val="FFFFFF"/>
          </a:solidFill>
          <a:ln w="12700">
            <a:solidFill>
              <a:srgbClr val="E3E9EF"/>
            </a:solidFill>
            <a:prstDash val="solid"/>
          </a:ln>
        </p:spPr>
      </p:sp>
      <p:sp>
        <p:nvSpPr>
          <p:cNvPr id="8" name="Text 6"/>
          <p:cNvSpPr txBox="1"/>
          <p:nvPr/>
        </p:nvSpPr>
        <p:spPr>
          <a:xfrm>
            <a:off x="4407408" y="1261872"/>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309 369</a:t>
            </a:r>
            <a:endParaRPr lang="en-US" sz="1500" dirty="0"/>
          </a:p>
        </p:txBody>
      </p:sp>
      <p:sp>
        <p:nvSpPr>
          <p:cNvPr id="9" name="Text 7"/>
          <p:cNvSpPr txBox="1"/>
          <p:nvPr/>
        </p:nvSpPr>
        <p:spPr>
          <a:xfrm>
            <a:off x="6044184" y="1207008"/>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cütləşdirilmiş test sənədi</a:t>
            </a:r>
            <a:endParaRPr lang="en-US" sz="950" dirty="0"/>
          </a:p>
        </p:txBody>
      </p:sp>
      <p:sp>
        <p:nvSpPr>
          <p:cNvPr id="10" name="Shape 8"/>
          <p:cNvSpPr/>
          <p:nvPr/>
        </p:nvSpPr>
        <p:spPr>
          <a:xfrm>
            <a:off x="7973568" y="1207008"/>
            <a:ext cx="3520440" cy="566928"/>
          </a:xfrm>
          <a:prstGeom prst="rect">
            <a:avLst/>
          </a:prstGeom>
          <a:solidFill>
            <a:srgbClr val="F4F7F9"/>
          </a:solidFill>
          <a:ln w="12700">
            <a:solidFill>
              <a:srgbClr val="E3E9EF"/>
            </a:solidFill>
            <a:prstDash val="solid"/>
          </a:ln>
        </p:spPr>
      </p:sp>
      <p:sp>
        <p:nvSpPr>
          <p:cNvPr id="11" name="Text 9"/>
          <p:cNvSpPr txBox="1"/>
          <p:nvPr/>
        </p:nvSpPr>
        <p:spPr>
          <a:xfrm>
            <a:off x="8119872" y="1261872"/>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sənəd səviyyəsində</a:t>
            </a:r>
            <a:endParaRPr lang="en-US" sz="1500" dirty="0"/>
          </a:p>
        </p:txBody>
      </p:sp>
      <p:sp>
        <p:nvSpPr>
          <p:cNvPr id="12" name="Text 10"/>
          <p:cNvSpPr txBox="1"/>
          <p:nvPr/>
        </p:nvSpPr>
        <p:spPr>
          <a:xfrm>
            <a:off x="9756648" y="1207008"/>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loss cəmi + token sayı</a:t>
            </a:r>
            <a:endParaRPr lang="en-US" sz="950" dirty="0"/>
          </a:p>
        </p:txBody>
      </p:sp>
      <p:sp>
        <p:nvSpPr>
          <p:cNvPr id="13" name="Shape 11"/>
          <p:cNvSpPr/>
          <p:nvPr/>
        </p:nvSpPr>
        <p:spPr>
          <a:xfrm>
            <a:off x="548640" y="1865376"/>
            <a:ext cx="3520440" cy="566928"/>
          </a:xfrm>
          <a:prstGeom prst="rect">
            <a:avLst/>
          </a:prstGeom>
          <a:solidFill>
            <a:srgbClr val="FFFFFF"/>
          </a:solidFill>
          <a:ln w="12700">
            <a:solidFill>
              <a:srgbClr val="E3E9EF"/>
            </a:solidFill>
            <a:prstDash val="solid"/>
          </a:ln>
        </p:spPr>
      </p:sp>
      <p:sp>
        <p:nvSpPr>
          <p:cNvPr id="14" name="Text 12"/>
          <p:cNvSpPr txBox="1"/>
          <p:nvPr/>
        </p:nvSpPr>
        <p:spPr>
          <a:xfrm>
            <a:off x="694944" y="1920240"/>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10 000</a:t>
            </a:r>
            <a:endParaRPr lang="en-US" sz="1500" dirty="0"/>
          </a:p>
        </p:txBody>
      </p:sp>
      <p:sp>
        <p:nvSpPr>
          <p:cNvPr id="15" name="Text 13"/>
          <p:cNvSpPr txBox="1"/>
          <p:nvPr/>
        </p:nvSpPr>
        <p:spPr>
          <a:xfrm>
            <a:off x="2331720" y="1865376"/>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paylaşılan bootstrap resample</a:t>
            </a:r>
            <a:endParaRPr lang="en-US" sz="950" dirty="0"/>
          </a:p>
        </p:txBody>
      </p:sp>
      <p:sp>
        <p:nvSpPr>
          <p:cNvPr id="16" name="Shape 14"/>
          <p:cNvSpPr/>
          <p:nvPr/>
        </p:nvSpPr>
        <p:spPr>
          <a:xfrm>
            <a:off x="4261104" y="1865376"/>
            <a:ext cx="3520440" cy="566928"/>
          </a:xfrm>
          <a:prstGeom prst="rect">
            <a:avLst/>
          </a:prstGeom>
          <a:solidFill>
            <a:srgbClr val="F4F7F9"/>
          </a:solidFill>
          <a:ln w="12700">
            <a:solidFill>
              <a:srgbClr val="E3E9EF"/>
            </a:solidFill>
            <a:prstDash val="solid"/>
          </a:ln>
        </p:spPr>
      </p:sp>
      <p:sp>
        <p:nvSpPr>
          <p:cNvPr id="17" name="Text 15"/>
          <p:cNvSpPr txBox="1"/>
          <p:nvPr/>
        </p:nvSpPr>
        <p:spPr>
          <a:xfrm>
            <a:off x="4407408" y="1920240"/>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95%</a:t>
            </a:r>
            <a:endParaRPr lang="en-US" sz="1500" dirty="0"/>
          </a:p>
        </p:txBody>
      </p:sp>
      <p:sp>
        <p:nvSpPr>
          <p:cNvPr id="18" name="Text 16"/>
          <p:cNvSpPr txBox="1"/>
          <p:nvPr/>
        </p:nvSpPr>
        <p:spPr>
          <a:xfrm>
            <a:off x="6044184" y="1865376"/>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conditional CI</a:t>
            </a:r>
            <a:endParaRPr lang="en-US" sz="950" dirty="0"/>
          </a:p>
        </p:txBody>
      </p:sp>
      <p:sp>
        <p:nvSpPr>
          <p:cNvPr id="19" name="Shape 17"/>
          <p:cNvSpPr/>
          <p:nvPr/>
        </p:nvSpPr>
        <p:spPr>
          <a:xfrm>
            <a:off x="7973568" y="1865376"/>
            <a:ext cx="3520440" cy="566928"/>
          </a:xfrm>
          <a:prstGeom prst="rect">
            <a:avLst/>
          </a:prstGeom>
          <a:solidFill>
            <a:srgbClr val="FFFFFF"/>
          </a:solidFill>
          <a:ln w="12700">
            <a:solidFill>
              <a:srgbClr val="E3E9EF"/>
            </a:solidFill>
            <a:prstDash val="solid"/>
          </a:ln>
        </p:spPr>
      </p:sp>
      <p:sp>
        <p:nvSpPr>
          <p:cNvPr id="20" name="Text 18"/>
          <p:cNvSpPr txBox="1"/>
          <p:nvPr/>
        </p:nvSpPr>
        <p:spPr>
          <a:xfrm>
            <a:off x="8119872" y="1920240"/>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10</a:t>
            </a:r>
            <a:endParaRPr lang="en-US" sz="1500" dirty="0"/>
          </a:p>
        </p:txBody>
      </p:sp>
      <p:sp>
        <p:nvSpPr>
          <p:cNvPr id="21" name="Text 19"/>
          <p:cNvSpPr txBox="1"/>
          <p:nvPr/>
        </p:nvSpPr>
        <p:spPr>
          <a:xfrm>
            <a:off x="9756648" y="1865376"/>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cüt-cüt müqayisə</a:t>
            </a:r>
            <a:endParaRPr lang="en-US" sz="950" dirty="0"/>
          </a:p>
        </p:txBody>
      </p:sp>
      <p:sp>
        <p:nvSpPr>
          <p:cNvPr id="22" name="Shape 20"/>
          <p:cNvSpPr/>
          <p:nvPr/>
        </p:nvSpPr>
        <p:spPr>
          <a:xfrm>
            <a:off x="548640" y="2523744"/>
            <a:ext cx="3520440" cy="566928"/>
          </a:xfrm>
          <a:prstGeom prst="rect">
            <a:avLst/>
          </a:prstGeom>
          <a:solidFill>
            <a:srgbClr val="F4F7F9"/>
          </a:solidFill>
          <a:ln w="12700">
            <a:solidFill>
              <a:srgbClr val="E3E9EF"/>
            </a:solidFill>
            <a:prstDash val="solid"/>
          </a:ln>
        </p:spPr>
      </p:sp>
      <p:sp>
        <p:nvSpPr>
          <p:cNvPr id="23" name="Text 21"/>
          <p:cNvSpPr txBox="1"/>
          <p:nvPr/>
        </p:nvSpPr>
        <p:spPr>
          <a:xfrm>
            <a:off x="694944" y="2578608"/>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Holm</a:t>
            </a:r>
            <a:endParaRPr lang="en-US" sz="1500" dirty="0"/>
          </a:p>
        </p:txBody>
      </p:sp>
      <p:sp>
        <p:nvSpPr>
          <p:cNvPr id="24" name="Text 22"/>
          <p:cNvSpPr txBox="1"/>
          <p:nvPr/>
        </p:nvSpPr>
        <p:spPr>
          <a:xfrm>
            <a:off x="2331720" y="2523744"/>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çoxlu müqayisə düzəlişi</a:t>
            </a:r>
            <a:endParaRPr lang="en-US" sz="950" dirty="0"/>
          </a:p>
        </p:txBody>
      </p:sp>
      <p:sp>
        <p:nvSpPr>
          <p:cNvPr id="25" name="Shape 23"/>
          <p:cNvSpPr/>
          <p:nvPr/>
        </p:nvSpPr>
        <p:spPr>
          <a:xfrm>
            <a:off x="4261104" y="2523744"/>
            <a:ext cx="3520440" cy="566928"/>
          </a:xfrm>
          <a:prstGeom prst="rect">
            <a:avLst/>
          </a:prstGeom>
          <a:solidFill>
            <a:srgbClr val="FFFFFF"/>
          </a:solidFill>
          <a:ln w="12700">
            <a:solidFill>
              <a:srgbClr val="E3E9EF"/>
            </a:solidFill>
            <a:prstDash val="solid"/>
          </a:ln>
        </p:spPr>
      </p:sp>
      <p:sp>
        <p:nvSpPr>
          <p:cNvPr id="26" name="Text 24"/>
          <p:cNvSpPr txBox="1"/>
          <p:nvPr/>
        </p:nvSpPr>
        <p:spPr>
          <a:xfrm>
            <a:off x="4407408" y="2578608"/>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 4/5</a:t>
            </a:r>
            <a:endParaRPr lang="en-US" sz="1500" dirty="0"/>
          </a:p>
        </p:txBody>
      </p:sp>
      <p:sp>
        <p:nvSpPr>
          <p:cNvPr id="27" name="Text 25"/>
          <p:cNvSpPr txBox="1"/>
          <p:nvPr/>
        </p:nvSpPr>
        <p:spPr>
          <a:xfrm>
            <a:off x="6044184" y="2523744"/>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seed istiqamət uyğunluğu</a:t>
            </a:r>
            <a:endParaRPr lang="en-US" sz="950" dirty="0"/>
          </a:p>
        </p:txBody>
      </p:sp>
      <p:sp>
        <p:nvSpPr>
          <p:cNvPr id="28" name="Shape 26"/>
          <p:cNvSpPr/>
          <p:nvPr/>
        </p:nvSpPr>
        <p:spPr>
          <a:xfrm>
            <a:off x="7973568" y="2523744"/>
            <a:ext cx="3520440" cy="566928"/>
          </a:xfrm>
          <a:prstGeom prst="rect">
            <a:avLst/>
          </a:prstGeom>
          <a:solidFill>
            <a:srgbClr val="F4F7F9"/>
          </a:solidFill>
          <a:ln w="12700">
            <a:solidFill>
              <a:srgbClr val="E3E9EF"/>
            </a:solidFill>
            <a:prstDash val="solid"/>
          </a:ln>
        </p:spPr>
      </p:sp>
      <p:sp>
        <p:nvSpPr>
          <p:cNvPr id="29" name="Text 27"/>
          <p:cNvSpPr txBox="1"/>
          <p:nvPr/>
        </p:nvSpPr>
        <p:spPr>
          <a:xfrm>
            <a:off x="8119872" y="2578608"/>
            <a:ext cx="1600200" cy="457200"/>
          </a:xfrm>
          <a:prstGeom prst="rect">
            <a:avLst/>
          </a:prstGeom>
          <a:noFill/>
          <a:ln/>
        </p:spPr>
        <p:txBody>
          <a:bodyPr wrap="square" lIns="0" tIns="0" rIns="0" bIns="0" rtlCol="0" anchor="ctr"/>
          <a:lstStyle/>
          <a:p>
            <a:pPr marL="0" indent="0">
              <a:buNone/>
            </a:pPr>
            <a:r>
              <a:rPr lang="en-US" sz="1500" b="1" dirty="0">
                <a:solidFill>
                  <a:srgbClr val="12324F"/>
                </a:solidFill>
                <a:latin typeface="Cambria" pitchFamily="34" charset="0"/>
                <a:ea typeface="Cambria" pitchFamily="34" charset="-122"/>
                <a:cs typeface="Cambria" pitchFamily="34" charset="-120"/>
              </a:rPr>
              <a:t>|ΔNLL| ≥ 0.01</a:t>
            </a:r>
            <a:endParaRPr lang="en-US" sz="1500" dirty="0"/>
          </a:p>
        </p:txBody>
      </p:sp>
      <p:sp>
        <p:nvSpPr>
          <p:cNvPr id="30" name="Text 28"/>
          <p:cNvSpPr txBox="1"/>
          <p:nvPr/>
        </p:nvSpPr>
        <p:spPr>
          <a:xfrm>
            <a:off x="9756648" y="2523744"/>
            <a:ext cx="1645920" cy="566928"/>
          </a:xfrm>
          <a:prstGeom prst="rect">
            <a:avLst/>
          </a:prstGeom>
          <a:noFill/>
          <a:ln/>
        </p:spPr>
        <p:txBody>
          <a:bodyPr wrap="square" lIns="0" tIns="0" rIns="0" bIns="0" rtlCol="0" anchor="ctr"/>
          <a:lstStyle/>
          <a:p>
            <a:pPr marL="0" indent="0">
              <a:buNone/>
            </a:pPr>
            <a:r>
              <a:rPr lang="en-US" sz="950" dirty="0">
                <a:solidFill>
                  <a:srgbClr val="5F7082"/>
                </a:solidFill>
                <a:latin typeface="Calibri" pitchFamily="34" charset="0"/>
                <a:ea typeface="Calibri" pitchFamily="34" charset="-122"/>
                <a:cs typeface="Calibri" pitchFamily="34" charset="-120"/>
              </a:rPr>
              <a:t>praktiki effekt qaydası</a:t>
            </a:r>
            <a:endParaRPr lang="en-US" sz="950" dirty="0"/>
          </a:p>
        </p:txBody>
      </p:sp>
      <p:sp>
        <p:nvSpPr>
          <p:cNvPr id="31" name="Text 29"/>
          <p:cNvSpPr txBox="1"/>
          <p:nvPr/>
        </p:nvSpPr>
        <p:spPr>
          <a:xfrm>
            <a:off x="548640" y="3255264"/>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CÜTLƏŞDİRİLMİŞ BOOTSTRAP NECƏ İŞLƏYİR?</a:t>
            </a:r>
            <a:endParaRPr lang="en-US" sz="1050" dirty="0"/>
          </a:p>
        </p:txBody>
      </p:sp>
      <p:sp>
        <p:nvSpPr>
          <p:cNvPr id="32" name="Shape 30"/>
          <p:cNvSpPr/>
          <p:nvPr/>
        </p:nvSpPr>
        <p:spPr>
          <a:xfrm>
            <a:off x="548640" y="3529584"/>
            <a:ext cx="5394960" cy="347472"/>
          </a:xfrm>
          <a:prstGeom prst="rect">
            <a:avLst/>
          </a:prstGeom>
          <a:solidFill>
            <a:srgbClr val="F4F7F9"/>
          </a:solidFill>
          <a:ln/>
        </p:spPr>
      </p:sp>
      <p:sp>
        <p:nvSpPr>
          <p:cNvPr id="33" name="Text 31"/>
          <p:cNvSpPr txBox="1"/>
          <p:nvPr/>
        </p:nvSpPr>
        <p:spPr>
          <a:xfrm>
            <a:off x="694944" y="3529584"/>
            <a:ext cx="5120640" cy="34747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1.  orijinal 309 369 sənəd</a:t>
            </a:r>
            <a:endParaRPr lang="en-US" sz="1050" dirty="0"/>
          </a:p>
        </p:txBody>
      </p:sp>
      <p:sp>
        <p:nvSpPr>
          <p:cNvPr id="34" name="Shape 32"/>
          <p:cNvSpPr/>
          <p:nvPr/>
        </p:nvSpPr>
        <p:spPr>
          <a:xfrm>
            <a:off x="548640" y="3931920"/>
            <a:ext cx="5394960" cy="347472"/>
          </a:xfrm>
          <a:prstGeom prst="rect">
            <a:avLst/>
          </a:prstGeom>
          <a:solidFill>
            <a:srgbClr val="F4F7F9"/>
          </a:solidFill>
          <a:ln/>
        </p:spPr>
      </p:sp>
      <p:sp>
        <p:nvSpPr>
          <p:cNvPr id="35" name="Text 33"/>
          <p:cNvSpPr txBox="1"/>
          <p:nvPr/>
        </p:nvSpPr>
        <p:spPr>
          <a:xfrm>
            <a:off x="694944" y="3931920"/>
            <a:ext cx="5120640" cy="34747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2.  təsadüfi sənəd indeksləri seçilir</a:t>
            </a:r>
            <a:endParaRPr lang="en-US" sz="1050" dirty="0"/>
          </a:p>
        </p:txBody>
      </p:sp>
      <p:sp>
        <p:nvSpPr>
          <p:cNvPr id="36" name="Shape 34"/>
          <p:cNvSpPr/>
          <p:nvPr/>
        </p:nvSpPr>
        <p:spPr>
          <a:xfrm>
            <a:off x="548640" y="4334256"/>
            <a:ext cx="5394960" cy="347472"/>
          </a:xfrm>
          <a:prstGeom prst="rect">
            <a:avLst/>
          </a:prstGeom>
          <a:solidFill>
            <a:srgbClr val="E6F5EF"/>
          </a:solidFill>
          <a:ln w="15240">
            <a:solidFill>
              <a:srgbClr val="009E73"/>
            </a:solidFill>
            <a:prstDash val="solid"/>
          </a:ln>
        </p:spPr>
      </p:sp>
      <p:sp>
        <p:nvSpPr>
          <p:cNvPr id="37" name="Text 35"/>
          <p:cNvSpPr txBox="1"/>
          <p:nvPr/>
        </p:nvSpPr>
        <p:spPr>
          <a:xfrm>
            <a:off x="694944" y="4334256"/>
            <a:ext cx="5120640" cy="34747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3.  EYNİ seçim bütün metodlara tətbiq olunur</a:t>
            </a:r>
            <a:endParaRPr lang="en-US" sz="1050" dirty="0"/>
          </a:p>
        </p:txBody>
      </p:sp>
      <p:sp>
        <p:nvSpPr>
          <p:cNvPr id="38" name="Shape 36"/>
          <p:cNvSpPr/>
          <p:nvPr/>
        </p:nvSpPr>
        <p:spPr>
          <a:xfrm>
            <a:off x="548640" y="4736592"/>
            <a:ext cx="5394960" cy="347472"/>
          </a:xfrm>
          <a:prstGeom prst="rect">
            <a:avLst/>
          </a:prstGeom>
          <a:solidFill>
            <a:srgbClr val="F4F7F9"/>
          </a:solidFill>
          <a:ln/>
        </p:spPr>
      </p:sp>
      <p:sp>
        <p:nvSpPr>
          <p:cNvPr id="39" name="Text 37"/>
          <p:cNvSpPr txBox="1"/>
          <p:nvPr/>
        </p:nvSpPr>
        <p:spPr>
          <a:xfrm>
            <a:off x="694944" y="4736592"/>
            <a:ext cx="5120640" cy="347472"/>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4.  ΔNLL paylanması yaranır</a:t>
            </a:r>
            <a:endParaRPr lang="en-US" sz="1050" dirty="0"/>
          </a:p>
        </p:txBody>
      </p:sp>
      <p:sp>
        <p:nvSpPr>
          <p:cNvPr id="40" name="Text 38"/>
          <p:cNvSpPr txBox="1"/>
          <p:nvPr/>
        </p:nvSpPr>
        <p:spPr>
          <a:xfrm>
            <a:off x="548640" y="5193792"/>
            <a:ext cx="5394960" cy="457200"/>
          </a:xfrm>
          <a:prstGeom prst="rect">
            <a:avLst/>
          </a:prstGeom>
          <a:noFill/>
          <a:ln/>
        </p:spPr>
        <p:txBody>
          <a:bodyPr wrap="square" lIns="0" tIns="0" rIns="0" bIns="0" rtlCol="0" anchor="ctr"/>
          <a:lstStyle/>
          <a:p>
            <a:pPr marL="0" indent="0">
              <a:buNone/>
            </a:pPr>
            <a:r>
              <a:rPr lang="en-US" sz="1000" i="1" dirty="0">
                <a:solidFill>
                  <a:srgbClr val="5F7082"/>
                </a:solidFill>
                <a:latin typeface="Calibri" pitchFamily="34" charset="0"/>
                <a:ea typeface="Calibri" pitchFamily="34" charset="-122"/>
                <a:cs typeface="Calibri" pitchFamily="34" charset="-120"/>
              </a:rPr>
              <a:t>Eyni sənədlər müqayisə olunduğu üçün sənəd çətinliyindən gələn səs-küy böyük ölçüdə aradan qalxır — cütləşdirilmiş müqayisə daha həssasdır.</a:t>
            </a:r>
            <a:endParaRPr lang="en-US" sz="1000" dirty="0"/>
          </a:p>
        </p:txBody>
      </p:sp>
      <p:pic>
        <p:nvPicPr>
          <p:cNvPr id="41" name="Image 0" descr="/home/claude/assets/fig_bootstrap.png"/>
          <p:cNvPicPr>
            <a:picLocks noChangeAspect="1"/>
          </p:cNvPicPr>
          <p:nvPr/>
        </p:nvPicPr>
        <p:blipFill>
          <a:blip r:embed="rId3"/>
          <a:stretch>
            <a:fillRect/>
          </a:stretch>
        </p:blipFill>
        <p:spPr>
          <a:xfrm>
            <a:off x="6144768" y="3383280"/>
            <a:ext cx="5495544" cy="2084832"/>
          </a:xfrm>
          <a:prstGeom prst="rect">
            <a:avLst/>
          </a:prstGeom>
        </p:spPr>
      </p:pic>
      <p:sp>
        <p:nvSpPr>
          <p:cNvPr id="42" name="Shape 39"/>
          <p:cNvSpPr/>
          <p:nvPr/>
        </p:nvSpPr>
        <p:spPr>
          <a:xfrm>
            <a:off x="548640" y="5687568"/>
            <a:ext cx="11091672" cy="621792"/>
          </a:xfrm>
          <a:prstGeom prst="roundRect">
            <a:avLst>
              <a:gd name="adj" fmla="val 10294"/>
            </a:avLst>
          </a:prstGeom>
          <a:solidFill>
            <a:srgbClr val="FDF3EC"/>
          </a:solidFill>
          <a:ln/>
        </p:spPr>
      </p:sp>
      <p:sp>
        <p:nvSpPr>
          <p:cNvPr id="43" name="Text 40"/>
          <p:cNvSpPr txBox="1"/>
          <p:nvPr/>
        </p:nvSpPr>
        <p:spPr>
          <a:xfrm>
            <a:off x="731520" y="5687568"/>
            <a:ext cx="10698480" cy="621792"/>
          </a:xfrm>
          <a:prstGeom prst="rect">
            <a:avLst/>
          </a:prstGeom>
          <a:noFill/>
          <a:ln/>
        </p:spPr>
        <p:txBody>
          <a:bodyPr wrap="square" lIns="0" tIns="0" rIns="0" bIns="0" rtlCol="0" anchor="ctr"/>
          <a:lstStyle/>
          <a:p>
            <a:pPr marL="0" indent="0">
              <a:buNone/>
            </a:pPr>
            <a:r>
              <a:rPr lang="en-US" sz="1050" b="1" dirty="0">
                <a:solidFill>
                  <a:srgbClr val="B26B00"/>
                </a:solidFill>
                <a:latin typeface="Calibri" pitchFamily="34" charset="0"/>
                <a:ea typeface="Calibri" pitchFamily="34" charset="-122"/>
                <a:cs typeface="Calibri" pitchFamily="34" charset="-120"/>
              </a:rPr>
              <a:t>Vacib məhdudiyyət:  </a:t>
            </a:r>
            <a:r>
              <a:rPr lang="en-US" sz="1050" dirty="0">
                <a:solidFill>
                  <a:srgbClr val="14202E"/>
                </a:solidFill>
                <a:latin typeface="Calibri" pitchFamily="34" charset="0"/>
                <a:ea typeface="Calibri" pitchFamily="34" charset="-122"/>
                <a:cs typeface="Calibri" pitchFamily="34" charset="-120"/>
              </a:rPr>
              <a:t>Bootstrap CI verilmiş 5 öyrədilmiş seed-ə ŞƏRTLİDİR. O, gələcək ixtiyari model seed-ləri üzrə qeyri-müəyyənliyi ölçmür. Seed SD və bootstrap CI iki fərqli kəmiyyətdir və heç vaxt eyni adla adlandırılmır.</a:t>
            </a:r>
            <a:endParaRPr lang="en-US" sz="1050" dirty="0"/>
          </a:p>
        </p:txBody>
      </p:sp>
      <p:sp>
        <p:nvSpPr>
          <p:cNvPr id="44" name="Text 41"/>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Fatma Mammadova  ·  fatma-mammadova-cs</a:t>
            </a:r>
            <a:endParaRPr lang="en-US" sz="950" dirty="0"/>
          </a:p>
        </p:txBody>
      </p:sp>
      <p:sp>
        <p:nvSpPr>
          <p:cNvPr id="45" name="Text 42"/>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configs/evaluation_protocol.json · tables/bootstrap_replicates.npz</a:t>
            </a:r>
            <a:endParaRPr lang="en-US" sz="850" dirty="0"/>
          </a:p>
        </p:txBody>
      </p:sp>
      <p:sp>
        <p:nvSpPr>
          <p:cNvPr id="46" name="Text 43"/>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Final held-out test: ALiBi ən aşağı NLL əldə etdi</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309 369 test sənədi  ·  hər seed üçün 30 583 373 qiymətləndirilən hədəf  ·  ↓ aşağı daha yaxşıdır</a:t>
            </a:r>
            <a:endParaRPr lang="en-US" sz="1300" dirty="0"/>
          </a:p>
        </p:txBody>
      </p:sp>
      <p:pic>
        <p:nvPicPr>
          <p:cNvPr id="5" name="Image 0" descr="/home/claude/assets/fig_primary.png"/>
          <p:cNvPicPr>
            <a:picLocks noChangeAspect="1"/>
          </p:cNvPicPr>
          <p:nvPr/>
        </p:nvPicPr>
        <p:blipFill>
          <a:blip r:embed="rId3"/>
          <a:stretch>
            <a:fillRect/>
          </a:stretch>
        </p:blipFill>
        <p:spPr>
          <a:xfrm>
            <a:off x="548640" y="1371600"/>
            <a:ext cx="6949440" cy="3118104"/>
          </a:xfrm>
          <a:prstGeom prst="rect">
            <a:avLst/>
          </a:prstGeom>
        </p:spPr>
      </p:pic>
      <p:sp>
        <p:nvSpPr>
          <p:cNvPr id="6" name="Text 3"/>
          <p:cNvSpPr txBox="1"/>
          <p:nvPr/>
        </p:nvSpPr>
        <p:spPr>
          <a:xfrm>
            <a:off x="7936992" y="1243584"/>
            <a:ext cx="370332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SIRALAMA  ·  HELD-OUT TEST</a:t>
            </a:r>
            <a:endParaRPr lang="en-US" sz="1050" dirty="0"/>
          </a:p>
        </p:txBody>
      </p:sp>
      <p:sp>
        <p:nvSpPr>
          <p:cNvPr id="7" name="Text 4"/>
          <p:cNvSpPr txBox="1"/>
          <p:nvPr/>
        </p:nvSpPr>
        <p:spPr>
          <a:xfrm>
            <a:off x="7936992" y="1517904"/>
            <a:ext cx="320040" cy="219456"/>
          </a:xfrm>
          <a:prstGeom prst="rect">
            <a:avLst/>
          </a:prstGeom>
          <a:noFill/>
          <a:ln/>
        </p:spPr>
        <p:txBody>
          <a:bodyPr wrap="square" lIns="0" tIns="0" rIns="0" bIns="0" rtlCol="0" anchor="ctr"/>
          <a:lstStyle/>
          <a:p>
            <a:pPr marL="0" indent="0" algn="l">
              <a:buNone/>
            </a:pPr>
            <a:r>
              <a:rPr lang="en-US" sz="850" b="1" kern="0" spc="60" dirty="0">
                <a:solidFill>
                  <a:srgbClr val="8A99A8"/>
                </a:solidFill>
                <a:latin typeface="Calibri" pitchFamily="34" charset="0"/>
                <a:ea typeface="Calibri" pitchFamily="34" charset="-122"/>
                <a:cs typeface="Calibri" pitchFamily="34" charset="-120"/>
              </a:rPr>
              <a:t>#</a:t>
            </a:r>
            <a:endParaRPr lang="en-US" sz="850" dirty="0"/>
          </a:p>
        </p:txBody>
      </p:sp>
      <p:sp>
        <p:nvSpPr>
          <p:cNvPr id="8" name="Text 5"/>
          <p:cNvSpPr txBox="1"/>
          <p:nvPr/>
        </p:nvSpPr>
        <p:spPr>
          <a:xfrm>
            <a:off x="8330184" y="1517904"/>
            <a:ext cx="1234440" cy="219456"/>
          </a:xfrm>
          <a:prstGeom prst="rect">
            <a:avLst/>
          </a:prstGeom>
          <a:noFill/>
          <a:ln/>
        </p:spPr>
        <p:txBody>
          <a:bodyPr wrap="square" lIns="0" tIns="0" rIns="0" bIns="0" rtlCol="0" anchor="ctr"/>
          <a:lstStyle/>
          <a:p>
            <a:pPr marL="0" indent="0" algn="l">
              <a:buNone/>
            </a:pPr>
            <a:r>
              <a:rPr lang="en-US" sz="850" b="1" kern="0" spc="60" dirty="0">
                <a:solidFill>
                  <a:srgbClr val="8A99A8"/>
                </a:solidFill>
                <a:latin typeface="Calibri" pitchFamily="34" charset="0"/>
                <a:ea typeface="Calibri" pitchFamily="34" charset="-122"/>
                <a:cs typeface="Calibri" pitchFamily="34" charset="-120"/>
              </a:rPr>
              <a:t>Metod</a:t>
            </a:r>
            <a:endParaRPr lang="en-US" sz="850" dirty="0"/>
          </a:p>
        </p:txBody>
      </p:sp>
      <p:sp>
        <p:nvSpPr>
          <p:cNvPr id="9" name="Text 6"/>
          <p:cNvSpPr txBox="1"/>
          <p:nvPr/>
        </p:nvSpPr>
        <p:spPr>
          <a:xfrm>
            <a:off x="9637776" y="1517904"/>
            <a:ext cx="960120" cy="219456"/>
          </a:xfrm>
          <a:prstGeom prst="rect">
            <a:avLst/>
          </a:prstGeom>
          <a:noFill/>
          <a:ln/>
        </p:spPr>
        <p:txBody>
          <a:bodyPr wrap="square" lIns="0" tIns="0" rIns="0" bIns="0" rtlCol="0" anchor="ctr"/>
          <a:lstStyle/>
          <a:p>
            <a:pPr marL="0" indent="0" algn="r">
              <a:buNone/>
            </a:pPr>
            <a:r>
              <a:rPr lang="en-US" sz="850" b="1" kern="0" spc="60" dirty="0">
                <a:solidFill>
                  <a:srgbClr val="8A99A8"/>
                </a:solidFill>
                <a:latin typeface="Calibri" pitchFamily="34" charset="0"/>
                <a:ea typeface="Calibri" pitchFamily="34" charset="-122"/>
                <a:cs typeface="Calibri" pitchFamily="34" charset="-120"/>
              </a:rPr>
              <a:t>Orta NLL</a:t>
            </a:r>
            <a:endParaRPr lang="en-US" sz="850" dirty="0"/>
          </a:p>
        </p:txBody>
      </p:sp>
      <p:sp>
        <p:nvSpPr>
          <p:cNvPr id="10" name="Text 7"/>
          <p:cNvSpPr txBox="1"/>
          <p:nvPr/>
        </p:nvSpPr>
        <p:spPr>
          <a:xfrm>
            <a:off x="10671048" y="1517904"/>
            <a:ext cx="685800" cy="219456"/>
          </a:xfrm>
          <a:prstGeom prst="rect">
            <a:avLst/>
          </a:prstGeom>
          <a:noFill/>
          <a:ln/>
        </p:spPr>
        <p:txBody>
          <a:bodyPr wrap="square" lIns="0" tIns="0" rIns="0" bIns="0" rtlCol="0" anchor="ctr"/>
          <a:lstStyle/>
          <a:p>
            <a:pPr marL="0" indent="0" algn="r">
              <a:buNone/>
            </a:pPr>
            <a:r>
              <a:rPr lang="en-US" sz="850" b="1" kern="0" spc="60" dirty="0">
                <a:solidFill>
                  <a:srgbClr val="8A99A8"/>
                </a:solidFill>
                <a:latin typeface="Calibri" pitchFamily="34" charset="0"/>
                <a:ea typeface="Calibri" pitchFamily="34" charset="-122"/>
                <a:cs typeface="Calibri" pitchFamily="34" charset="-120"/>
              </a:rPr>
              <a:t>Seed SD</a:t>
            </a:r>
            <a:endParaRPr lang="en-US" sz="850" dirty="0"/>
          </a:p>
        </p:txBody>
      </p:sp>
      <p:sp>
        <p:nvSpPr>
          <p:cNvPr id="11" name="Text 8"/>
          <p:cNvSpPr txBox="1"/>
          <p:nvPr/>
        </p:nvSpPr>
        <p:spPr>
          <a:xfrm>
            <a:off x="11430000" y="1517904"/>
            <a:ext cx="685800" cy="219456"/>
          </a:xfrm>
          <a:prstGeom prst="rect">
            <a:avLst/>
          </a:prstGeom>
          <a:noFill/>
          <a:ln/>
        </p:spPr>
        <p:txBody>
          <a:bodyPr wrap="square" lIns="0" tIns="0" rIns="0" bIns="0" rtlCol="0" anchor="ctr"/>
          <a:lstStyle/>
          <a:p>
            <a:pPr marL="0" indent="0" algn="r">
              <a:buNone/>
            </a:pPr>
            <a:r>
              <a:rPr lang="en-US" sz="850" b="1" kern="0" spc="60" dirty="0">
                <a:solidFill>
                  <a:srgbClr val="8A99A8"/>
                </a:solidFill>
                <a:latin typeface="Calibri" pitchFamily="34" charset="0"/>
                <a:ea typeface="Calibri" pitchFamily="34" charset="-122"/>
                <a:cs typeface="Calibri" pitchFamily="34" charset="-120"/>
              </a:rPr>
              <a:t>PPL</a:t>
            </a:r>
            <a:endParaRPr lang="en-US" sz="850" dirty="0"/>
          </a:p>
        </p:txBody>
      </p:sp>
      <p:sp>
        <p:nvSpPr>
          <p:cNvPr id="12" name="Shape 9"/>
          <p:cNvSpPr/>
          <p:nvPr/>
        </p:nvSpPr>
        <p:spPr>
          <a:xfrm>
            <a:off x="7863840" y="1773936"/>
            <a:ext cx="3776472" cy="457200"/>
          </a:xfrm>
          <a:prstGeom prst="rect">
            <a:avLst/>
          </a:prstGeom>
          <a:solidFill>
            <a:srgbClr val="E6F5EF"/>
          </a:solidFill>
          <a:ln w="16510">
            <a:solidFill>
              <a:srgbClr val="009E73"/>
            </a:solidFill>
            <a:prstDash val="solid"/>
          </a:ln>
        </p:spPr>
      </p:sp>
      <p:sp>
        <p:nvSpPr>
          <p:cNvPr id="13" name="Text 10"/>
          <p:cNvSpPr txBox="1"/>
          <p:nvPr/>
        </p:nvSpPr>
        <p:spPr>
          <a:xfrm>
            <a:off x="7936992" y="1773936"/>
            <a:ext cx="320040" cy="457200"/>
          </a:xfrm>
          <a:prstGeom prst="rect">
            <a:avLst/>
          </a:prstGeom>
          <a:noFill/>
          <a:ln/>
        </p:spPr>
        <p:txBody>
          <a:bodyPr wrap="square" lIns="0" tIns="0" rIns="0" bIns="0" rtlCol="0" anchor="ctr"/>
          <a:lstStyle/>
          <a:p>
            <a:pPr marL="0" indent="0" algn="l">
              <a:buNone/>
            </a:pPr>
            <a:r>
              <a:rPr lang="en-US" sz="1000" b="1" dirty="0">
                <a:solidFill>
                  <a:srgbClr val="0E2438"/>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330184" y="1773936"/>
            <a:ext cx="1234440" cy="457200"/>
          </a:xfrm>
          <a:prstGeom prst="rect">
            <a:avLst/>
          </a:prstGeom>
          <a:noFill/>
          <a:ln/>
        </p:spPr>
        <p:txBody>
          <a:bodyPr wrap="square" lIns="0" tIns="0" rIns="0" bIns="0" rtlCol="0" anchor="ctr"/>
          <a:lstStyle/>
          <a:p>
            <a:pPr marL="0" indent="0" algn="l">
              <a:buNone/>
            </a:pPr>
            <a:r>
              <a:rPr lang="en-US" sz="1100" b="1" dirty="0">
                <a:solidFill>
                  <a:srgbClr val="009E73"/>
                </a:solidFill>
                <a:latin typeface="Calibri" pitchFamily="34" charset="0"/>
                <a:ea typeface="Calibri" pitchFamily="34" charset="-122"/>
                <a:cs typeface="Calibri" pitchFamily="34" charset="-120"/>
              </a:rPr>
              <a:t>ALiBi</a:t>
            </a:r>
            <a:endParaRPr lang="en-US" sz="1100" dirty="0"/>
          </a:p>
        </p:txBody>
      </p:sp>
      <p:sp>
        <p:nvSpPr>
          <p:cNvPr id="15" name="Text 12"/>
          <p:cNvSpPr txBox="1"/>
          <p:nvPr/>
        </p:nvSpPr>
        <p:spPr>
          <a:xfrm>
            <a:off x="9637776" y="1773936"/>
            <a:ext cx="960120" cy="457200"/>
          </a:xfrm>
          <a:prstGeom prst="rect">
            <a:avLst/>
          </a:prstGeom>
          <a:noFill/>
          <a:ln/>
        </p:spPr>
        <p:txBody>
          <a:bodyPr wrap="square" lIns="0" tIns="0" rIns="0" bIns="0" rtlCol="0" anchor="ctr"/>
          <a:lstStyle/>
          <a:p>
            <a:pPr marL="0" indent="0" algn="r">
              <a:buNone/>
            </a:pPr>
            <a:r>
              <a:rPr lang="en-US" sz="1000" b="1" dirty="0">
                <a:solidFill>
                  <a:srgbClr val="0E2438"/>
                </a:solidFill>
                <a:latin typeface="Calibri" pitchFamily="34" charset="0"/>
                <a:ea typeface="Calibri" pitchFamily="34" charset="-122"/>
                <a:cs typeface="Calibri" pitchFamily="34" charset="-120"/>
              </a:rPr>
              <a:t>5.434068</a:t>
            </a:r>
            <a:endParaRPr lang="en-US" sz="1000" dirty="0"/>
          </a:p>
        </p:txBody>
      </p:sp>
      <p:sp>
        <p:nvSpPr>
          <p:cNvPr id="16" name="Text 13"/>
          <p:cNvSpPr txBox="1"/>
          <p:nvPr/>
        </p:nvSpPr>
        <p:spPr>
          <a:xfrm>
            <a:off x="10671048" y="1773936"/>
            <a:ext cx="685800" cy="457200"/>
          </a:xfrm>
          <a:prstGeom prst="rect">
            <a:avLst/>
          </a:prstGeom>
          <a:noFill/>
          <a:ln/>
        </p:spPr>
        <p:txBody>
          <a:bodyPr wrap="square" lIns="0" tIns="0" rIns="0" bIns="0" rtlCol="0" anchor="ctr"/>
          <a:lstStyle/>
          <a:p>
            <a:pPr marL="0" indent="0" algn="r">
              <a:buNone/>
            </a:pPr>
            <a:r>
              <a:rPr lang="en-US" sz="1000" dirty="0">
                <a:solidFill>
                  <a:srgbClr val="0E2438"/>
                </a:solidFill>
                <a:latin typeface="Calibri" pitchFamily="34" charset="0"/>
                <a:ea typeface="Calibri" pitchFamily="34" charset="-122"/>
                <a:cs typeface="Calibri" pitchFamily="34" charset="-120"/>
              </a:rPr>
              <a:t>0.006519</a:t>
            </a:r>
            <a:endParaRPr lang="en-US" sz="1000" dirty="0"/>
          </a:p>
        </p:txBody>
      </p:sp>
      <p:sp>
        <p:nvSpPr>
          <p:cNvPr id="17" name="Text 14"/>
          <p:cNvSpPr txBox="1"/>
          <p:nvPr/>
        </p:nvSpPr>
        <p:spPr>
          <a:xfrm>
            <a:off x="11430000" y="1773936"/>
            <a:ext cx="685800" cy="457200"/>
          </a:xfrm>
          <a:prstGeom prst="rect">
            <a:avLst/>
          </a:prstGeom>
          <a:noFill/>
          <a:ln/>
        </p:spPr>
        <p:txBody>
          <a:bodyPr wrap="square" lIns="0" tIns="0" rIns="0" bIns="0" rtlCol="0" anchor="ctr"/>
          <a:lstStyle/>
          <a:p>
            <a:pPr marL="0" indent="0" algn="r">
              <a:buNone/>
            </a:pPr>
            <a:r>
              <a:rPr lang="en-US" sz="1000" dirty="0">
                <a:solidFill>
                  <a:srgbClr val="0E2438"/>
                </a:solidFill>
                <a:latin typeface="Calibri" pitchFamily="34" charset="0"/>
                <a:ea typeface="Calibri" pitchFamily="34" charset="-122"/>
                <a:cs typeface="Calibri" pitchFamily="34" charset="-120"/>
              </a:rPr>
              <a:t>229.08</a:t>
            </a:r>
            <a:endParaRPr lang="en-US" sz="1000" dirty="0"/>
          </a:p>
        </p:txBody>
      </p:sp>
      <p:sp>
        <p:nvSpPr>
          <p:cNvPr id="18" name="Shape 15"/>
          <p:cNvSpPr/>
          <p:nvPr/>
        </p:nvSpPr>
        <p:spPr>
          <a:xfrm>
            <a:off x="7863840" y="2286000"/>
            <a:ext cx="3776472" cy="457200"/>
          </a:xfrm>
          <a:prstGeom prst="rect">
            <a:avLst/>
          </a:prstGeom>
          <a:solidFill>
            <a:srgbClr val="FFFFFF"/>
          </a:solidFill>
          <a:ln/>
        </p:spPr>
      </p:sp>
      <p:sp>
        <p:nvSpPr>
          <p:cNvPr id="19" name="Text 16"/>
          <p:cNvSpPr txBox="1"/>
          <p:nvPr/>
        </p:nvSpPr>
        <p:spPr>
          <a:xfrm>
            <a:off x="7936992" y="2286000"/>
            <a:ext cx="320040" cy="457200"/>
          </a:xfrm>
          <a:prstGeom prst="rect">
            <a:avLst/>
          </a:prstGeom>
          <a:noFill/>
          <a:ln/>
        </p:spPr>
        <p:txBody>
          <a:bodyPr wrap="square" lIns="0" tIns="0" rIns="0" bIns="0" rtlCol="0" anchor="ctr"/>
          <a:lstStyle/>
          <a:p>
            <a:pPr marL="0" indent="0" algn="l">
              <a:buNone/>
            </a:pPr>
            <a:r>
              <a:rPr lang="en-US" sz="1000" b="1" dirty="0">
                <a:solidFill>
                  <a:srgbClr val="14202E"/>
                </a:solidFill>
                <a:latin typeface="Calibri" pitchFamily="34" charset="0"/>
                <a:ea typeface="Calibri" pitchFamily="34" charset="-122"/>
                <a:cs typeface="Calibri" pitchFamily="34" charset="-120"/>
              </a:rPr>
              <a:t>2</a:t>
            </a:r>
            <a:endParaRPr lang="en-US" sz="1000" dirty="0"/>
          </a:p>
        </p:txBody>
      </p:sp>
      <p:sp>
        <p:nvSpPr>
          <p:cNvPr id="20" name="Text 17"/>
          <p:cNvSpPr txBox="1"/>
          <p:nvPr/>
        </p:nvSpPr>
        <p:spPr>
          <a:xfrm>
            <a:off x="8330184" y="2286000"/>
            <a:ext cx="1234440" cy="457200"/>
          </a:xfrm>
          <a:prstGeom prst="rect">
            <a:avLst/>
          </a:prstGeom>
          <a:noFill/>
          <a:ln/>
        </p:spPr>
        <p:txBody>
          <a:bodyPr wrap="square" lIns="0" tIns="0" rIns="0" bIns="0" rtlCol="0" anchor="ctr"/>
          <a:lstStyle/>
          <a:p>
            <a:pPr marL="0" indent="0" algn="l">
              <a:buNone/>
            </a:pPr>
            <a:r>
              <a:rPr lang="en-US" sz="1100" b="1" dirty="0">
                <a:solidFill>
                  <a:srgbClr val="0072B2"/>
                </a:solidFill>
                <a:latin typeface="Calibri" pitchFamily="34" charset="0"/>
                <a:ea typeface="Calibri" pitchFamily="34" charset="-122"/>
                <a:cs typeface="Calibri" pitchFamily="34" charset="-120"/>
              </a:rPr>
              <a:t>RoPE</a:t>
            </a:r>
            <a:endParaRPr lang="en-US" sz="1100" dirty="0"/>
          </a:p>
        </p:txBody>
      </p:sp>
      <p:sp>
        <p:nvSpPr>
          <p:cNvPr id="21" name="Text 18"/>
          <p:cNvSpPr txBox="1"/>
          <p:nvPr/>
        </p:nvSpPr>
        <p:spPr>
          <a:xfrm>
            <a:off x="9637776" y="2286000"/>
            <a:ext cx="96012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5.532893</a:t>
            </a:r>
            <a:endParaRPr lang="en-US" sz="1000" dirty="0"/>
          </a:p>
        </p:txBody>
      </p:sp>
      <p:sp>
        <p:nvSpPr>
          <p:cNvPr id="22" name="Text 19"/>
          <p:cNvSpPr txBox="1"/>
          <p:nvPr/>
        </p:nvSpPr>
        <p:spPr>
          <a:xfrm>
            <a:off x="10671048" y="2286000"/>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0.006336</a:t>
            </a:r>
            <a:endParaRPr lang="en-US" sz="1000" dirty="0"/>
          </a:p>
        </p:txBody>
      </p:sp>
      <p:sp>
        <p:nvSpPr>
          <p:cNvPr id="23" name="Text 20"/>
          <p:cNvSpPr txBox="1"/>
          <p:nvPr/>
        </p:nvSpPr>
        <p:spPr>
          <a:xfrm>
            <a:off x="11430000" y="2286000"/>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252.87</a:t>
            </a:r>
            <a:endParaRPr lang="en-US" sz="1000" dirty="0"/>
          </a:p>
        </p:txBody>
      </p:sp>
      <p:sp>
        <p:nvSpPr>
          <p:cNvPr id="24" name="Shape 21"/>
          <p:cNvSpPr/>
          <p:nvPr/>
        </p:nvSpPr>
        <p:spPr>
          <a:xfrm>
            <a:off x="7863840" y="2798064"/>
            <a:ext cx="3776472" cy="457200"/>
          </a:xfrm>
          <a:prstGeom prst="rect">
            <a:avLst/>
          </a:prstGeom>
          <a:solidFill>
            <a:srgbClr val="F4F7F9"/>
          </a:solidFill>
          <a:ln/>
        </p:spPr>
      </p:sp>
      <p:sp>
        <p:nvSpPr>
          <p:cNvPr id="25" name="Text 22"/>
          <p:cNvSpPr txBox="1"/>
          <p:nvPr/>
        </p:nvSpPr>
        <p:spPr>
          <a:xfrm>
            <a:off x="7936992" y="2798064"/>
            <a:ext cx="320040" cy="457200"/>
          </a:xfrm>
          <a:prstGeom prst="rect">
            <a:avLst/>
          </a:prstGeom>
          <a:noFill/>
          <a:ln/>
        </p:spPr>
        <p:txBody>
          <a:bodyPr wrap="square" lIns="0" tIns="0" rIns="0" bIns="0" rtlCol="0" anchor="ctr"/>
          <a:lstStyle/>
          <a:p>
            <a:pPr marL="0" indent="0" algn="l">
              <a:buNone/>
            </a:pPr>
            <a:r>
              <a:rPr lang="en-US" sz="1000" b="1" dirty="0">
                <a:solidFill>
                  <a:srgbClr val="14202E"/>
                </a:solidFill>
                <a:latin typeface="Calibri" pitchFamily="34" charset="0"/>
                <a:ea typeface="Calibri" pitchFamily="34" charset="-122"/>
                <a:cs typeface="Calibri" pitchFamily="34" charset="-120"/>
              </a:rPr>
              <a:t>3</a:t>
            </a:r>
            <a:endParaRPr lang="en-US" sz="1000" dirty="0"/>
          </a:p>
        </p:txBody>
      </p:sp>
      <p:sp>
        <p:nvSpPr>
          <p:cNvPr id="26" name="Text 23"/>
          <p:cNvSpPr txBox="1"/>
          <p:nvPr/>
        </p:nvSpPr>
        <p:spPr>
          <a:xfrm>
            <a:off x="8330184" y="2798064"/>
            <a:ext cx="1234440" cy="457200"/>
          </a:xfrm>
          <a:prstGeom prst="rect">
            <a:avLst/>
          </a:prstGeom>
          <a:noFill/>
          <a:ln/>
        </p:spPr>
        <p:txBody>
          <a:bodyPr wrap="square" lIns="0" tIns="0" rIns="0" bIns="0" rtlCol="0" anchor="ctr"/>
          <a:lstStyle/>
          <a:p>
            <a:pPr marL="0" indent="0" algn="l">
              <a:buNone/>
            </a:pPr>
            <a:r>
              <a:rPr lang="en-US" sz="1100" b="1" dirty="0">
                <a:solidFill>
                  <a:srgbClr val="E69F00"/>
                </a:solidFill>
                <a:latin typeface="Calibri" pitchFamily="34" charset="0"/>
                <a:ea typeface="Calibri" pitchFamily="34" charset="-122"/>
                <a:cs typeface="Calibri" pitchFamily="34" charset="-120"/>
              </a:rPr>
              <a:t>NoPE</a:t>
            </a:r>
            <a:endParaRPr lang="en-US" sz="1100" dirty="0"/>
          </a:p>
        </p:txBody>
      </p:sp>
      <p:sp>
        <p:nvSpPr>
          <p:cNvPr id="27" name="Text 24"/>
          <p:cNvSpPr txBox="1"/>
          <p:nvPr/>
        </p:nvSpPr>
        <p:spPr>
          <a:xfrm>
            <a:off x="9637776" y="2798064"/>
            <a:ext cx="96012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5.648448</a:t>
            </a:r>
            <a:endParaRPr lang="en-US" sz="1000" dirty="0"/>
          </a:p>
        </p:txBody>
      </p:sp>
      <p:sp>
        <p:nvSpPr>
          <p:cNvPr id="28" name="Text 25"/>
          <p:cNvSpPr txBox="1"/>
          <p:nvPr/>
        </p:nvSpPr>
        <p:spPr>
          <a:xfrm>
            <a:off x="10671048" y="2798064"/>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0.005536</a:t>
            </a:r>
            <a:endParaRPr lang="en-US" sz="1000" dirty="0"/>
          </a:p>
        </p:txBody>
      </p:sp>
      <p:sp>
        <p:nvSpPr>
          <p:cNvPr id="29" name="Text 26"/>
          <p:cNvSpPr txBox="1"/>
          <p:nvPr/>
        </p:nvSpPr>
        <p:spPr>
          <a:xfrm>
            <a:off x="11430000" y="2798064"/>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283.85</a:t>
            </a:r>
            <a:endParaRPr lang="en-US" sz="1000" dirty="0"/>
          </a:p>
        </p:txBody>
      </p:sp>
      <p:sp>
        <p:nvSpPr>
          <p:cNvPr id="30" name="Shape 27"/>
          <p:cNvSpPr/>
          <p:nvPr/>
        </p:nvSpPr>
        <p:spPr>
          <a:xfrm>
            <a:off x="7863840" y="3310128"/>
            <a:ext cx="3776472" cy="457200"/>
          </a:xfrm>
          <a:prstGeom prst="rect">
            <a:avLst/>
          </a:prstGeom>
          <a:solidFill>
            <a:srgbClr val="FFFFFF"/>
          </a:solidFill>
          <a:ln/>
        </p:spPr>
      </p:sp>
      <p:sp>
        <p:nvSpPr>
          <p:cNvPr id="31" name="Text 28"/>
          <p:cNvSpPr txBox="1"/>
          <p:nvPr/>
        </p:nvSpPr>
        <p:spPr>
          <a:xfrm>
            <a:off x="7936992" y="3310128"/>
            <a:ext cx="320040" cy="457200"/>
          </a:xfrm>
          <a:prstGeom prst="rect">
            <a:avLst/>
          </a:prstGeom>
          <a:noFill/>
          <a:ln/>
        </p:spPr>
        <p:txBody>
          <a:bodyPr wrap="square" lIns="0" tIns="0" rIns="0" bIns="0" rtlCol="0" anchor="ctr"/>
          <a:lstStyle/>
          <a:p>
            <a:pPr marL="0" indent="0" algn="l">
              <a:buNone/>
            </a:pPr>
            <a:r>
              <a:rPr lang="en-US" sz="1000" b="1" dirty="0">
                <a:solidFill>
                  <a:srgbClr val="14202E"/>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8330184" y="3310128"/>
            <a:ext cx="1234440" cy="457200"/>
          </a:xfrm>
          <a:prstGeom prst="rect">
            <a:avLst/>
          </a:prstGeom>
          <a:noFill/>
          <a:ln/>
        </p:spPr>
        <p:txBody>
          <a:bodyPr wrap="square" lIns="0" tIns="0" rIns="0" bIns="0" rtlCol="0" anchor="ctr"/>
          <a:lstStyle/>
          <a:p>
            <a:pPr marL="0" indent="0" algn="l">
              <a:buNone/>
            </a:pPr>
            <a:r>
              <a:rPr lang="en-US" sz="1100" b="1" dirty="0">
                <a:solidFill>
                  <a:srgbClr val="CC79A7"/>
                </a:solidFill>
                <a:latin typeface="Calibri" pitchFamily="34" charset="0"/>
                <a:ea typeface="Calibri" pitchFamily="34" charset="-122"/>
                <a:cs typeface="Calibri" pitchFamily="34" charset="-120"/>
              </a:rPr>
              <a:t>Learned</a:t>
            </a:r>
            <a:endParaRPr lang="en-US" sz="1100" dirty="0"/>
          </a:p>
        </p:txBody>
      </p:sp>
      <p:sp>
        <p:nvSpPr>
          <p:cNvPr id="33" name="Text 30"/>
          <p:cNvSpPr txBox="1"/>
          <p:nvPr/>
        </p:nvSpPr>
        <p:spPr>
          <a:xfrm>
            <a:off x="9637776" y="3310128"/>
            <a:ext cx="96012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5.793908</a:t>
            </a:r>
            <a:endParaRPr lang="en-US" sz="1000" dirty="0"/>
          </a:p>
        </p:txBody>
      </p:sp>
      <p:sp>
        <p:nvSpPr>
          <p:cNvPr id="34" name="Text 31"/>
          <p:cNvSpPr txBox="1"/>
          <p:nvPr/>
        </p:nvSpPr>
        <p:spPr>
          <a:xfrm>
            <a:off x="10671048" y="3310128"/>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0.008968</a:t>
            </a:r>
            <a:endParaRPr lang="en-US" sz="1000" dirty="0"/>
          </a:p>
        </p:txBody>
      </p:sp>
      <p:sp>
        <p:nvSpPr>
          <p:cNvPr id="35" name="Text 32"/>
          <p:cNvSpPr txBox="1"/>
          <p:nvPr/>
        </p:nvSpPr>
        <p:spPr>
          <a:xfrm>
            <a:off x="11430000" y="3310128"/>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328.29</a:t>
            </a:r>
            <a:endParaRPr lang="en-US" sz="1000" dirty="0"/>
          </a:p>
        </p:txBody>
      </p:sp>
      <p:sp>
        <p:nvSpPr>
          <p:cNvPr id="36" name="Shape 33"/>
          <p:cNvSpPr/>
          <p:nvPr/>
        </p:nvSpPr>
        <p:spPr>
          <a:xfrm>
            <a:off x="7863840" y="3822192"/>
            <a:ext cx="3776472" cy="457200"/>
          </a:xfrm>
          <a:prstGeom prst="rect">
            <a:avLst/>
          </a:prstGeom>
          <a:solidFill>
            <a:srgbClr val="F4F7F9"/>
          </a:solidFill>
          <a:ln/>
        </p:spPr>
      </p:sp>
      <p:sp>
        <p:nvSpPr>
          <p:cNvPr id="37" name="Text 34"/>
          <p:cNvSpPr txBox="1"/>
          <p:nvPr/>
        </p:nvSpPr>
        <p:spPr>
          <a:xfrm>
            <a:off x="7936992" y="3822192"/>
            <a:ext cx="320040" cy="457200"/>
          </a:xfrm>
          <a:prstGeom prst="rect">
            <a:avLst/>
          </a:prstGeom>
          <a:noFill/>
          <a:ln/>
        </p:spPr>
        <p:txBody>
          <a:bodyPr wrap="square" lIns="0" tIns="0" rIns="0" bIns="0" rtlCol="0" anchor="ctr"/>
          <a:lstStyle/>
          <a:p>
            <a:pPr marL="0" indent="0" algn="l">
              <a:buNone/>
            </a:pPr>
            <a:r>
              <a:rPr lang="en-US" sz="1000" b="1" dirty="0">
                <a:solidFill>
                  <a:srgbClr val="14202E"/>
                </a:solidFill>
                <a:latin typeface="Calibri" pitchFamily="34" charset="0"/>
                <a:ea typeface="Calibri" pitchFamily="34" charset="-122"/>
                <a:cs typeface="Calibri" pitchFamily="34" charset="-120"/>
              </a:rPr>
              <a:t>5</a:t>
            </a:r>
            <a:endParaRPr lang="en-US" sz="1000" dirty="0"/>
          </a:p>
        </p:txBody>
      </p:sp>
      <p:sp>
        <p:nvSpPr>
          <p:cNvPr id="38" name="Text 35"/>
          <p:cNvSpPr txBox="1"/>
          <p:nvPr/>
        </p:nvSpPr>
        <p:spPr>
          <a:xfrm>
            <a:off x="8330184" y="3822192"/>
            <a:ext cx="1234440" cy="457200"/>
          </a:xfrm>
          <a:prstGeom prst="rect">
            <a:avLst/>
          </a:prstGeom>
          <a:noFill/>
          <a:ln/>
        </p:spPr>
        <p:txBody>
          <a:bodyPr wrap="square" lIns="0" tIns="0" rIns="0" bIns="0" rtlCol="0" anchor="ctr"/>
          <a:lstStyle/>
          <a:p>
            <a:pPr marL="0" indent="0" algn="l">
              <a:buNone/>
            </a:pPr>
            <a:r>
              <a:rPr lang="en-US" sz="1100" b="1" dirty="0">
                <a:solidFill>
                  <a:srgbClr val="D55E00"/>
                </a:solidFill>
                <a:latin typeface="Calibri" pitchFamily="34" charset="0"/>
                <a:ea typeface="Calibri" pitchFamily="34" charset="-122"/>
                <a:cs typeface="Calibri" pitchFamily="34" charset="-120"/>
              </a:rPr>
              <a:t>Sinusoidal</a:t>
            </a:r>
            <a:endParaRPr lang="en-US" sz="1100" dirty="0"/>
          </a:p>
        </p:txBody>
      </p:sp>
      <p:sp>
        <p:nvSpPr>
          <p:cNvPr id="39" name="Text 36"/>
          <p:cNvSpPr txBox="1"/>
          <p:nvPr/>
        </p:nvSpPr>
        <p:spPr>
          <a:xfrm>
            <a:off x="9637776" y="3822192"/>
            <a:ext cx="96012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6.894045</a:t>
            </a:r>
            <a:endParaRPr lang="en-US" sz="1000" dirty="0"/>
          </a:p>
        </p:txBody>
      </p:sp>
      <p:sp>
        <p:nvSpPr>
          <p:cNvPr id="40" name="Text 37"/>
          <p:cNvSpPr txBox="1"/>
          <p:nvPr/>
        </p:nvSpPr>
        <p:spPr>
          <a:xfrm>
            <a:off x="10671048" y="3822192"/>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0.026865</a:t>
            </a:r>
            <a:endParaRPr lang="en-US" sz="1000" dirty="0"/>
          </a:p>
        </p:txBody>
      </p:sp>
      <p:sp>
        <p:nvSpPr>
          <p:cNvPr id="41" name="Text 38"/>
          <p:cNvSpPr txBox="1"/>
          <p:nvPr/>
        </p:nvSpPr>
        <p:spPr>
          <a:xfrm>
            <a:off x="11430000" y="3822192"/>
            <a:ext cx="685800" cy="457200"/>
          </a:xfrm>
          <a:prstGeom prst="rect">
            <a:avLst/>
          </a:prstGeom>
          <a:noFill/>
          <a:ln/>
        </p:spPr>
        <p:txBody>
          <a:bodyPr wrap="square" lIns="0" tIns="0" rIns="0" bIns="0" rtlCol="0" anchor="ctr"/>
          <a:lstStyle/>
          <a:p>
            <a:pPr marL="0" indent="0" algn="r">
              <a:buNone/>
            </a:pPr>
            <a:r>
              <a:rPr lang="en-US" sz="1000" dirty="0">
                <a:solidFill>
                  <a:srgbClr val="14202E"/>
                </a:solidFill>
                <a:latin typeface="Calibri" pitchFamily="34" charset="0"/>
                <a:ea typeface="Calibri" pitchFamily="34" charset="-122"/>
                <a:cs typeface="Calibri" pitchFamily="34" charset="-120"/>
              </a:rPr>
              <a:t>986.38</a:t>
            </a:r>
            <a:endParaRPr lang="en-US" sz="1000" dirty="0"/>
          </a:p>
        </p:txBody>
      </p:sp>
      <p:sp>
        <p:nvSpPr>
          <p:cNvPr id="42" name="Text 39"/>
          <p:cNvSpPr txBox="1"/>
          <p:nvPr/>
        </p:nvSpPr>
        <p:spPr>
          <a:xfrm>
            <a:off x="7863840" y="4389120"/>
            <a:ext cx="3776472" cy="274320"/>
          </a:xfrm>
          <a:prstGeom prst="rect">
            <a:avLst/>
          </a:prstGeom>
          <a:noFill/>
          <a:ln/>
        </p:spPr>
        <p:txBody>
          <a:bodyPr wrap="square" lIns="0" tIns="0" rIns="0" bIns="0" rtlCol="0" anchor="ctr"/>
          <a:lstStyle/>
          <a:p>
            <a:pPr marL="0" indent="0">
              <a:buNone/>
            </a:pPr>
            <a:r>
              <a:rPr lang="en-US" sz="850" i="1" dirty="0">
                <a:solidFill>
                  <a:srgbClr val="8A99A8"/>
                </a:solidFill>
                <a:latin typeface="Calibri" pitchFamily="34" charset="0"/>
                <a:ea typeface="Calibri" pitchFamily="34" charset="-122"/>
                <a:cs typeface="Calibri" pitchFamily="34" charset="-120"/>
              </a:rPr>
              <a:t>Seed SD = beş seed üzrə nümunə standart kənarlanması.  PPL = exp(orta NLL).</a:t>
            </a:r>
            <a:endParaRPr lang="en-US" sz="850" dirty="0"/>
          </a:p>
        </p:txBody>
      </p:sp>
      <p:sp>
        <p:nvSpPr>
          <p:cNvPr id="43" name="Shape 40"/>
          <p:cNvSpPr/>
          <p:nvPr/>
        </p:nvSpPr>
        <p:spPr>
          <a:xfrm>
            <a:off x="548640" y="4626864"/>
            <a:ext cx="11091672" cy="1133856"/>
          </a:xfrm>
          <a:prstGeom prst="roundRect">
            <a:avLst>
              <a:gd name="adj" fmla="val 5645"/>
            </a:avLst>
          </a:prstGeom>
          <a:solidFill>
            <a:srgbClr val="12324F"/>
          </a:solidFill>
          <a:ln/>
        </p:spPr>
      </p:sp>
      <p:sp>
        <p:nvSpPr>
          <p:cNvPr id="44" name="Text 41"/>
          <p:cNvSpPr txBox="1"/>
          <p:nvPr/>
        </p:nvSpPr>
        <p:spPr>
          <a:xfrm>
            <a:off x="822960" y="4718304"/>
            <a:ext cx="6949440" cy="420624"/>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Bu controlled setting-də ALiBi ən güclü final nəticəni göstərdi.</a:t>
            </a:r>
            <a:endParaRPr lang="en-US" sz="2000" dirty="0"/>
          </a:p>
        </p:txBody>
      </p:sp>
      <p:sp>
        <p:nvSpPr>
          <p:cNvPr id="45" name="Text 42"/>
          <p:cNvSpPr txBox="1"/>
          <p:nvPr/>
        </p:nvSpPr>
        <p:spPr>
          <a:xfrm>
            <a:off x="822960" y="5175504"/>
            <a:ext cx="6949440" cy="365760"/>
          </a:xfrm>
          <a:prstGeom prst="rect">
            <a:avLst/>
          </a:prstGeom>
          <a:noFill/>
          <a:ln/>
        </p:spPr>
        <p:txBody>
          <a:bodyPr wrap="square" lIns="0" tIns="0" rIns="0" bIns="0" rtlCol="0" anchor="ctr"/>
          <a:lstStyle/>
          <a:p>
            <a:pPr marL="0" indent="0">
              <a:buNone/>
            </a:pPr>
            <a:r>
              <a:rPr lang="en-US" sz="1200" dirty="0">
                <a:solidFill>
                  <a:srgbClr val="A8BDCF"/>
                </a:solidFill>
                <a:latin typeface="Calibri" pitchFamily="34" charset="0"/>
                <a:ea typeface="Calibri" pitchFamily="34" charset="-122"/>
                <a:cs typeface="Calibri" pitchFamily="34" charset="-120"/>
              </a:rPr>
              <a:t>RoPE ilə fərq: −0.0988 NLL  ·  −9.41% perplexity  ·  beş seed-in hamısında eyni istiqamət</a:t>
            </a:r>
            <a:endParaRPr lang="en-US" sz="1200" dirty="0"/>
          </a:p>
        </p:txBody>
      </p:sp>
      <p:sp>
        <p:nvSpPr>
          <p:cNvPr id="46" name="Text 43"/>
          <p:cNvSpPr txBox="1"/>
          <p:nvPr/>
        </p:nvSpPr>
        <p:spPr>
          <a:xfrm>
            <a:off x="7863840" y="4700016"/>
            <a:ext cx="1828800" cy="457200"/>
          </a:xfrm>
          <a:prstGeom prst="rect">
            <a:avLst/>
          </a:prstGeom>
          <a:noFill/>
          <a:ln/>
        </p:spPr>
        <p:txBody>
          <a:bodyPr wrap="square" lIns="0" tIns="0" rIns="0" bIns="0" rtlCol="0" anchor="ctr"/>
          <a:lstStyle/>
          <a:p>
            <a:pPr marL="0" indent="0" algn="r">
              <a:buNone/>
            </a:pPr>
            <a:r>
              <a:rPr lang="en-US" sz="2600" b="1" dirty="0">
                <a:solidFill>
                  <a:srgbClr val="009E73"/>
                </a:solidFill>
                <a:latin typeface="Cambria" pitchFamily="34" charset="0"/>
                <a:ea typeface="Cambria" pitchFamily="34" charset="-122"/>
                <a:cs typeface="Cambria" pitchFamily="34" charset="-120"/>
              </a:rPr>
              <a:t>229.08</a:t>
            </a:r>
            <a:endParaRPr lang="en-US" sz="2600" dirty="0"/>
          </a:p>
        </p:txBody>
      </p:sp>
      <p:sp>
        <p:nvSpPr>
          <p:cNvPr id="47" name="Text 44"/>
          <p:cNvSpPr txBox="1"/>
          <p:nvPr/>
        </p:nvSpPr>
        <p:spPr>
          <a:xfrm>
            <a:off x="7863840" y="5157216"/>
            <a:ext cx="1828800" cy="256032"/>
          </a:xfrm>
          <a:prstGeom prst="rect">
            <a:avLst/>
          </a:prstGeom>
          <a:noFill/>
          <a:ln/>
        </p:spPr>
        <p:txBody>
          <a:bodyPr wrap="square" lIns="0" tIns="0" rIns="0" bIns="0" rtlCol="0" anchor="ctr"/>
          <a:lstStyle/>
          <a:p>
            <a:pPr marL="0" indent="0" algn="r">
              <a:buNone/>
            </a:pPr>
            <a:r>
              <a:rPr lang="en-US" sz="950" dirty="0">
                <a:solidFill>
                  <a:srgbClr val="A8BDCF"/>
                </a:solidFill>
                <a:latin typeface="Calibri" pitchFamily="34" charset="0"/>
                <a:ea typeface="Calibri" pitchFamily="34" charset="-122"/>
                <a:cs typeface="Calibri" pitchFamily="34" charset="-120"/>
              </a:rPr>
              <a:t>ALiBi test PPL</a:t>
            </a:r>
            <a:endParaRPr lang="en-US" sz="950" dirty="0"/>
          </a:p>
        </p:txBody>
      </p:sp>
      <p:sp>
        <p:nvSpPr>
          <p:cNvPr id="48" name="Text 45"/>
          <p:cNvSpPr txBox="1"/>
          <p:nvPr/>
        </p:nvSpPr>
        <p:spPr>
          <a:xfrm>
            <a:off x="9784080" y="4700016"/>
            <a:ext cx="1737360" cy="457200"/>
          </a:xfrm>
          <a:prstGeom prst="rect">
            <a:avLst/>
          </a:prstGeom>
          <a:noFill/>
          <a:ln/>
        </p:spPr>
        <p:txBody>
          <a:bodyPr wrap="square" lIns="0" tIns="0" rIns="0" bIns="0" rtlCol="0" anchor="ctr"/>
          <a:lstStyle/>
          <a:p>
            <a:pPr marL="0" indent="0" algn="r">
              <a:buNone/>
            </a:pPr>
            <a:r>
              <a:rPr lang="en-US" sz="2600" b="1" dirty="0">
                <a:solidFill>
                  <a:srgbClr val="D55E00"/>
                </a:solidFill>
                <a:latin typeface="Cambria" pitchFamily="34" charset="0"/>
                <a:ea typeface="Cambria" pitchFamily="34" charset="-122"/>
                <a:cs typeface="Cambria" pitchFamily="34" charset="-120"/>
              </a:rPr>
              <a:t>986.38</a:t>
            </a:r>
            <a:endParaRPr lang="en-US" sz="2600" dirty="0"/>
          </a:p>
        </p:txBody>
      </p:sp>
      <p:sp>
        <p:nvSpPr>
          <p:cNvPr id="49" name="Text 46"/>
          <p:cNvSpPr txBox="1"/>
          <p:nvPr/>
        </p:nvSpPr>
        <p:spPr>
          <a:xfrm>
            <a:off x="9784080" y="5157216"/>
            <a:ext cx="1737360" cy="256032"/>
          </a:xfrm>
          <a:prstGeom prst="rect">
            <a:avLst/>
          </a:prstGeom>
          <a:noFill/>
          <a:ln/>
        </p:spPr>
        <p:txBody>
          <a:bodyPr wrap="square" lIns="0" tIns="0" rIns="0" bIns="0" rtlCol="0" anchor="ctr"/>
          <a:lstStyle/>
          <a:p>
            <a:pPr marL="0" indent="0" algn="r">
              <a:buNone/>
            </a:pPr>
            <a:r>
              <a:rPr lang="en-US" sz="950" dirty="0">
                <a:solidFill>
                  <a:srgbClr val="A8BDCF"/>
                </a:solidFill>
                <a:latin typeface="Calibri" pitchFamily="34" charset="0"/>
                <a:ea typeface="Calibri" pitchFamily="34" charset="-122"/>
                <a:cs typeface="Calibri" pitchFamily="34" charset="-120"/>
              </a:rPr>
              <a:t>Sinusoidal test PPL</a:t>
            </a:r>
            <a:endParaRPr lang="en-US" sz="950" dirty="0"/>
          </a:p>
        </p:txBody>
      </p:sp>
      <p:sp>
        <p:nvSpPr>
          <p:cNvPr id="50" name="Shape 47"/>
          <p:cNvSpPr/>
          <p:nvPr/>
        </p:nvSpPr>
        <p:spPr>
          <a:xfrm>
            <a:off x="548640" y="5888736"/>
            <a:ext cx="11091672" cy="420624"/>
          </a:xfrm>
          <a:prstGeom prst="roundRect">
            <a:avLst>
              <a:gd name="adj" fmla="val 15217"/>
            </a:avLst>
          </a:prstGeom>
          <a:solidFill>
            <a:srgbClr val="EAF0F4"/>
          </a:solidFill>
          <a:ln/>
        </p:spPr>
      </p:sp>
      <p:sp>
        <p:nvSpPr>
          <p:cNvPr id="51" name="Text 48"/>
          <p:cNvSpPr txBox="1"/>
          <p:nvPr/>
        </p:nvSpPr>
        <p:spPr>
          <a:xfrm>
            <a:off x="713232" y="5907024"/>
            <a:ext cx="10762488" cy="420624"/>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Nəticə:  </a:t>
            </a:r>
            <a:r>
              <a:rPr lang="en-US" sz="1150" dirty="0">
                <a:solidFill>
                  <a:srgbClr val="14202E"/>
                </a:solidFill>
                <a:latin typeface="Calibri" pitchFamily="34" charset="0"/>
                <a:ea typeface="Calibri" pitchFamily="34" charset="-122"/>
                <a:cs typeface="Calibri" pitchFamily="34" charset="-120"/>
              </a:rPr>
              <a:t>Sıralama: ALiBi → RoPE → NoPE → Learned → Sinusoidal. Bütün dəyərlər primary.csv faylındakı dəyərlərlə eynidir.</a:t>
            </a:r>
            <a:endParaRPr lang="en-US" sz="1150" dirty="0"/>
          </a:p>
        </p:txBody>
      </p:sp>
      <p:sp>
        <p:nvSpPr>
          <p:cNvPr id="52" name="Text 49"/>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Nihat Rzayev  ·  RzayevNihat</a:t>
            </a:r>
            <a:endParaRPr lang="en-US" sz="950" dirty="0"/>
          </a:p>
        </p:txBody>
      </p:sp>
      <p:sp>
        <p:nvSpPr>
          <p:cNvPr id="53" name="Text 50"/>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results/evaluation/tables/primary.csv · figures/figure_5_primary</a:t>
            </a:r>
            <a:endParaRPr lang="en-US" sz="850" dirty="0"/>
          </a:p>
        </p:txBody>
      </p:sp>
      <p:sp>
        <p:nvSpPr>
          <p:cNvPr id="54" name="Text 51"/>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Bu fərq təsadüfdürmü? Seed və pairwise sübutu</a:t>
            </a:r>
            <a:endParaRPr lang="en-US" sz="2500" dirty="0"/>
          </a:p>
        </p:txBody>
      </p:sp>
      <p:sp>
        <p:nvSpPr>
          <p:cNvPr id="4" name="Text 2"/>
          <p:cNvSpPr txBox="1"/>
          <p:nvPr/>
        </p:nvSpPr>
        <p:spPr>
          <a:xfrm>
            <a:off x="548640" y="1188720"/>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HƏR BEŞ SEED-DƏ EYNİ SIRALAMA</a:t>
            </a:r>
            <a:endParaRPr lang="en-US" sz="1050" dirty="0"/>
          </a:p>
        </p:txBody>
      </p:sp>
      <p:sp>
        <p:nvSpPr>
          <p:cNvPr id="5" name="Text 3"/>
          <p:cNvSpPr txBox="1"/>
          <p:nvPr/>
        </p:nvSpPr>
        <p:spPr>
          <a:xfrm>
            <a:off x="548640" y="1481328"/>
            <a:ext cx="731520" cy="237744"/>
          </a:xfrm>
          <a:prstGeom prst="rect">
            <a:avLst/>
          </a:prstGeom>
          <a:noFill/>
          <a:ln/>
        </p:spPr>
        <p:txBody>
          <a:bodyPr wrap="square" lIns="0" tIns="0" rIns="0" bIns="0" rtlCol="0" anchor="ctr"/>
          <a:lstStyle/>
          <a:p>
            <a:pPr marL="0" indent="0">
              <a:buNone/>
            </a:pPr>
            <a:r>
              <a:rPr lang="en-US" sz="900" kern="0" spc="80" dirty="0">
                <a:solidFill>
                  <a:srgbClr val="8A99A8"/>
                </a:solidFill>
                <a:latin typeface="Calibri" pitchFamily="34" charset="0"/>
                <a:ea typeface="Calibri" pitchFamily="34" charset="-122"/>
                <a:cs typeface="Calibri" pitchFamily="34" charset="-120"/>
              </a:rPr>
              <a:t>seed</a:t>
            </a:r>
            <a:endParaRPr lang="en-US" sz="900" dirty="0"/>
          </a:p>
        </p:txBody>
      </p:sp>
      <p:sp>
        <p:nvSpPr>
          <p:cNvPr id="6" name="Text 4"/>
          <p:cNvSpPr txBox="1"/>
          <p:nvPr/>
        </p:nvSpPr>
        <p:spPr>
          <a:xfrm>
            <a:off x="1335024" y="1481328"/>
            <a:ext cx="914400" cy="237744"/>
          </a:xfrm>
          <a:prstGeom prst="rect">
            <a:avLst/>
          </a:prstGeom>
          <a:noFill/>
          <a:ln/>
        </p:spPr>
        <p:txBody>
          <a:bodyPr wrap="square" lIns="0" tIns="0" rIns="0" bIns="0" rtlCol="0" anchor="ctr"/>
          <a:lstStyle/>
          <a:p>
            <a:pPr marL="0" indent="0" algn="ctr">
              <a:buNone/>
            </a:pPr>
            <a:r>
              <a:rPr lang="en-US" sz="900" kern="0" spc="60" dirty="0">
                <a:solidFill>
                  <a:srgbClr val="8A99A8"/>
                </a:solidFill>
                <a:latin typeface="Calibri" pitchFamily="34" charset="0"/>
                <a:ea typeface="Calibri" pitchFamily="34" charset="-122"/>
                <a:cs typeface="Calibri" pitchFamily="34" charset="-120"/>
              </a:rPr>
              <a:t>1-ci</a:t>
            </a:r>
            <a:endParaRPr lang="en-US" sz="900" dirty="0"/>
          </a:p>
        </p:txBody>
      </p:sp>
      <p:sp>
        <p:nvSpPr>
          <p:cNvPr id="7" name="Text 5"/>
          <p:cNvSpPr txBox="1"/>
          <p:nvPr/>
        </p:nvSpPr>
        <p:spPr>
          <a:xfrm>
            <a:off x="2304288" y="1481328"/>
            <a:ext cx="914400" cy="237744"/>
          </a:xfrm>
          <a:prstGeom prst="rect">
            <a:avLst/>
          </a:prstGeom>
          <a:noFill/>
          <a:ln/>
        </p:spPr>
        <p:txBody>
          <a:bodyPr wrap="square" lIns="0" tIns="0" rIns="0" bIns="0" rtlCol="0" anchor="ctr"/>
          <a:lstStyle/>
          <a:p>
            <a:pPr marL="0" indent="0" algn="ctr">
              <a:buNone/>
            </a:pPr>
            <a:r>
              <a:rPr lang="en-US" sz="900" kern="0" spc="60" dirty="0">
                <a:solidFill>
                  <a:srgbClr val="8A99A8"/>
                </a:solidFill>
                <a:latin typeface="Calibri" pitchFamily="34" charset="0"/>
                <a:ea typeface="Calibri" pitchFamily="34" charset="-122"/>
                <a:cs typeface="Calibri" pitchFamily="34" charset="-120"/>
              </a:rPr>
              <a:t>2-ci</a:t>
            </a:r>
            <a:endParaRPr lang="en-US" sz="900" dirty="0"/>
          </a:p>
        </p:txBody>
      </p:sp>
      <p:sp>
        <p:nvSpPr>
          <p:cNvPr id="8" name="Text 6"/>
          <p:cNvSpPr txBox="1"/>
          <p:nvPr/>
        </p:nvSpPr>
        <p:spPr>
          <a:xfrm>
            <a:off x="3273552" y="1481328"/>
            <a:ext cx="914400" cy="237744"/>
          </a:xfrm>
          <a:prstGeom prst="rect">
            <a:avLst/>
          </a:prstGeom>
          <a:noFill/>
          <a:ln/>
        </p:spPr>
        <p:txBody>
          <a:bodyPr wrap="square" lIns="0" tIns="0" rIns="0" bIns="0" rtlCol="0" anchor="ctr"/>
          <a:lstStyle/>
          <a:p>
            <a:pPr marL="0" indent="0" algn="ctr">
              <a:buNone/>
            </a:pPr>
            <a:r>
              <a:rPr lang="en-US" sz="900" kern="0" spc="60" dirty="0">
                <a:solidFill>
                  <a:srgbClr val="8A99A8"/>
                </a:solidFill>
                <a:latin typeface="Calibri" pitchFamily="34" charset="0"/>
                <a:ea typeface="Calibri" pitchFamily="34" charset="-122"/>
                <a:cs typeface="Calibri" pitchFamily="34" charset="-120"/>
              </a:rPr>
              <a:t>3-cü</a:t>
            </a:r>
            <a:endParaRPr lang="en-US" sz="900" dirty="0"/>
          </a:p>
        </p:txBody>
      </p:sp>
      <p:sp>
        <p:nvSpPr>
          <p:cNvPr id="9" name="Text 7"/>
          <p:cNvSpPr txBox="1"/>
          <p:nvPr/>
        </p:nvSpPr>
        <p:spPr>
          <a:xfrm>
            <a:off x="4242816" y="1481328"/>
            <a:ext cx="914400" cy="237744"/>
          </a:xfrm>
          <a:prstGeom prst="rect">
            <a:avLst/>
          </a:prstGeom>
          <a:noFill/>
          <a:ln/>
        </p:spPr>
        <p:txBody>
          <a:bodyPr wrap="square" lIns="0" tIns="0" rIns="0" bIns="0" rtlCol="0" anchor="ctr"/>
          <a:lstStyle/>
          <a:p>
            <a:pPr marL="0" indent="0" algn="ctr">
              <a:buNone/>
            </a:pPr>
            <a:r>
              <a:rPr lang="en-US" sz="900" kern="0" spc="60" dirty="0">
                <a:solidFill>
                  <a:srgbClr val="8A99A8"/>
                </a:solidFill>
                <a:latin typeface="Calibri" pitchFamily="34" charset="0"/>
                <a:ea typeface="Calibri" pitchFamily="34" charset="-122"/>
                <a:cs typeface="Calibri" pitchFamily="34" charset="-120"/>
              </a:rPr>
              <a:t>4-cü</a:t>
            </a:r>
            <a:endParaRPr lang="en-US" sz="900" dirty="0"/>
          </a:p>
        </p:txBody>
      </p:sp>
      <p:sp>
        <p:nvSpPr>
          <p:cNvPr id="10" name="Text 8"/>
          <p:cNvSpPr txBox="1"/>
          <p:nvPr/>
        </p:nvSpPr>
        <p:spPr>
          <a:xfrm>
            <a:off x="5212080" y="1481328"/>
            <a:ext cx="914400" cy="237744"/>
          </a:xfrm>
          <a:prstGeom prst="rect">
            <a:avLst/>
          </a:prstGeom>
          <a:noFill/>
          <a:ln/>
        </p:spPr>
        <p:txBody>
          <a:bodyPr wrap="square" lIns="0" tIns="0" rIns="0" bIns="0" rtlCol="0" anchor="ctr"/>
          <a:lstStyle/>
          <a:p>
            <a:pPr marL="0" indent="0" algn="ctr">
              <a:buNone/>
            </a:pPr>
            <a:r>
              <a:rPr lang="en-US" sz="900" kern="0" spc="60" dirty="0">
                <a:solidFill>
                  <a:srgbClr val="8A99A8"/>
                </a:solidFill>
                <a:latin typeface="Calibri" pitchFamily="34" charset="0"/>
                <a:ea typeface="Calibri" pitchFamily="34" charset="-122"/>
                <a:cs typeface="Calibri" pitchFamily="34" charset="-120"/>
              </a:rPr>
              <a:t>5-ci</a:t>
            </a:r>
            <a:endParaRPr lang="en-US" sz="900" dirty="0"/>
          </a:p>
        </p:txBody>
      </p:sp>
      <p:sp>
        <p:nvSpPr>
          <p:cNvPr id="11" name="Text 9"/>
          <p:cNvSpPr txBox="1"/>
          <p:nvPr/>
        </p:nvSpPr>
        <p:spPr>
          <a:xfrm>
            <a:off x="548640" y="1755648"/>
            <a:ext cx="731520" cy="384048"/>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17</a:t>
            </a:r>
            <a:endParaRPr lang="en-US" sz="1100" dirty="0"/>
          </a:p>
        </p:txBody>
      </p:sp>
      <p:sp>
        <p:nvSpPr>
          <p:cNvPr id="12" name="Shape 10"/>
          <p:cNvSpPr/>
          <p:nvPr/>
        </p:nvSpPr>
        <p:spPr>
          <a:xfrm>
            <a:off x="1335024" y="1755648"/>
            <a:ext cx="914400" cy="384048"/>
          </a:xfrm>
          <a:prstGeom prst="rect">
            <a:avLst/>
          </a:prstGeom>
          <a:solidFill>
            <a:srgbClr val="E6F5EF"/>
          </a:solidFill>
          <a:ln w="15240">
            <a:solidFill>
              <a:srgbClr val="009E73"/>
            </a:solidFill>
            <a:prstDash val="solid"/>
          </a:ln>
        </p:spPr>
      </p:sp>
      <p:sp>
        <p:nvSpPr>
          <p:cNvPr id="13" name="Text 11"/>
          <p:cNvSpPr txBox="1"/>
          <p:nvPr/>
        </p:nvSpPr>
        <p:spPr>
          <a:xfrm>
            <a:off x="1335024" y="1755648"/>
            <a:ext cx="914400" cy="384048"/>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14" name="Shape 12"/>
          <p:cNvSpPr/>
          <p:nvPr/>
        </p:nvSpPr>
        <p:spPr>
          <a:xfrm>
            <a:off x="2304288" y="1755648"/>
            <a:ext cx="914400" cy="384048"/>
          </a:xfrm>
          <a:prstGeom prst="rect">
            <a:avLst/>
          </a:prstGeom>
          <a:solidFill>
            <a:srgbClr val="F4F7F9"/>
          </a:solidFill>
          <a:ln/>
        </p:spPr>
      </p:sp>
      <p:sp>
        <p:nvSpPr>
          <p:cNvPr id="15" name="Text 13"/>
          <p:cNvSpPr txBox="1"/>
          <p:nvPr/>
        </p:nvSpPr>
        <p:spPr>
          <a:xfrm>
            <a:off x="2304288" y="1755648"/>
            <a:ext cx="914400" cy="384048"/>
          </a:xfrm>
          <a:prstGeom prst="rect">
            <a:avLst/>
          </a:prstGeom>
          <a:noFill/>
          <a:ln/>
        </p:spPr>
        <p:txBody>
          <a:bodyPr wrap="square" lIns="0" tIns="0" rIns="0" bIns="0" rtlCol="0" anchor="ctr"/>
          <a:lstStyle/>
          <a:p>
            <a:pPr marL="0" indent="0" algn="ctr">
              <a:buNone/>
            </a:pPr>
            <a:r>
              <a:rPr lang="en-US" sz="950" dirty="0">
                <a:solidFill>
                  <a:srgbClr val="0072B2"/>
                </a:solidFill>
                <a:latin typeface="Calibri" pitchFamily="34" charset="0"/>
                <a:ea typeface="Calibri" pitchFamily="34" charset="-122"/>
                <a:cs typeface="Calibri" pitchFamily="34" charset="-120"/>
              </a:rPr>
              <a:t>RoPE</a:t>
            </a:r>
            <a:endParaRPr lang="en-US" sz="950" dirty="0"/>
          </a:p>
        </p:txBody>
      </p:sp>
      <p:sp>
        <p:nvSpPr>
          <p:cNvPr id="16" name="Shape 14"/>
          <p:cNvSpPr/>
          <p:nvPr/>
        </p:nvSpPr>
        <p:spPr>
          <a:xfrm>
            <a:off x="3273552" y="1755648"/>
            <a:ext cx="914400" cy="384048"/>
          </a:xfrm>
          <a:prstGeom prst="rect">
            <a:avLst/>
          </a:prstGeom>
          <a:solidFill>
            <a:srgbClr val="F4F7F9"/>
          </a:solidFill>
          <a:ln/>
        </p:spPr>
      </p:sp>
      <p:sp>
        <p:nvSpPr>
          <p:cNvPr id="17" name="Text 15"/>
          <p:cNvSpPr txBox="1"/>
          <p:nvPr/>
        </p:nvSpPr>
        <p:spPr>
          <a:xfrm>
            <a:off x="3273552" y="1755648"/>
            <a:ext cx="914400" cy="384048"/>
          </a:xfrm>
          <a:prstGeom prst="rect">
            <a:avLst/>
          </a:prstGeom>
          <a:noFill/>
          <a:ln/>
        </p:spPr>
        <p:txBody>
          <a:bodyPr wrap="square" lIns="0" tIns="0" rIns="0" bIns="0" rtlCol="0" anchor="ctr"/>
          <a:lstStyle/>
          <a:p>
            <a:pPr marL="0" indent="0" algn="ctr">
              <a:buNone/>
            </a:pPr>
            <a:r>
              <a:rPr lang="en-US" sz="950" dirty="0">
                <a:solidFill>
                  <a:srgbClr val="E69F00"/>
                </a:solidFill>
                <a:latin typeface="Calibri" pitchFamily="34" charset="0"/>
                <a:ea typeface="Calibri" pitchFamily="34" charset="-122"/>
                <a:cs typeface="Calibri" pitchFamily="34" charset="-120"/>
              </a:rPr>
              <a:t>NoPE</a:t>
            </a:r>
            <a:endParaRPr lang="en-US" sz="950" dirty="0"/>
          </a:p>
        </p:txBody>
      </p:sp>
      <p:sp>
        <p:nvSpPr>
          <p:cNvPr id="18" name="Shape 16"/>
          <p:cNvSpPr/>
          <p:nvPr/>
        </p:nvSpPr>
        <p:spPr>
          <a:xfrm>
            <a:off x="4242816" y="1755648"/>
            <a:ext cx="914400" cy="384048"/>
          </a:xfrm>
          <a:prstGeom prst="rect">
            <a:avLst/>
          </a:prstGeom>
          <a:solidFill>
            <a:srgbClr val="F4F7F9"/>
          </a:solidFill>
          <a:ln/>
        </p:spPr>
      </p:sp>
      <p:sp>
        <p:nvSpPr>
          <p:cNvPr id="19" name="Text 17"/>
          <p:cNvSpPr txBox="1"/>
          <p:nvPr/>
        </p:nvSpPr>
        <p:spPr>
          <a:xfrm>
            <a:off x="4242816" y="1755648"/>
            <a:ext cx="914400" cy="384048"/>
          </a:xfrm>
          <a:prstGeom prst="rect">
            <a:avLst/>
          </a:prstGeom>
          <a:noFill/>
          <a:ln/>
        </p:spPr>
        <p:txBody>
          <a:bodyPr wrap="square" lIns="0" tIns="0" rIns="0" bIns="0" rtlCol="0" anchor="ctr"/>
          <a:lstStyle/>
          <a:p>
            <a:pPr marL="0" indent="0" algn="ctr">
              <a:buNone/>
            </a:pPr>
            <a:r>
              <a:rPr lang="en-US" sz="950" dirty="0">
                <a:solidFill>
                  <a:srgbClr val="CC79A7"/>
                </a:solidFill>
                <a:latin typeface="Calibri" pitchFamily="34" charset="0"/>
                <a:ea typeface="Calibri" pitchFamily="34" charset="-122"/>
                <a:cs typeface="Calibri" pitchFamily="34" charset="-120"/>
              </a:rPr>
              <a:t>Learned</a:t>
            </a:r>
            <a:endParaRPr lang="en-US" sz="950" dirty="0"/>
          </a:p>
        </p:txBody>
      </p:sp>
      <p:sp>
        <p:nvSpPr>
          <p:cNvPr id="20" name="Shape 18"/>
          <p:cNvSpPr/>
          <p:nvPr/>
        </p:nvSpPr>
        <p:spPr>
          <a:xfrm>
            <a:off x="5212080" y="1755648"/>
            <a:ext cx="914400" cy="384048"/>
          </a:xfrm>
          <a:prstGeom prst="rect">
            <a:avLst/>
          </a:prstGeom>
          <a:solidFill>
            <a:srgbClr val="F4F7F9"/>
          </a:solidFill>
          <a:ln/>
        </p:spPr>
      </p:sp>
      <p:sp>
        <p:nvSpPr>
          <p:cNvPr id="21" name="Text 19"/>
          <p:cNvSpPr txBox="1"/>
          <p:nvPr/>
        </p:nvSpPr>
        <p:spPr>
          <a:xfrm>
            <a:off x="5212080" y="1755648"/>
            <a:ext cx="914400" cy="384048"/>
          </a:xfrm>
          <a:prstGeom prst="rect">
            <a:avLst/>
          </a:prstGeom>
          <a:noFill/>
          <a:ln/>
        </p:spPr>
        <p:txBody>
          <a:bodyPr wrap="square" lIns="0" tIns="0" rIns="0" bIns="0" rtlCol="0" anchor="ctr"/>
          <a:lstStyle/>
          <a:p>
            <a:pPr marL="0" indent="0" algn="ctr">
              <a:buNone/>
            </a:pPr>
            <a:r>
              <a:rPr lang="en-US" sz="950" dirty="0">
                <a:solidFill>
                  <a:srgbClr val="D55E00"/>
                </a:solidFill>
                <a:latin typeface="Calibri" pitchFamily="34" charset="0"/>
                <a:ea typeface="Calibri" pitchFamily="34" charset="-122"/>
                <a:cs typeface="Calibri" pitchFamily="34" charset="-120"/>
              </a:rPr>
              <a:t>Sinusoidal</a:t>
            </a:r>
            <a:endParaRPr lang="en-US" sz="950" dirty="0"/>
          </a:p>
        </p:txBody>
      </p:sp>
      <p:sp>
        <p:nvSpPr>
          <p:cNvPr id="22" name="Text 20"/>
          <p:cNvSpPr txBox="1"/>
          <p:nvPr/>
        </p:nvSpPr>
        <p:spPr>
          <a:xfrm>
            <a:off x="548640" y="2212848"/>
            <a:ext cx="731520" cy="384048"/>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42</a:t>
            </a:r>
            <a:endParaRPr lang="en-US" sz="1100" dirty="0"/>
          </a:p>
        </p:txBody>
      </p:sp>
      <p:sp>
        <p:nvSpPr>
          <p:cNvPr id="23" name="Shape 21"/>
          <p:cNvSpPr/>
          <p:nvPr/>
        </p:nvSpPr>
        <p:spPr>
          <a:xfrm>
            <a:off x="1335024" y="2212848"/>
            <a:ext cx="914400" cy="384048"/>
          </a:xfrm>
          <a:prstGeom prst="rect">
            <a:avLst/>
          </a:prstGeom>
          <a:solidFill>
            <a:srgbClr val="E6F5EF"/>
          </a:solidFill>
          <a:ln w="15240">
            <a:solidFill>
              <a:srgbClr val="009E73"/>
            </a:solidFill>
            <a:prstDash val="solid"/>
          </a:ln>
        </p:spPr>
      </p:sp>
      <p:sp>
        <p:nvSpPr>
          <p:cNvPr id="24" name="Text 22"/>
          <p:cNvSpPr txBox="1"/>
          <p:nvPr/>
        </p:nvSpPr>
        <p:spPr>
          <a:xfrm>
            <a:off x="1335024" y="2212848"/>
            <a:ext cx="914400" cy="384048"/>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25" name="Shape 23"/>
          <p:cNvSpPr/>
          <p:nvPr/>
        </p:nvSpPr>
        <p:spPr>
          <a:xfrm>
            <a:off x="2304288" y="2212848"/>
            <a:ext cx="914400" cy="384048"/>
          </a:xfrm>
          <a:prstGeom prst="rect">
            <a:avLst/>
          </a:prstGeom>
          <a:solidFill>
            <a:srgbClr val="F4F7F9"/>
          </a:solidFill>
          <a:ln/>
        </p:spPr>
      </p:sp>
      <p:sp>
        <p:nvSpPr>
          <p:cNvPr id="26" name="Text 24"/>
          <p:cNvSpPr txBox="1"/>
          <p:nvPr/>
        </p:nvSpPr>
        <p:spPr>
          <a:xfrm>
            <a:off x="2304288" y="2212848"/>
            <a:ext cx="914400" cy="384048"/>
          </a:xfrm>
          <a:prstGeom prst="rect">
            <a:avLst/>
          </a:prstGeom>
          <a:noFill/>
          <a:ln/>
        </p:spPr>
        <p:txBody>
          <a:bodyPr wrap="square" lIns="0" tIns="0" rIns="0" bIns="0" rtlCol="0" anchor="ctr"/>
          <a:lstStyle/>
          <a:p>
            <a:pPr marL="0" indent="0" algn="ctr">
              <a:buNone/>
            </a:pPr>
            <a:r>
              <a:rPr lang="en-US" sz="950" dirty="0">
                <a:solidFill>
                  <a:srgbClr val="0072B2"/>
                </a:solidFill>
                <a:latin typeface="Calibri" pitchFamily="34" charset="0"/>
                <a:ea typeface="Calibri" pitchFamily="34" charset="-122"/>
                <a:cs typeface="Calibri" pitchFamily="34" charset="-120"/>
              </a:rPr>
              <a:t>RoPE</a:t>
            </a:r>
            <a:endParaRPr lang="en-US" sz="950" dirty="0"/>
          </a:p>
        </p:txBody>
      </p:sp>
      <p:sp>
        <p:nvSpPr>
          <p:cNvPr id="27" name="Shape 25"/>
          <p:cNvSpPr/>
          <p:nvPr/>
        </p:nvSpPr>
        <p:spPr>
          <a:xfrm>
            <a:off x="3273552" y="2212848"/>
            <a:ext cx="914400" cy="384048"/>
          </a:xfrm>
          <a:prstGeom prst="rect">
            <a:avLst/>
          </a:prstGeom>
          <a:solidFill>
            <a:srgbClr val="F4F7F9"/>
          </a:solidFill>
          <a:ln/>
        </p:spPr>
      </p:sp>
      <p:sp>
        <p:nvSpPr>
          <p:cNvPr id="28" name="Text 26"/>
          <p:cNvSpPr txBox="1"/>
          <p:nvPr/>
        </p:nvSpPr>
        <p:spPr>
          <a:xfrm>
            <a:off x="3273552" y="2212848"/>
            <a:ext cx="914400" cy="384048"/>
          </a:xfrm>
          <a:prstGeom prst="rect">
            <a:avLst/>
          </a:prstGeom>
          <a:noFill/>
          <a:ln/>
        </p:spPr>
        <p:txBody>
          <a:bodyPr wrap="square" lIns="0" tIns="0" rIns="0" bIns="0" rtlCol="0" anchor="ctr"/>
          <a:lstStyle/>
          <a:p>
            <a:pPr marL="0" indent="0" algn="ctr">
              <a:buNone/>
            </a:pPr>
            <a:r>
              <a:rPr lang="en-US" sz="950" dirty="0">
                <a:solidFill>
                  <a:srgbClr val="E69F00"/>
                </a:solidFill>
                <a:latin typeface="Calibri" pitchFamily="34" charset="0"/>
                <a:ea typeface="Calibri" pitchFamily="34" charset="-122"/>
                <a:cs typeface="Calibri" pitchFamily="34" charset="-120"/>
              </a:rPr>
              <a:t>NoPE</a:t>
            </a:r>
            <a:endParaRPr lang="en-US" sz="950" dirty="0"/>
          </a:p>
        </p:txBody>
      </p:sp>
      <p:sp>
        <p:nvSpPr>
          <p:cNvPr id="29" name="Shape 27"/>
          <p:cNvSpPr/>
          <p:nvPr/>
        </p:nvSpPr>
        <p:spPr>
          <a:xfrm>
            <a:off x="4242816" y="2212848"/>
            <a:ext cx="914400" cy="384048"/>
          </a:xfrm>
          <a:prstGeom prst="rect">
            <a:avLst/>
          </a:prstGeom>
          <a:solidFill>
            <a:srgbClr val="F4F7F9"/>
          </a:solidFill>
          <a:ln/>
        </p:spPr>
      </p:sp>
      <p:sp>
        <p:nvSpPr>
          <p:cNvPr id="30" name="Text 28"/>
          <p:cNvSpPr txBox="1"/>
          <p:nvPr/>
        </p:nvSpPr>
        <p:spPr>
          <a:xfrm>
            <a:off x="4242816" y="2212848"/>
            <a:ext cx="914400" cy="384048"/>
          </a:xfrm>
          <a:prstGeom prst="rect">
            <a:avLst/>
          </a:prstGeom>
          <a:noFill/>
          <a:ln/>
        </p:spPr>
        <p:txBody>
          <a:bodyPr wrap="square" lIns="0" tIns="0" rIns="0" bIns="0" rtlCol="0" anchor="ctr"/>
          <a:lstStyle/>
          <a:p>
            <a:pPr marL="0" indent="0" algn="ctr">
              <a:buNone/>
            </a:pPr>
            <a:r>
              <a:rPr lang="en-US" sz="950" dirty="0">
                <a:solidFill>
                  <a:srgbClr val="CC79A7"/>
                </a:solidFill>
                <a:latin typeface="Calibri" pitchFamily="34" charset="0"/>
                <a:ea typeface="Calibri" pitchFamily="34" charset="-122"/>
                <a:cs typeface="Calibri" pitchFamily="34" charset="-120"/>
              </a:rPr>
              <a:t>Learned</a:t>
            </a:r>
            <a:endParaRPr lang="en-US" sz="950" dirty="0"/>
          </a:p>
        </p:txBody>
      </p:sp>
      <p:sp>
        <p:nvSpPr>
          <p:cNvPr id="31" name="Shape 29"/>
          <p:cNvSpPr/>
          <p:nvPr/>
        </p:nvSpPr>
        <p:spPr>
          <a:xfrm>
            <a:off x="5212080" y="2212848"/>
            <a:ext cx="914400" cy="384048"/>
          </a:xfrm>
          <a:prstGeom prst="rect">
            <a:avLst/>
          </a:prstGeom>
          <a:solidFill>
            <a:srgbClr val="F4F7F9"/>
          </a:solidFill>
          <a:ln/>
        </p:spPr>
      </p:sp>
      <p:sp>
        <p:nvSpPr>
          <p:cNvPr id="32" name="Text 30"/>
          <p:cNvSpPr txBox="1"/>
          <p:nvPr/>
        </p:nvSpPr>
        <p:spPr>
          <a:xfrm>
            <a:off x="5212080" y="2212848"/>
            <a:ext cx="914400" cy="384048"/>
          </a:xfrm>
          <a:prstGeom prst="rect">
            <a:avLst/>
          </a:prstGeom>
          <a:noFill/>
          <a:ln/>
        </p:spPr>
        <p:txBody>
          <a:bodyPr wrap="square" lIns="0" tIns="0" rIns="0" bIns="0" rtlCol="0" anchor="ctr"/>
          <a:lstStyle/>
          <a:p>
            <a:pPr marL="0" indent="0" algn="ctr">
              <a:buNone/>
            </a:pPr>
            <a:r>
              <a:rPr lang="en-US" sz="950" dirty="0">
                <a:solidFill>
                  <a:srgbClr val="D55E00"/>
                </a:solidFill>
                <a:latin typeface="Calibri" pitchFamily="34" charset="0"/>
                <a:ea typeface="Calibri" pitchFamily="34" charset="-122"/>
                <a:cs typeface="Calibri" pitchFamily="34" charset="-120"/>
              </a:rPr>
              <a:t>Sinusoidal</a:t>
            </a:r>
            <a:endParaRPr lang="en-US" sz="950" dirty="0"/>
          </a:p>
        </p:txBody>
      </p:sp>
      <p:sp>
        <p:nvSpPr>
          <p:cNvPr id="33" name="Text 31"/>
          <p:cNvSpPr txBox="1"/>
          <p:nvPr/>
        </p:nvSpPr>
        <p:spPr>
          <a:xfrm>
            <a:off x="548640" y="2670048"/>
            <a:ext cx="731520" cy="384048"/>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1234</a:t>
            </a:r>
            <a:endParaRPr lang="en-US" sz="1100" dirty="0"/>
          </a:p>
        </p:txBody>
      </p:sp>
      <p:sp>
        <p:nvSpPr>
          <p:cNvPr id="34" name="Shape 32"/>
          <p:cNvSpPr/>
          <p:nvPr/>
        </p:nvSpPr>
        <p:spPr>
          <a:xfrm>
            <a:off x="1335024" y="2670048"/>
            <a:ext cx="914400" cy="384048"/>
          </a:xfrm>
          <a:prstGeom prst="rect">
            <a:avLst/>
          </a:prstGeom>
          <a:solidFill>
            <a:srgbClr val="E6F5EF"/>
          </a:solidFill>
          <a:ln w="15240">
            <a:solidFill>
              <a:srgbClr val="009E73"/>
            </a:solidFill>
            <a:prstDash val="solid"/>
          </a:ln>
        </p:spPr>
      </p:sp>
      <p:sp>
        <p:nvSpPr>
          <p:cNvPr id="35" name="Text 33"/>
          <p:cNvSpPr txBox="1"/>
          <p:nvPr/>
        </p:nvSpPr>
        <p:spPr>
          <a:xfrm>
            <a:off x="1335024" y="2670048"/>
            <a:ext cx="914400" cy="384048"/>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36" name="Shape 34"/>
          <p:cNvSpPr/>
          <p:nvPr/>
        </p:nvSpPr>
        <p:spPr>
          <a:xfrm>
            <a:off x="2304288" y="2670048"/>
            <a:ext cx="914400" cy="384048"/>
          </a:xfrm>
          <a:prstGeom prst="rect">
            <a:avLst/>
          </a:prstGeom>
          <a:solidFill>
            <a:srgbClr val="F4F7F9"/>
          </a:solidFill>
          <a:ln/>
        </p:spPr>
      </p:sp>
      <p:sp>
        <p:nvSpPr>
          <p:cNvPr id="37" name="Text 35"/>
          <p:cNvSpPr txBox="1"/>
          <p:nvPr/>
        </p:nvSpPr>
        <p:spPr>
          <a:xfrm>
            <a:off x="2304288" y="2670048"/>
            <a:ext cx="914400" cy="384048"/>
          </a:xfrm>
          <a:prstGeom prst="rect">
            <a:avLst/>
          </a:prstGeom>
          <a:noFill/>
          <a:ln/>
        </p:spPr>
        <p:txBody>
          <a:bodyPr wrap="square" lIns="0" tIns="0" rIns="0" bIns="0" rtlCol="0" anchor="ctr"/>
          <a:lstStyle/>
          <a:p>
            <a:pPr marL="0" indent="0" algn="ctr">
              <a:buNone/>
            </a:pPr>
            <a:r>
              <a:rPr lang="en-US" sz="950" dirty="0">
                <a:solidFill>
                  <a:srgbClr val="0072B2"/>
                </a:solidFill>
                <a:latin typeface="Calibri" pitchFamily="34" charset="0"/>
                <a:ea typeface="Calibri" pitchFamily="34" charset="-122"/>
                <a:cs typeface="Calibri" pitchFamily="34" charset="-120"/>
              </a:rPr>
              <a:t>RoPE</a:t>
            </a:r>
            <a:endParaRPr lang="en-US" sz="950" dirty="0"/>
          </a:p>
        </p:txBody>
      </p:sp>
      <p:sp>
        <p:nvSpPr>
          <p:cNvPr id="38" name="Shape 36"/>
          <p:cNvSpPr/>
          <p:nvPr/>
        </p:nvSpPr>
        <p:spPr>
          <a:xfrm>
            <a:off x="3273552" y="2670048"/>
            <a:ext cx="914400" cy="384048"/>
          </a:xfrm>
          <a:prstGeom prst="rect">
            <a:avLst/>
          </a:prstGeom>
          <a:solidFill>
            <a:srgbClr val="F4F7F9"/>
          </a:solidFill>
          <a:ln/>
        </p:spPr>
      </p:sp>
      <p:sp>
        <p:nvSpPr>
          <p:cNvPr id="39" name="Text 37"/>
          <p:cNvSpPr txBox="1"/>
          <p:nvPr/>
        </p:nvSpPr>
        <p:spPr>
          <a:xfrm>
            <a:off x="3273552" y="2670048"/>
            <a:ext cx="914400" cy="384048"/>
          </a:xfrm>
          <a:prstGeom prst="rect">
            <a:avLst/>
          </a:prstGeom>
          <a:noFill/>
          <a:ln/>
        </p:spPr>
        <p:txBody>
          <a:bodyPr wrap="square" lIns="0" tIns="0" rIns="0" bIns="0" rtlCol="0" anchor="ctr"/>
          <a:lstStyle/>
          <a:p>
            <a:pPr marL="0" indent="0" algn="ctr">
              <a:buNone/>
            </a:pPr>
            <a:r>
              <a:rPr lang="en-US" sz="950" dirty="0">
                <a:solidFill>
                  <a:srgbClr val="E69F00"/>
                </a:solidFill>
                <a:latin typeface="Calibri" pitchFamily="34" charset="0"/>
                <a:ea typeface="Calibri" pitchFamily="34" charset="-122"/>
                <a:cs typeface="Calibri" pitchFamily="34" charset="-120"/>
              </a:rPr>
              <a:t>NoPE</a:t>
            </a:r>
            <a:endParaRPr lang="en-US" sz="950" dirty="0"/>
          </a:p>
        </p:txBody>
      </p:sp>
      <p:sp>
        <p:nvSpPr>
          <p:cNvPr id="40" name="Shape 38"/>
          <p:cNvSpPr/>
          <p:nvPr/>
        </p:nvSpPr>
        <p:spPr>
          <a:xfrm>
            <a:off x="4242816" y="2670048"/>
            <a:ext cx="914400" cy="384048"/>
          </a:xfrm>
          <a:prstGeom prst="rect">
            <a:avLst/>
          </a:prstGeom>
          <a:solidFill>
            <a:srgbClr val="F4F7F9"/>
          </a:solidFill>
          <a:ln/>
        </p:spPr>
      </p:sp>
      <p:sp>
        <p:nvSpPr>
          <p:cNvPr id="41" name="Text 39"/>
          <p:cNvSpPr txBox="1"/>
          <p:nvPr/>
        </p:nvSpPr>
        <p:spPr>
          <a:xfrm>
            <a:off x="4242816" y="2670048"/>
            <a:ext cx="914400" cy="384048"/>
          </a:xfrm>
          <a:prstGeom prst="rect">
            <a:avLst/>
          </a:prstGeom>
          <a:noFill/>
          <a:ln/>
        </p:spPr>
        <p:txBody>
          <a:bodyPr wrap="square" lIns="0" tIns="0" rIns="0" bIns="0" rtlCol="0" anchor="ctr"/>
          <a:lstStyle/>
          <a:p>
            <a:pPr marL="0" indent="0" algn="ctr">
              <a:buNone/>
            </a:pPr>
            <a:r>
              <a:rPr lang="en-US" sz="950" dirty="0">
                <a:solidFill>
                  <a:srgbClr val="CC79A7"/>
                </a:solidFill>
                <a:latin typeface="Calibri" pitchFamily="34" charset="0"/>
                <a:ea typeface="Calibri" pitchFamily="34" charset="-122"/>
                <a:cs typeface="Calibri" pitchFamily="34" charset="-120"/>
              </a:rPr>
              <a:t>Learned</a:t>
            </a:r>
            <a:endParaRPr lang="en-US" sz="950" dirty="0"/>
          </a:p>
        </p:txBody>
      </p:sp>
      <p:sp>
        <p:nvSpPr>
          <p:cNvPr id="42" name="Shape 40"/>
          <p:cNvSpPr/>
          <p:nvPr/>
        </p:nvSpPr>
        <p:spPr>
          <a:xfrm>
            <a:off x="5212080" y="2670048"/>
            <a:ext cx="914400" cy="384048"/>
          </a:xfrm>
          <a:prstGeom prst="rect">
            <a:avLst/>
          </a:prstGeom>
          <a:solidFill>
            <a:srgbClr val="F4F7F9"/>
          </a:solidFill>
          <a:ln/>
        </p:spPr>
      </p:sp>
      <p:sp>
        <p:nvSpPr>
          <p:cNvPr id="43" name="Text 41"/>
          <p:cNvSpPr txBox="1"/>
          <p:nvPr/>
        </p:nvSpPr>
        <p:spPr>
          <a:xfrm>
            <a:off x="5212080" y="2670048"/>
            <a:ext cx="914400" cy="384048"/>
          </a:xfrm>
          <a:prstGeom prst="rect">
            <a:avLst/>
          </a:prstGeom>
          <a:noFill/>
          <a:ln/>
        </p:spPr>
        <p:txBody>
          <a:bodyPr wrap="square" lIns="0" tIns="0" rIns="0" bIns="0" rtlCol="0" anchor="ctr"/>
          <a:lstStyle/>
          <a:p>
            <a:pPr marL="0" indent="0" algn="ctr">
              <a:buNone/>
            </a:pPr>
            <a:r>
              <a:rPr lang="en-US" sz="950" dirty="0">
                <a:solidFill>
                  <a:srgbClr val="D55E00"/>
                </a:solidFill>
                <a:latin typeface="Calibri" pitchFamily="34" charset="0"/>
                <a:ea typeface="Calibri" pitchFamily="34" charset="-122"/>
                <a:cs typeface="Calibri" pitchFamily="34" charset="-120"/>
              </a:rPr>
              <a:t>Sinusoidal</a:t>
            </a:r>
            <a:endParaRPr lang="en-US" sz="950" dirty="0"/>
          </a:p>
        </p:txBody>
      </p:sp>
      <p:sp>
        <p:nvSpPr>
          <p:cNvPr id="44" name="Text 42"/>
          <p:cNvSpPr txBox="1"/>
          <p:nvPr/>
        </p:nvSpPr>
        <p:spPr>
          <a:xfrm>
            <a:off x="548640" y="3127248"/>
            <a:ext cx="731520" cy="384048"/>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2027</a:t>
            </a:r>
            <a:endParaRPr lang="en-US" sz="1100" dirty="0"/>
          </a:p>
        </p:txBody>
      </p:sp>
      <p:sp>
        <p:nvSpPr>
          <p:cNvPr id="45" name="Shape 43"/>
          <p:cNvSpPr/>
          <p:nvPr/>
        </p:nvSpPr>
        <p:spPr>
          <a:xfrm>
            <a:off x="1335024" y="3127248"/>
            <a:ext cx="914400" cy="384048"/>
          </a:xfrm>
          <a:prstGeom prst="rect">
            <a:avLst/>
          </a:prstGeom>
          <a:solidFill>
            <a:srgbClr val="E6F5EF"/>
          </a:solidFill>
          <a:ln w="15240">
            <a:solidFill>
              <a:srgbClr val="009E73"/>
            </a:solidFill>
            <a:prstDash val="solid"/>
          </a:ln>
        </p:spPr>
      </p:sp>
      <p:sp>
        <p:nvSpPr>
          <p:cNvPr id="46" name="Text 44"/>
          <p:cNvSpPr txBox="1"/>
          <p:nvPr/>
        </p:nvSpPr>
        <p:spPr>
          <a:xfrm>
            <a:off x="1335024" y="3127248"/>
            <a:ext cx="914400" cy="384048"/>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47" name="Shape 45"/>
          <p:cNvSpPr/>
          <p:nvPr/>
        </p:nvSpPr>
        <p:spPr>
          <a:xfrm>
            <a:off x="2304288" y="3127248"/>
            <a:ext cx="914400" cy="384048"/>
          </a:xfrm>
          <a:prstGeom prst="rect">
            <a:avLst/>
          </a:prstGeom>
          <a:solidFill>
            <a:srgbClr val="F4F7F9"/>
          </a:solidFill>
          <a:ln/>
        </p:spPr>
      </p:sp>
      <p:sp>
        <p:nvSpPr>
          <p:cNvPr id="48" name="Text 46"/>
          <p:cNvSpPr txBox="1"/>
          <p:nvPr/>
        </p:nvSpPr>
        <p:spPr>
          <a:xfrm>
            <a:off x="2304288" y="3127248"/>
            <a:ext cx="914400" cy="384048"/>
          </a:xfrm>
          <a:prstGeom prst="rect">
            <a:avLst/>
          </a:prstGeom>
          <a:noFill/>
          <a:ln/>
        </p:spPr>
        <p:txBody>
          <a:bodyPr wrap="square" lIns="0" tIns="0" rIns="0" bIns="0" rtlCol="0" anchor="ctr"/>
          <a:lstStyle/>
          <a:p>
            <a:pPr marL="0" indent="0" algn="ctr">
              <a:buNone/>
            </a:pPr>
            <a:r>
              <a:rPr lang="en-US" sz="950" dirty="0">
                <a:solidFill>
                  <a:srgbClr val="0072B2"/>
                </a:solidFill>
                <a:latin typeface="Calibri" pitchFamily="34" charset="0"/>
                <a:ea typeface="Calibri" pitchFamily="34" charset="-122"/>
                <a:cs typeface="Calibri" pitchFamily="34" charset="-120"/>
              </a:rPr>
              <a:t>RoPE</a:t>
            </a:r>
            <a:endParaRPr lang="en-US" sz="950" dirty="0"/>
          </a:p>
        </p:txBody>
      </p:sp>
      <p:sp>
        <p:nvSpPr>
          <p:cNvPr id="49" name="Shape 47"/>
          <p:cNvSpPr/>
          <p:nvPr/>
        </p:nvSpPr>
        <p:spPr>
          <a:xfrm>
            <a:off x="3273552" y="3127248"/>
            <a:ext cx="914400" cy="384048"/>
          </a:xfrm>
          <a:prstGeom prst="rect">
            <a:avLst/>
          </a:prstGeom>
          <a:solidFill>
            <a:srgbClr val="F4F7F9"/>
          </a:solidFill>
          <a:ln/>
        </p:spPr>
      </p:sp>
      <p:sp>
        <p:nvSpPr>
          <p:cNvPr id="50" name="Text 48"/>
          <p:cNvSpPr txBox="1"/>
          <p:nvPr/>
        </p:nvSpPr>
        <p:spPr>
          <a:xfrm>
            <a:off x="3273552" y="3127248"/>
            <a:ext cx="914400" cy="384048"/>
          </a:xfrm>
          <a:prstGeom prst="rect">
            <a:avLst/>
          </a:prstGeom>
          <a:noFill/>
          <a:ln/>
        </p:spPr>
        <p:txBody>
          <a:bodyPr wrap="square" lIns="0" tIns="0" rIns="0" bIns="0" rtlCol="0" anchor="ctr"/>
          <a:lstStyle/>
          <a:p>
            <a:pPr marL="0" indent="0" algn="ctr">
              <a:buNone/>
            </a:pPr>
            <a:r>
              <a:rPr lang="en-US" sz="950" dirty="0">
                <a:solidFill>
                  <a:srgbClr val="E69F00"/>
                </a:solidFill>
                <a:latin typeface="Calibri" pitchFamily="34" charset="0"/>
                <a:ea typeface="Calibri" pitchFamily="34" charset="-122"/>
                <a:cs typeface="Calibri" pitchFamily="34" charset="-120"/>
              </a:rPr>
              <a:t>NoPE</a:t>
            </a:r>
            <a:endParaRPr lang="en-US" sz="950" dirty="0"/>
          </a:p>
        </p:txBody>
      </p:sp>
      <p:sp>
        <p:nvSpPr>
          <p:cNvPr id="51" name="Shape 49"/>
          <p:cNvSpPr/>
          <p:nvPr/>
        </p:nvSpPr>
        <p:spPr>
          <a:xfrm>
            <a:off x="4242816" y="3127248"/>
            <a:ext cx="914400" cy="384048"/>
          </a:xfrm>
          <a:prstGeom prst="rect">
            <a:avLst/>
          </a:prstGeom>
          <a:solidFill>
            <a:srgbClr val="F4F7F9"/>
          </a:solidFill>
          <a:ln/>
        </p:spPr>
      </p:sp>
      <p:sp>
        <p:nvSpPr>
          <p:cNvPr id="52" name="Text 50"/>
          <p:cNvSpPr txBox="1"/>
          <p:nvPr/>
        </p:nvSpPr>
        <p:spPr>
          <a:xfrm>
            <a:off x="4242816" y="3127248"/>
            <a:ext cx="914400" cy="384048"/>
          </a:xfrm>
          <a:prstGeom prst="rect">
            <a:avLst/>
          </a:prstGeom>
          <a:noFill/>
          <a:ln/>
        </p:spPr>
        <p:txBody>
          <a:bodyPr wrap="square" lIns="0" tIns="0" rIns="0" bIns="0" rtlCol="0" anchor="ctr"/>
          <a:lstStyle/>
          <a:p>
            <a:pPr marL="0" indent="0" algn="ctr">
              <a:buNone/>
            </a:pPr>
            <a:r>
              <a:rPr lang="en-US" sz="950" dirty="0">
                <a:solidFill>
                  <a:srgbClr val="CC79A7"/>
                </a:solidFill>
                <a:latin typeface="Calibri" pitchFamily="34" charset="0"/>
                <a:ea typeface="Calibri" pitchFamily="34" charset="-122"/>
                <a:cs typeface="Calibri" pitchFamily="34" charset="-120"/>
              </a:rPr>
              <a:t>Learned</a:t>
            </a:r>
            <a:endParaRPr lang="en-US" sz="950" dirty="0"/>
          </a:p>
        </p:txBody>
      </p:sp>
      <p:sp>
        <p:nvSpPr>
          <p:cNvPr id="53" name="Shape 51"/>
          <p:cNvSpPr/>
          <p:nvPr/>
        </p:nvSpPr>
        <p:spPr>
          <a:xfrm>
            <a:off x="5212080" y="3127248"/>
            <a:ext cx="914400" cy="384048"/>
          </a:xfrm>
          <a:prstGeom prst="rect">
            <a:avLst/>
          </a:prstGeom>
          <a:solidFill>
            <a:srgbClr val="F4F7F9"/>
          </a:solidFill>
          <a:ln/>
        </p:spPr>
      </p:sp>
      <p:sp>
        <p:nvSpPr>
          <p:cNvPr id="54" name="Text 52"/>
          <p:cNvSpPr txBox="1"/>
          <p:nvPr/>
        </p:nvSpPr>
        <p:spPr>
          <a:xfrm>
            <a:off x="5212080" y="3127248"/>
            <a:ext cx="914400" cy="384048"/>
          </a:xfrm>
          <a:prstGeom prst="rect">
            <a:avLst/>
          </a:prstGeom>
          <a:noFill/>
          <a:ln/>
        </p:spPr>
        <p:txBody>
          <a:bodyPr wrap="square" lIns="0" tIns="0" rIns="0" bIns="0" rtlCol="0" anchor="ctr"/>
          <a:lstStyle/>
          <a:p>
            <a:pPr marL="0" indent="0" algn="ctr">
              <a:buNone/>
            </a:pPr>
            <a:r>
              <a:rPr lang="en-US" sz="950" dirty="0">
                <a:solidFill>
                  <a:srgbClr val="D55E00"/>
                </a:solidFill>
                <a:latin typeface="Calibri" pitchFamily="34" charset="0"/>
                <a:ea typeface="Calibri" pitchFamily="34" charset="-122"/>
                <a:cs typeface="Calibri" pitchFamily="34" charset="-120"/>
              </a:rPr>
              <a:t>Sinusoidal</a:t>
            </a:r>
            <a:endParaRPr lang="en-US" sz="950" dirty="0"/>
          </a:p>
        </p:txBody>
      </p:sp>
      <p:sp>
        <p:nvSpPr>
          <p:cNvPr id="55" name="Text 53"/>
          <p:cNvSpPr txBox="1"/>
          <p:nvPr/>
        </p:nvSpPr>
        <p:spPr>
          <a:xfrm>
            <a:off x="548640" y="3584448"/>
            <a:ext cx="731520" cy="384048"/>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5003</a:t>
            </a:r>
            <a:endParaRPr lang="en-US" sz="1100" dirty="0"/>
          </a:p>
        </p:txBody>
      </p:sp>
      <p:sp>
        <p:nvSpPr>
          <p:cNvPr id="56" name="Shape 54"/>
          <p:cNvSpPr/>
          <p:nvPr/>
        </p:nvSpPr>
        <p:spPr>
          <a:xfrm>
            <a:off x="1335024" y="3584448"/>
            <a:ext cx="914400" cy="384048"/>
          </a:xfrm>
          <a:prstGeom prst="rect">
            <a:avLst/>
          </a:prstGeom>
          <a:solidFill>
            <a:srgbClr val="E6F5EF"/>
          </a:solidFill>
          <a:ln w="15240">
            <a:solidFill>
              <a:srgbClr val="009E73"/>
            </a:solidFill>
            <a:prstDash val="solid"/>
          </a:ln>
        </p:spPr>
      </p:sp>
      <p:sp>
        <p:nvSpPr>
          <p:cNvPr id="57" name="Text 55"/>
          <p:cNvSpPr txBox="1"/>
          <p:nvPr/>
        </p:nvSpPr>
        <p:spPr>
          <a:xfrm>
            <a:off x="1335024" y="3584448"/>
            <a:ext cx="914400" cy="384048"/>
          </a:xfrm>
          <a:prstGeom prst="rect">
            <a:avLst/>
          </a:prstGeom>
          <a:noFill/>
          <a:ln/>
        </p:spPr>
        <p:txBody>
          <a:bodyPr wrap="square" lIns="0" tIns="0" rIns="0" bIns="0" rtlCol="0" anchor="ctr"/>
          <a:lstStyle/>
          <a:p>
            <a:pPr marL="0" indent="0" algn="ctr">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58" name="Shape 56"/>
          <p:cNvSpPr/>
          <p:nvPr/>
        </p:nvSpPr>
        <p:spPr>
          <a:xfrm>
            <a:off x="2304288" y="3584448"/>
            <a:ext cx="914400" cy="384048"/>
          </a:xfrm>
          <a:prstGeom prst="rect">
            <a:avLst/>
          </a:prstGeom>
          <a:solidFill>
            <a:srgbClr val="F4F7F9"/>
          </a:solidFill>
          <a:ln/>
        </p:spPr>
      </p:sp>
      <p:sp>
        <p:nvSpPr>
          <p:cNvPr id="59" name="Text 57"/>
          <p:cNvSpPr txBox="1"/>
          <p:nvPr/>
        </p:nvSpPr>
        <p:spPr>
          <a:xfrm>
            <a:off x="2304288" y="3584448"/>
            <a:ext cx="914400" cy="384048"/>
          </a:xfrm>
          <a:prstGeom prst="rect">
            <a:avLst/>
          </a:prstGeom>
          <a:noFill/>
          <a:ln/>
        </p:spPr>
        <p:txBody>
          <a:bodyPr wrap="square" lIns="0" tIns="0" rIns="0" bIns="0" rtlCol="0" anchor="ctr"/>
          <a:lstStyle/>
          <a:p>
            <a:pPr marL="0" indent="0" algn="ctr">
              <a:buNone/>
            </a:pPr>
            <a:r>
              <a:rPr lang="en-US" sz="950" dirty="0">
                <a:solidFill>
                  <a:srgbClr val="0072B2"/>
                </a:solidFill>
                <a:latin typeface="Calibri" pitchFamily="34" charset="0"/>
                <a:ea typeface="Calibri" pitchFamily="34" charset="-122"/>
                <a:cs typeface="Calibri" pitchFamily="34" charset="-120"/>
              </a:rPr>
              <a:t>RoPE</a:t>
            </a:r>
            <a:endParaRPr lang="en-US" sz="950" dirty="0"/>
          </a:p>
        </p:txBody>
      </p:sp>
      <p:sp>
        <p:nvSpPr>
          <p:cNvPr id="60" name="Shape 58"/>
          <p:cNvSpPr/>
          <p:nvPr/>
        </p:nvSpPr>
        <p:spPr>
          <a:xfrm>
            <a:off x="3273552" y="3584448"/>
            <a:ext cx="914400" cy="384048"/>
          </a:xfrm>
          <a:prstGeom prst="rect">
            <a:avLst/>
          </a:prstGeom>
          <a:solidFill>
            <a:srgbClr val="F4F7F9"/>
          </a:solidFill>
          <a:ln/>
        </p:spPr>
      </p:sp>
      <p:sp>
        <p:nvSpPr>
          <p:cNvPr id="61" name="Text 59"/>
          <p:cNvSpPr txBox="1"/>
          <p:nvPr/>
        </p:nvSpPr>
        <p:spPr>
          <a:xfrm>
            <a:off x="3273552" y="3584448"/>
            <a:ext cx="914400" cy="384048"/>
          </a:xfrm>
          <a:prstGeom prst="rect">
            <a:avLst/>
          </a:prstGeom>
          <a:noFill/>
          <a:ln/>
        </p:spPr>
        <p:txBody>
          <a:bodyPr wrap="square" lIns="0" tIns="0" rIns="0" bIns="0" rtlCol="0" anchor="ctr"/>
          <a:lstStyle/>
          <a:p>
            <a:pPr marL="0" indent="0" algn="ctr">
              <a:buNone/>
            </a:pPr>
            <a:r>
              <a:rPr lang="en-US" sz="950" dirty="0">
                <a:solidFill>
                  <a:srgbClr val="E69F00"/>
                </a:solidFill>
                <a:latin typeface="Calibri" pitchFamily="34" charset="0"/>
                <a:ea typeface="Calibri" pitchFamily="34" charset="-122"/>
                <a:cs typeface="Calibri" pitchFamily="34" charset="-120"/>
              </a:rPr>
              <a:t>NoPE</a:t>
            </a:r>
            <a:endParaRPr lang="en-US" sz="950" dirty="0"/>
          </a:p>
        </p:txBody>
      </p:sp>
      <p:sp>
        <p:nvSpPr>
          <p:cNvPr id="62" name="Shape 60"/>
          <p:cNvSpPr/>
          <p:nvPr/>
        </p:nvSpPr>
        <p:spPr>
          <a:xfrm>
            <a:off x="4242816" y="3584448"/>
            <a:ext cx="914400" cy="384048"/>
          </a:xfrm>
          <a:prstGeom prst="rect">
            <a:avLst/>
          </a:prstGeom>
          <a:solidFill>
            <a:srgbClr val="F4F7F9"/>
          </a:solidFill>
          <a:ln/>
        </p:spPr>
      </p:sp>
      <p:sp>
        <p:nvSpPr>
          <p:cNvPr id="63" name="Text 61"/>
          <p:cNvSpPr txBox="1"/>
          <p:nvPr/>
        </p:nvSpPr>
        <p:spPr>
          <a:xfrm>
            <a:off x="4242816" y="3584448"/>
            <a:ext cx="914400" cy="384048"/>
          </a:xfrm>
          <a:prstGeom prst="rect">
            <a:avLst/>
          </a:prstGeom>
          <a:noFill/>
          <a:ln/>
        </p:spPr>
        <p:txBody>
          <a:bodyPr wrap="square" lIns="0" tIns="0" rIns="0" bIns="0" rtlCol="0" anchor="ctr"/>
          <a:lstStyle/>
          <a:p>
            <a:pPr marL="0" indent="0" algn="ctr">
              <a:buNone/>
            </a:pPr>
            <a:r>
              <a:rPr lang="en-US" sz="950" dirty="0">
                <a:solidFill>
                  <a:srgbClr val="CC79A7"/>
                </a:solidFill>
                <a:latin typeface="Calibri" pitchFamily="34" charset="0"/>
                <a:ea typeface="Calibri" pitchFamily="34" charset="-122"/>
                <a:cs typeface="Calibri" pitchFamily="34" charset="-120"/>
              </a:rPr>
              <a:t>Learned</a:t>
            </a:r>
            <a:endParaRPr lang="en-US" sz="950" dirty="0"/>
          </a:p>
        </p:txBody>
      </p:sp>
      <p:sp>
        <p:nvSpPr>
          <p:cNvPr id="64" name="Shape 62"/>
          <p:cNvSpPr/>
          <p:nvPr/>
        </p:nvSpPr>
        <p:spPr>
          <a:xfrm>
            <a:off x="5212080" y="3584448"/>
            <a:ext cx="914400" cy="384048"/>
          </a:xfrm>
          <a:prstGeom prst="rect">
            <a:avLst/>
          </a:prstGeom>
          <a:solidFill>
            <a:srgbClr val="F4F7F9"/>
          </a:solidFill>
          <a:ln/>
        </p:spPr>
      </p:sp>
      <p:sp>
        <p:nvSpPr>
          <p:cNvPr id="65" name="Text 63"/>
          <p:cNvSpPr txBox="1"/>
          <p:nvPr/>
        </p:nvSpPr>
        <p:spPr>
          <a:xfrm>
            <a:off x="5212080" y="3584448"/>
            <a:ext cx="914400" cy="384048"/>
          </a:xfrm>
          <a:prstGeom prst="rect">
            <a:avLst/>
          </a:prstGeom>
          <a:noFill/>
          <a:ln/>
        </p:spPr>
        <p:txBody>
          <a:bodyPr wrap="square" lIns="0" tIns="0" rIns="0" bIns="0" rtlCol="0" anchor="ctr"/>
          <a:lstStyle/>
          <a:p>
            <a:pPr marL="0" indent="0" algn="ctr">
              <a:buNone/>
            </a:pPr>
            <a:r>
              <a:rPr lang="en-US" sz="950" dirty="0">
                <a:solidFill>
                  <a:srgbClr val="D55E00"/>
                </a:solidFill>
                <a:latin typeface="Calibri" pitchFamily="34" charset="0"/>
                <a:ea typeface="Calibri" pitchFamily="34" charset="-122"/>
                <a:cs typeface="Calibri" pitchFamily="34" charset="-120"/>
              </a:rPr>
              <a:t>Sinusoidal</a:t>
            </a:r>
            <a:endParaRPr lang="en-US" sz="950" dirty="0"/>
          </a:p>
        </p:txBody>
      </p:sp>
      <p:sp>
        <p:nvSpPr>
          <p:cNvPr id="66" name="Text 64"/>
          <p:cNvSpPr txBox="1"/>
          <p:nvPr/>
        </p:nvSpPr>
        <p:spPr>
          <a:xfrm>
            <a:off x="548640" y="4096512"/>
            <a:ext cx="5486400" cy="274320"/>
          </a:xfrm>
          <a:prstGeom prst="rect">
            <a:avLst/>
          </a:prstGeom>
          <a:noFill/>
          <a:ln/>
        </p:spPr>
        <p:txBody>
          <a:bodyPr wrap="square" lIns="0" tIns="0" rIns="0" bIns="0" rtlCol="0" anchor="ctr"/>
          <a:lstStyle/>
          <a:p>
            <a:pPr marL="0" indent="0">
              <a:buNone/>
            </a:pPr>
            <a:r>
              <a:rPr lang="en-US" sz="1100" b="1" dirty="0">
                <a:solidFill>
                  <a:srgbClr val="009E73"/>
                </a:solidFill>
                <a:latin typeface="Calibri" pitchFamily="34" charset="0"/>
                <a:ea typeface="Calibri" pitchFamily="34" charset="-122"/>
                <a:cs typeface="Calibri" pitchFamily="34" charset="-120"/>
              </a:rPr>
              <a:t>Sıralama beş seed-in heç birində dəyişmir — ALiBi 5/5 halda birincidir.</a:t>
            </a:r>
            <a:endParaRPr lang="en-US" sz="1100" dirty="0"/>
          </a:p>
        </p:txBody>
      </p:sp>
      <p:sp>
        <p:nvSpPr>
          <p:cNvPr id="67" name="Text 65"/>
          <p:cNvSpPr txBox="1"/>
          <p:nvPr/>
        </p:nvSpPr>
        <p:spPr>
          <a:xfrm>
            <a:off x="6272784" y="1188720"/>
            <a:ext cx="5367528"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ALiBi  −  DİGƏR METODLAR</a:t>
            </a:r>
            <a:endParaRPr lang="en-US" sz="1050" dirty="0"/>
          </a:p>
        </p:txBody>
      </p:sp>
      <p:pic>
        <p:nvPicPr>
          <p:cNvPr id="68" name="Image 0" descr="/home/claude/assets/fig_forest.png"/>
          <p:cNvPicPr>
            <a:picLocks noChangeAspect="1"/>
          </p:cNvPicPr>
          <p:nvPr/>
        </p:nvPicPr>
        <p:blipFill>
          <a:blip r:embed="rId3"/>
          <a:stretch>
            <a:fillRect/>
          </a:stretch>
        </p:blipFill>
        <p:spPr>
          <a:xfrm>
            <a:off x="6144768" y="1426464"/>
            <a:ext cx="5495544" cy="2414016"/>
          </a:xfrm>
          <a:prstGeom prst="rect">
            <a:avLst/>
          </a:prstGeom>
        </p:spPr>
      </p:pic>
      <p:sp>
        <p:nvSpPr>
          <p:cNvPr id="69" name="Text 66"/>
          <p:cNvSpPr txBox="1"/>
          <p:nvPr/>
        </p:nvSpPr>
        <p:spPr>
          <a:xfrm>
            <a:off x="6272784" y="3895344"/>
            <a:ext cx="5367528" cy="274320"/>
          </a:xfrm>
          <a:prstGeom prst="rect">
            <a:avLst/>
          </a:prstGeom>
          <a:noFill/>
          <a:ln/>
        </p:spPr>
        <p:txBody>
          <a:bodyPr wrap="square" lIns="0" tIns="0" rIns="0" bIns="0" rtlCol="0" anchor="ctr"/>
          <a:lstStyle/>
          <a:p>
            <a:pPr marL="0" indent="0">
              <a:buNone/>
            </a:pPr>
            <a:r>
              <a:rPr lang="en-US" sz="900" i="1" dirty="0">
                <a:solidFill>
                  <a:srgbClr val="5F7082"/>
                </a:solidFill>
                <a:latin typeface="Calibri" pitchFamily="34" charset="0"/>
                <a:ea typeface="Calibri" pitchFamily="34" charset="-122"/>
                <a:cs typeface="Calibri" pitchFamily="34" charset="-120"/>
              </a:rPr>
              <a:t>Romb: orta fərq  ·  zolaq: 95% conditional bootstrap CI  ·  bütün intervallar sıfırı istisna edir.</a:t>
            </a:r>
            <a:endParaRPr lang="en-US" sz="900" dirty="0"/>
          </a:p>
        </p:txBody>
      </p:sp>
      <p:sp>
        <p:nvSpPr>
          <p:cNvPr id="70" name="Text 67"/>
          <p:cNvSpPr txBox="1"/>
          <p:nvPr/>
        </p:nvSpPr>
        <p:spPr>
          <a:xfrm>
            <a:off x="548640" y="4443984"/>
            <a:ext cx="1106424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ƏN YAXIN RƏQİB: ALiBi vs RoPE</a:t>
            </a:r>
            <a:endParaRPr lang="en-US" sz="1050" dirty="0"/>
          </a:p>
        </p:txBody>
      </p:sp>
      <p:sp>
        <p:nvSpPr>
          <p:cNvPr id="71" name="Shape 68"/>
          <p:cNvSpPr/>
          <p:nvPr/>
        </p:nvSpPr>
        <p:spPr>
          <a:xfrm>
            <a:off x="548640" y="4736592"/>
            <a:ext cx="2084832" cy="841248"/>
          </a:xfrm>
          <a:prstGeom prst="roundRect">
            <a:avLst>
              <a:gd name="adj" fmla="val 7609"/>
            </a:avLst>
          </a:prstGeom>
          <a:solidFill>
            <a:srgbClr val="F4F7F9"/>
          </a:solidFill>
          <a:ln/>
        </p:spPr>
      </p:sp>
      <p:sp>
        <p:nvSpPr>
          <p:cNvPr id="72" name="Text 69"/>
          <p:cNvSpPr txBox="1"/>
          <p:nvPr/>
        </p:nvSpPr>
        <p:spPr>
          <a:xfrm>
            <a:off x="676656" y="4809744"/>
            <a:ext cx="1828800" cy="219456"/>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ΔNLL</a:t>
            </a:r>
            <a:endParaRPr lang="en-US" sz="850" dirty="0"/>
          </a:p>
        </p:txBody>
      </p:sp>
      <p:sp>
        <p:nvSpPr>
          <p:cNvPr id="73" name="Text 70"/>
          <p:cNvSpPr txBox="1"/>
          <p:nvPr/>
        </p:nvSpPr>
        <p:spPr>
          <a:xfrm>
            <a:off x="676656" y="5029200"/>
            <a:ext cx="1828800" cy="457200"/>
          </a:xfrm>
          <a:prstGeom prst="rect">
            <a:avLst/>
          </a:prstGeom>
          <a:noFill/>
          <a:ln/>
        </p:spPr>
        <p:txBody>
          <a:bodyPr wrap="square" lIns="0" tIns="0" rIns="0" bIns="0" rtlCol="0" anchor="ctr"/>
          <a:lstStyle/>
          <a:p>
            <a:pPr marL="0" indent="0">
              <a:buNone/>
            </a:pPr>
            <a:r>
              <a:rPr lang="en-US" sz="1250" b="1" dirty="0">
                <a:solidFill>
                  <a:srgbClr val="12324F"/>
                </a:solidFill>
                <a:latin typeface="Cambria" pitchFamily="34" charset="0"/>
                <a:ea typeface="Cambria" pitchFamily="34" charset="-122"/>
                <a:cs typeface="Cambria" pitchFamily="34" charset="-120"/>
              </a:rPr>
              <a:t>−0.098825</a:t>
            </a:r>
            <a:endParaRPr lang="en-US" sz="1250" dirty="0"/>
          </a:p>
        </p:txBody>
      </p:sp>
      <p:sp>
        <p:nvSpPr>
          <p:cNvPr id="74" name="Shape 71"/>
          <p:cNvSpPr/>
          <p:nvPr/>
        </p:nvSpPr>
        <p:spPr>
          <a:xfrm>
            <a:off x="2798064" y="4736592"/>
            <a:ext cx="2084832" cy="841248"/>
          </a:xfrm>
          <a:prstGeom prst="roundRect">
            <a:avLst>
              <a:gd name="adj" fmla="val 7609"/>
            </a:avLst>
          </a:prstGeom>
          <a:solidFill>
            <a:srgbClr val="F4F7F9"/>
          </a:solidFill>
          <a:ln/>
        </p:spPr>
      </p:sp>
      <p:sp>
        <p:nvSpPr>
          <p:cNvPr id="75" name="Text 72"/>
          <p:cNvSpPr txBox="1"/>
          <p:nvPr/>
        </p:nvSpPr>
        <p:spPr>
          <a:xfrm>
            <a:off x="2926080" y="4809744"/>
            <a:ext cx="1828800" cy="219456"/>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95% conditional CI</a:t>
            </a:r>
            <a:endParaRPr lang="en-US" sz="850" dirty="0"/>
          </a:p>
        </p:txBody>
      </p:sp>
      <p:sp>
        <p:nvSpPr>
          <p:cNvPr id="76" name="Text 73"/>
          <p:cNvSpPr txBox="1"/>
          <p:nvPr/>
        </p:nvSpPr>
        <p:spPr>
          <a:xfrm>
            <a:off x="2926080" y="5029200"/>
            <a:ext cx="1828800" cy="457200"/>
          </a:xfrm>
          <a:prstGeom prst="rect">
            <a:avLst/>
          </a:prstGeom>
          <a:noFill/>
          <a:ln/>
        </p:spPr>
        <p:txBody>
          <a:bodyPr wrap="square" lIns="0" tIns="0" rIns="0" bIns="0" rtlCol="0" anchor="ctr"/>
          <a:lstStyle/>
          <a:p>
            <a:pPr marL="0" indent="0">
              <a:buNone/>
            </a:pPr>
            <a:r>
              <a:rPr lang="en-US" sz="1250" b="1" dirty="0">
                <a:solidFill>
                  <a:srgbClr val="12324F"/>
                </a:solidFill>
                <a:latin typeface="Cambria" pitchFamily="34" charset="0"/>
                <a:ea typeface="Cambria" pitchFamily="34" charset="-122"/>
                <a:cs typeface="Cambria" pitchFamily="34" charset="-120"/>
              </a:rPr>
              <a:t>[−0.100657, −0.095834]</a:t>
            </a:r>
            <a:endParaRPr lang="en-US" sz="1250" dirty="0"/>
          </a:p>
        </p:txBody>
      </p:sp>
      <p:sp>
        <p:nvSpPr>
          <p:cNvPr id="77" name="Shape 74"/>
          <p:cNvSpPr/>
          <p:nvPr/>
        </p:nvSpPr>
        <p:spPr>
          <a:xfrm>
            <a:off x="5047488" y="4736592"/>
            <a:ext cx="2084832" cy="841248"/>
          </a:xfrm>
          <a:prstGeom prst="roundRect">
            <a:avLst>
              <a:gd name="adj" fmla="val 7609"/>
            </a:avLst>
          </a:prstGeom>
          <a:solidFill>
            <a:srgbClr val="F4F7F9"/>
          </a:solidFill>
          <a:ln/>
        </p:spPr>
      </p:sp>
      <p:sp>
        <p:nvSpPr>
          <p:cNvPr id="78" name="Text 75"/>
          <p:cNvSpPr txBox="1"/>
          <p:nvPr/>
        </p:nvSpPr>
        <p:spPr>
          <a:xfrm>
            <a:off x="5175504" y="4809744"/>
            <a:ext cx="1828800" cy="219456"/>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nisbi PPL dəyişimi</a:t>
            </a:r>
            <a:endParaRPr lang="en-US" sz="850" dirty="0"/>
          </a:p>
        </p:txBody>
      </p:sp>
      <p:sp>
        <p:nvSpPr>
          <p:cNvPr id="79" name="Text 76"/>
          <p:cNvSpPr txBox="1"/>
          <p:nvPr/>
        </p:nvSpPr>
        <p:spPr>
          <a:xfrm>
            <a:off x="5175504" y="5029200"/>
            <a:ext cx="1828800" cy="457200"/>
          </a:xfrm>
          <a:prstGeom prst="rect">
            <a:avLst/>
          </a:prstGeom>
          <a:noFill/>
          <a:ln/>
        </p:spPr>
        <p:txBody>
          <a:bodyPr wrap="square" lIns="0" tIns="0" rIns="0" bIns="0" rtlCol="0" anchor="ctr"/>
          <a:lstStyle/>
          <a:p>
            <a:pPr marL="0" indent="0">
              <a:buNone/>
            </a:pPr>
            <a:r>
              <a:rPr lang="en-US" sz="1250" b="1" dirty="0">
                <a:solidFill>
                  <a:srgbClr val="12324F"/>
                </a:solidFill>
                <a:latin typeface="Cambria" pitchFamily="34" charset="0"/>
                <a:ea typeface="Cambria" pitchFamily="34" charset="-122"/>
                <a:cs typeface="Cambria" pitchFamily="34" charset="-120"/>
              </a:rPr>
              <a:t>−9.41%</a:t>
            </a:r>
            <a:endParaRPr lang="en-US" sz="1250" dirty="0"/>
          </a:p>
        </p:txBody>
      </p:sp>
      <p:sp>
        <p:nvSpPr>
          <p:cNvPr id="80" name="Shape 77"/>
          <p:cNvSpPr/>
          <p:nvPr/>
        </p:nvSpPr>
        <p:spPr>
          <a:xfrm>
            <a:off x="7296912" y="4736592"/>
            <a:ext cx="2084832" cy="841248"/>
          </a:xfrm>
          <a:prstGeom prst="roundRect">
            <a:avLst>
              <a:gd name="adj" fmla="val 7609"/>
            </a:avLst>
          </a:prstGeom>
          <a:solidFill>
            <a:srgbClr val="F4F7F9"/>
          </a:solidFill>
          <a:ln/>
        </p:spPr>
      </p:sp>
      <p:sp>
        <p:nvSpPr>
          <p:cNvPr id="81" name="Text 78"/>
          <p:cNvSpPr txBox="1"/>
          <p:nvPr/>
        </p:nvSpPr>
        <p:spPr>
          <a:xfrm>
            <a:off x="7424928" y="4809744"/>
            <a:ext cx="1828800" cy="219456"/>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Holm düzəlişli p</a:t>
            </a:r>
            <a:endParaRPr lang="en-US" sz="850" dirty="0"/>
          </a:p>
        </p:txBody>
      </p:sp>
      <p:sp>
        <p:nvSpPr>
          <p:cNvPr id="82" name="Text 79"/>
          <p:cNvSpPr txBox="1"/>
          <p:nvPr/>
        </p:nvSpPr>
        <p:spPr>
          <a:xfrm>
            <a:off x="7424928" y="5029200"/>
            <a:ext cx="1828800" cy="457200"/>
          </a:xfrm>
          <a:prstGeom prst="rect">
            <a:avLst/>
          </a:prstGeom>
          <a:noFill/>
          <a:ln/>
        </p:spPr>
        <p:txBody>
          <a:bodyPr wrap="square" lIns="0" tIns="0" rIns="0" bIns="0" rtlCol="0" anchor="ctr"/>
          <a:lstStyle/>
          <a:p>
            <a:pPr marL="0" indent="0">
              <a:buNone/>
            </a:pPr>
            <a:r>
              <a:rPr lang="en-US" sz="1250" b="1" dirty="0">
                <a:solidFill>
                  <a:srgbClr val="12324F"/>
                </a:solidFill>
                <a:latin typeface="Cambria" pitchFamily="34" charset="0"/>
                <a:ea typeface="Cambria" pitchFamily="34" charset="-122"/>
                <a:cs typeface="Cambria" pitchFamily="34" charset="-120"/>
              </a:rPr>
              <a:t>≈ 0.001</a:t>
            </a:r>
            <a:endParaRPr lang="en-US" sz="1250" dirty="0"/>
          </a:p>
        </p:txBody>
      </p:sp>
      <p:sp>
        <p:nvSpPr>
          <p:cNvPr id="83" name="Shape 80"/>
          <p:cNvSpPr/>
          <p:nvPr/>
        </p:nvSpPr>
        <p:spPr>
          <a:xfrm>
            <a:off x="9546336" y="4736592"/>
            <a:ext cx="2084832" cy="841248"/>
          </a:xfrm>
          <a:prstGeom prst="roundRect">
            <a:avLst>
              <a:gd name="adj" fmla="val 7609"/>
            </a:avLst>
          </a:prstGeom>
          <a:solidFill>
            <a:srgbClr val="E6F5EF"/>
          </a:solidFill>
          <a:ln/>
        </p:spPr>
      </p:sp>
      <p:sp>
        <p:nvSpPr>
          <p:cNvPr id="84" name="Text 81"/>
          <p:cNvSpPr txBox="1"/>
          <p:nvPr/>
        </p:nvSpPr>
        <p:spPr>
          <a:xfrm>
            <a:off x="9674352" y="4809744"/>
            <a:ext cx="1828800" cy="219456"/>
          </a:xfrm>
          <a:prstGeom prst="rect">
            <a:avLst/>
          </a:prstGeom>
          <a:noFill/>
          <a:ln/>
        </p:spPr>
        <p:txBody>
          <a:bodyPr wrap="square" lIns="0" tIns="0" rIns="0" bIns="0" rtlCol="0" anchor="ctr"/>
          <a:lstStyle/>
          <a:p>
            <a:pPr marL="0" indent="0">
              <a:buNone/>
            </a:pPr>
            <a:r>
              <a:rPr lang="en-US" sz="850" dirty="0">
                <a:solidFill>
                  <a:srgbClr val="5F7082"/>
                </a:solidFill>
                <a:latin typeface="Calibri" pitchFamily="34" charset="0"/>
                <a:ea typeface="Calibri" pitchFamily="34" charset="-122"/>
                <a:cs typeface="Calibri" pitchFamily="34" charset="-120"/>
              </a:rPr>
              <a:t>seed uyğunluğu</a:t>
            </a:r>
            <a:endParaRPr lang="en-US" sz="850" dirty="0"/>
          </a:p>
        </p:txBody>
      </p:sp>
      <p:sp>
        <p:nvSpPr>
          <p:cNvPr id="85" name="Text 82"/>
          <p:cNvSpPr txBox="1"/>
          <p:nvPr/>
        </p:nvSpPr>
        <p:spPr>
          <a:xfrm>
            <a:off x="9674352" y="5029200"/>
            <a:ext cx="1828800" cy="457200"/>
          </a:xfrm>
          <a:prstGeom prst="rect">
            <a:avLst/>
          </a:prstGeom>
          <a:noFill/>
          <a:ln/>
        </p:spPr>
        <p:txBody>
          <a:bodyPr wrap="square" lIns="0" tIns="0" rIns="0" bIns="0" rtlCol="0" anchor="ctr"/>
          <a:lstStyle/>
          <a:p>
            <a:pPr marL="0" indent="0">
              <a:buNone/>
            </a:pPr>
            <a:r>
              <a:rPr lang="en-US" sz="1250" b="1" dirty="0">
                <a:solidFill>
                  <a:srgbClr val="009E73"/>
                </a:solidFill>
                <a:latin typeface="Cambria" pitchFamily="34" charset="0"/>
                <a:ea typeface="Cambria" pitchFamily="34" charset="-122"/>
                <a:cs typeface="Cambria" pitchFamily="34" charset="-120"/>
              </a:rPr>
              <a:t>5 / 5</a:t>
            </a:r>
            <a:endParaRPr lang="en-US" sz="1250" dirty="0"/>
          </a:p>
        </p:txBody>
      </p:sp>
      <p:sp>
        <p:nvSpPr>
          <p:cNvPr id="86" name="Shape 83"/>
          <p:cNvSpPr/>
          <p:nvPr/>
        </p:nvSpPr>
        <p:spPr>
          <a:xfrm>
            <a:off x="548640" y="5705856"/>
            <a:ext cx="11091672" cy="457200"/>
          </a:xfrm>
          <a:prstGeom prst="roundRect">
            <a:avLst>
              <a:gd name="adj" fmla="val 14000"/>
            </a:avLst>
          </a:prstGeom>
          <a:solidFill>
            <a:srgbClr val="EAF0F4"/>
          </a:solidFill>
          <a:ln/>
        </p:spPr>
      </p:sp>
      <p:sp>
        <p:nvSpPr>
          <p:cNvPr id="87" name="Text 84"/>
          <p:cNvSpPr txBox="1"/>
          <p:nvPr/>
        </p:nvSpPr>
        <p:spPr>
          <a:xfrm>
            <a:off x="713232" y="5724144"/>
            <a:ext cx="10762488" cy="45720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Əsas fikir:  </a:t>
            </a:r>
            <a:r>
              <a:rPr lang="en-US" sz="1200" dirty="0">
                <a:solidFill>
                  <a:srgbClr val="14202E"/>
                </a:solidFill>
                <a:latin typeface="Calibri" pitchFamily="34" charset="0"/>
                <a:ea typeface="Calibri" pitchFamily="34" charset="-122"/>
                <a:cs typeface="Calibri" pitchFamily="34" charset="-120"/>
              </a:rPr>
              <a:t>ALiBi yalnız ən aşağı ortanı göstərməyib — fərq effekt ölçüsü, bootstrap qeyri-müəyyənliyi və bütün seed-lərdə eyni istiqamətlə dəstəklənib.</a:t>
            </a:r>
            <a:endParaRPr lang="en-US" sz="1200" dirty="0"/>
          </a:p>
        </p:txBody>
      </p:sp>
      <p:sp>
        <p:nvSpPr>
          <p:cNvPr id="88" name="Text 85"/>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Nihat Rzayev  ·  RzayevNihat</a:t>
            </a:r>
            <a:endParaRPr lang="en-US" sz="950" dirty="0"/>
          </a:p>
        </p:txBody>
      </p:sp>
      <p:sp>
        <p:nvSpPr>
          <p:cNvPr id="89" name="Text 86"/>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tables/seed_ranks.csv · tables/best_vs_others.csv</a:t>
            </a:r>
            <a:endParaRPr lang="en-US" sz="850" dirty="0"/>
          </a:p>
        </p:txBody>
      </p:sp>
      <p:sp>
        <p:nvSpPr>
          <p:cNvPr id="90" name="Text 87"/>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ALiBi üstünlüyü yalnız 50M-də yaranmadı</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Validation NLL, faktiki training token sayına qarşı  ·  orta ± seed SD</a:t>
            </a:r>
            <a:endParaRPr lang="en-US" sz="1300" dirty="0"/>
          </a:p>
        </p:txBody>
      </p:sp>
      <p:pic>
        <p:nvPicPr>
          <p:cNvPr id="5" name="Image 0" descr="/home/claude/assets/fig_learning.png"/>
          <p:cNvPicPr>
            <a:picLocks noChangeAspect="1"/>
          </p:cNvPicPr>
          <p:nvPr/>
        </p:nvPicPr>
        <p:blipFill>
          <a:blip r:embed="rId3"/>
          <a:stretch>
            <a:fillRect/>
          </a:stretch>
        </p:blipFill>
        <p:spPr>
          <a:xfrm>
            <a:off x="548640" y="1280160"/>
            <a:ext cx="7223760" cy="3383280"/>
          </a:xfrm>
          <a:prstGeom prst="rect">
            <a:avLst/>
          </a:prstGeom>
        </p:spPr>
      </p:pic>
      <p:sp>
        <p:nvSpPr>
          <p:cNvPr id="6" name="Text 3"/>
          <p:cNvSpPr txBox="1"/>
          <p:nvPr/>
        </p:nvSpPr>
        <p:spPr>
          <a:xfrm>
            <a:off x="7973568" y="1280160"/>
            <a:ext cx="36576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ÖLÇÜLƏN DÖRD BÜDCƏ</a:t>
            </a:r>
            <a:endParaRPr lang="en-US" sz="1050" dirty="0"/>
          </a:p>
        </p:txBody>
      </p:sp>
      <p:sp>
        <p:nvSpPr>
          <p:cNvPr id="7" name="Shape 4"/>
          <p:cNvSpPr/>
          <p:nvPr/>
        </p:nvSpPr>
        <p:spPr>
          <a:xfrm>
            <a:off x="7882128" y="1481328"/>
            <a:ext cx="3758184" cy="786384"/>
          </a:xfrm>
          <a:prstGeom prst="roundRect">
            <a:avLst>
              <a:gd name="adj" fmla="val 8140"/>
            </a:avLst>
          </a:prstGeom>
          <a:solidFill>
            <a:srgbClr val="F4F7F9"/>
          </a:solidFill>
          <a:ln w="12700">
            <a:solidFill>
              <a:srgbClr val="E3E9EF"/>
            </a:solidFill>
            <a:prstDash val="solid"/>
          </a:ln>
        </p:spPr>
      </p:sp>
      <p:sp>
        <p:nvSpPr>
          <p:cNvPr id="8" name="Text 5"/>
          <p:cNvSpPr txBox="1"/>
          <p:nvPr/>
        </p:nvSpPr>
        <p:spPr>
          <a:xfrm>
            <a:off x="8028432" y="1536192"/>
            <a:ext cx="822960" cy="274320"/>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~5M</a:t>
            </a:r>
            <a:endParaRPr lang="en-US" sz="1150" dirty="0"/>
          </a:p>
        </p:txBody>
      </p:sp>
      <p:sp>
        <p:nvSpPr>
          <p:cNvPr id="9" name="Text 6"/>
          <p:cNvSpPr txBox="1"/>
          <p:nvPr/>
        </p:nvSpPr>
        <p:spPr>
          <a:xfrm>
            <a:off x="8028432" y="1792224"/>
            <a:ext cx="1097280" cy="182880"/>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ALiBi</a:t>
            </a:r>
            <a:endParaRPr lang="en-US" sz="900" dirty="0"/>
          </a:p>
        </p:txBody>
      </p:sp>
      <p:sp>
        <p:nvSpPr>
          <p:cNvPr id="10" name="Text 7"/>
          <p:cNvSpPr txBox="1"/>
          <p:nvPr/>
        </p:nvSpPr>
        <p:spPr>
          <a:xfrm>
            <a:off x="9125712" y="1792224"/>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7.3659</a:t>
            </a:r>
            <a:endParaRPr lang="en-US" sz="900" dirty="0"/>
          </a:p>
        </p:txBody>
      </p:sp>
      <p:sp>
        <p:nvSpPr>
          <p:cNvPr id="11" name="Text 8"/>
          <p:cNvSpPr txBox="1"/>
          <p:nvPr/>
        </p:nvSpPr>
        <p:spPr>
          <a:xfrm>
            <a:off x="8028432" y="1975104"/>
            <a:ext cx="1097280" cy="182880"/>
          </a:xfrm>
          <a:prstGeom prst="rect">
            <a:avLst/>
          </a:prstGeom>
          <a:noFill/>
          <a:ln/>
        </p:spPr>
        <p:txBody>
          <a:bodyPr wrap="square" lIns="0" tIns="0" rIns="0" bIns="0" rtlCol="0" anchor="ctr"/>
          <a:lstStyle/>
          <a:p>
            <a:pPr marL="0" indent="0">
              <a:buNone/>
            </a:pPr>
            <a:r>
              <a:rPr lang="en-US" sz="900" dirty="0">
                <a:solidFill>
                  <a:srgbClr val="E69F00"/>
                </a:solidFill>
                <a:latin typeface="Calibri" pitchFamily="34" charset="0"/>
                <a:ea typeface="Calibri" pitchFamily="34" charset="-122"/>
                <a:cs typeface="Calibri" pitchFamily="34" charset="-120"/>
              </a:rPr>
              <a:t>NoPE</a:t>
            </a:r>
            <a:endParaRPr lang="en-US" sz="900" dirty="0"/>
          </a:p>
        </p:txBody>
      </p:sp>
      <p:sp>
        <p:nvSpPr>
          <p:cNvPr id="12" name="Text 9"/>
          <p:cNvSpPr txBox="1"/>
          <p:nvPr/>
        </p:nvSpPr>
        <p:spPr>
          <a:xfrm>
            <a:off x="9125712" y="1975104"/>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7.3914</a:t>
            </a:r>
            <a:endParaRPr lang="en-US" sz="900" dirty="0"/>
          </a:p>
        </p:txBody>
      </p:sp>
      <p:sp>
        <p:nvSpPr>
          <p:cNvPr id="13" name="Text 10"/>
          <p:cNvSpPr txBox="1"/>
          <p:nvPr/>
        </p:nvSpPr>
        <p:spPr>
          <a:xfrm>
            <a:off x="8028432" y="2157984"/>
            <a:ext cx="1097280" cy="182880"/>
          </a:xfrm>
          <a:prstGeom prst="rect">
            <a:avLst/>
          </a:prstGeom>
          <a:noFill/>
          <a:ln/>
        </p:spPr>
        <p:txBody>
          <a:bodyPr wrap="square" lIns="0" tIns="0" rIns="0" bIns="0" rtlCol="0" anchor="ctr"/>
          <a:lstStyle/>
          <a:p>
            <a:pPr marL="0" indent="0">
              <a:buNone/>
            </a:pPr>
            <a:r>
              <a:rPr lang="en-US" sz="900" dirty="0">
                <a:solidFill>
                  <a:srgbClr val="0072B2"/>
                </a:solidFill>
                <a:latin typeface="Calibri" pitchFamily="34" charset="0"/>
                <a:ea typeface="Calibri" pitchFamily="34" charset="-122"/>
                <a:cs typeface="Calibri" pitchFamily="34" charset="-120"/>
              </a:rPr>
              <a:t>RoPE</a:t>
            </a:r>
            <a:endParaRPr lang="en-US" sz="900" dirty="0"/>
          </a:p>
        </p:txBody>
      </p:sp>
      <p:sp>
        <p:nvSpPr>
          <p:cNvPr id="14" name="Text 11"/>
          <p:cNvSpPr txBox="1"/>
          <p:nvPr/>
        </p:nvSpPr>
        <p:spPr>
          <a:xfrm>
            <a:off x="9125712" y="2157984"/>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7.3929</a:t>
            </a:r>
            <a:endParaRPr lang="en-US" sz="900" dirty="0"/>
          </a:p>
        </p:txBody>
      </p:sp>
      <p:sp>
        <p:nvSpPr>
          <p:cNvPr id="15" name="Text 12"/>
          <p:cNvSpPr txBox="1"/>
          <p:nvPr/>
        </p:nvSpPr>
        <p:spPr>
          <a:xfrm>
            <a:off x="10104120" y="1755648"/>
            <a:ext cx="1371600" cy="256032"/>
          </a:xfrm>
          <a:prstGeom prst="rect">
            <a:avLst/>
          </a:prstGeom>
          <a:noFill/>
          <a:ln/>
        </p:spPr>
        <p:txBody>
          <a:bodyPr wrap="square" lIns="0" tIns="0" rIns="0" bIns="0" rtlCol="0" anchor="ctr"/>
          <a:lstStyle/>
          <a:p>
            <a:pPr marL="0" indent="0" algn="r">
              <a:buNone/>
            </a:pPr>
            <a:r>
              <a:rPr lang="en-US" sz="950" b="1" dirty="0">
                <a:solidFill>
                  <a:srgbClr val="009E73"/>
                </a:solidFill>
                <a:latin typeface="Calibri" pitchFamily="34" charset="0"/>
                <a:ea typeface="Calibri" pitchFamily="34" charset="-122"/>
                <a:cs typeface="Calibri" pitchFamily="34" charset="-120"/>
              </a:rPr>
              <a:t>ALiBi 1-ci</a:t>
            </a:r>
            <a:endParaRPr lang="en-US" sz="950" dirty="0"/>
          </a:p>
        </p:txBody>
      </p:sp>
      <p:sp>
        <p:nvSpPr>
          <p:cNvPr id="16" name="Shape 13"/>
          <p:cNvSpPr/>
          <p:nvPr/>
        </p:nvSpPr>
        <p:spPr>
          <a:xfrm>
            <a:off x="7882128" y="2340864"/>
            <a:ext cx="3758184" cy="786384"/>
          </a:xfrm>
          <a:prstGeom prst="roundRect">
            <a:avLst>
              <a:gd name="adj" fmla="val 8140"/>
            </a:avLst>
          </a:prstGeom>
          <a:solidFill>
            <a:srgbClr val="FFFFFF"/>
          </a:solidFill>
          <a:ln w="12700">
            <a:solidFill>
              <a:srgbClr val="E3E9EF"/>
            </a:solidFill>
            <a:prstDash val="solid"/>
          </a:ln>
        </p:spPr>
      </p:sp>
      <p:sp>
        <p:nvSpPr>
          <p:cNvPr id="17" name="Text 14"/>
          <p:cNvSpPr txBox="1"/>
          <p:nvPr/>
        </p:nvSpPr>
        <p:spPr>
          <a:xfrm>
            <a:off x="8028432" y="2395728"/>
            <a:ext cx="822960" cy="274320"/>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~10M</a:t>
            </a:r>
            <a:endParaRPr lang="en-US" sz="1150" dirty="0"/>
          </a:p>
        </p:txBody>
      </p:sp>
      <p:sp>
        <p:nvSpPr>
          <p:cNvPr id="18" name="Text 15"/>
          <p:cNvSpPr txBox="1"/>
          <p:nvPr/>
        </p:nvSpPr>
        <p:spPr>
          <a:xfrm>
            <a:off x="8028432" y="2651760"/>
            <a:ext cx="1097280" cy="182880"/>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ALiBi</a:t>
            </a:r>
            <a:endParaRPr lang="en-US" sz="900" dirty="0"/>
          </a:p>
        </p:txBody>
      </p:sp>
      <p:sp>
        <p:nvSpPr>
          <p:cNvPr id="19" name="Text 16"/>
          <p:cNvSpPr txBox="1"/>
          <p:nvPr/>
        </p:nvSpPr>
        <p:spPr>
          <a:xfrm>
            <a:off x="9125712" y="2651760"/>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6.5272</a:t>
            </a:r>
            <a:endParaRPr lang="en-US" sz="900" dirty="0"/>
          </a:p>
        </p:txBody>
      </p:sp>
      <p:sp>
        <p:nvSpPr>
          <p:cNvPr id="20" name="Text 17"/>
          <p:cNvSpPr txBox="1"/>
          <p:nvPr/>
        </p:nvSpPr>
        <p:spPr>
          <a:xfrm>
            <a:off x="8028432" y="2834640"/>
            <a:ext cx="1097280" cy="182880"/>
          </a:xfrm>
          <a:prstGeom prst="rect">
            <a:avLst/>
          </a:prstGeom>
          <a:noFill/>
          <a:ln/>
        </p:spPr>
        <p:txBody>
          <a:bodyPr wrap="square" lIns="0" tIns="0" rIns="0" bIns="0" rtlCol="0" anchor="ctr"/>
          <a:lstStyle/>
          <a:p>
            <a:pPr marL="0" indent="0">
              <a:buNone/>
            </a:pPr>
            <a:r>
              <a:rPr lang="en-US" sz="900" dirty="0">
                <a:solidFill>
                  <a:srgbClr val="0072B2"/>
                </a:solidFill>
                <a:latin typeface="Calibri" pitchFamily="34" charset="0"/>
                <a:ea typeface="Calibri" pitchFamily="34" charset="-122"/>
                <a:cs typeface="Calibri" pitchFamily="34" charset="-120"/>
              </a:rPr>
              <a:t>RoPE</a:t>
            </a:r>
            <a:endParaRPr lang="en-US" sz="900" dirty="0"/>
          </a:p>
        </p:txBody>
      </p:sp>
      <p:sp>
        <p:nvSpPr>
          <p:cNvPr id="21" name="Text 18"/>
          <p:cNvSpPr txBox="1"/>
          <p:nvPr/>
        </p:nvSpPr>
        <p:spPr>
          <a:xfrm>
            <a:off x="9125712" y="2834640"/>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6.5942</a:t>
            </a:r>
            <a:endParaRPr lang="en-US" sz="900" dirty="0"/>
          </a:p>
        </p:txBody>
      </p:sp>
      <p:sp>
        <p:nvSpPr>
          <p:cNvPr id="22" name="Text 19"/>
          <p:cNvSpPr txBox="1"/>
          <p:nvPr/>
        </p:nvSpPr>
        <p:spPr>
          <a:xfrm>
            <a:off x="8028432" y="3017520"/>
            <a:ext cx="1097280" cy="182880"/>
          </a:xfrm>
          <a:prstGeom prst="rect">
            <a:avLst/>
          </a:prstGeom>
          <a:noFill/>
          <a:ln/>
        </p:spPr>
        <p:txBody>
          <a:bodyPr wrap="square" lIns="0" tIns="0" rIns="0" bIns="0" rtlCol="0" anchor="ctr"/>
          <a:lstStyle/>
          <a:p>
            <a:pPr marL="0" indent="0">
              <a:buNone/>
            </a:pPr>
            <a:r>
              <a:rPr lang="en-US" sz="900" dirty="0">
                <a:solidFill>
                  <a:srgbClr val="E69F00"/>
                </a:solidFill>
                <a:latin typeface="Calibri" pitchFamily="34" charset="0"/>
                <a:ea typeface="Calibri" pitchFamily="34" charset="-122"/>
                <a:cs typeface="Calibri" pitchFamily="34" charset="-120"/>
              </a:rPr>
              <a:t>NoPE</a:t>
            </a:r>
            <a:endParaRPr lang="en-US" sz="900" dirty="0"/>
          </a:p>
        </p:txBody>
      </p:sp>
      <p:sp>
        <p:nvSpPr>
          <p:cNvPr id="23" name="Text 20"/>
          <p:cNvSpPr txBox="1"/>
          <p:nvPr/>
        </p:nvSpPr>
        <p:spPr>
          <a:xfrm>
            <a:off x="9125712" y="3017520"/>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6.5981</a:t>
            </a:r>
            <a:endParaRPr lang="en-US" sz="900" dirty="0"/>
          </a:p>
        </p:txBody>
      </p:sp>
      <p:sp>
        <p:nvSpPr>
          <p:cNvPr id="24" name="Text 21"/>
          <p:cNvSpPr txBox="1"/>
          <p:nvPr/>
        </p:nvSpPr>
        <p:spPr>
          <a:xfrm>
            <a:off x="10104120" y="2615184"/>
            <a:ext cx="1371600" cy="256032"/>
          </a:xfrm>
          <a:prstGeom prst="rect">
            <a:avLst/>
          </a:prstGeom>
          <a:noFill/>
          <a:ln/>
        </p:spPr>
        <p:txBody>
          <a:bodyPr wrap="square" lIns="0" tIns="0" rIns="0" bIns="0" rtlCol="0" anchor="ctr"/>
          <a:lstStyle/>
          <a:p>
            <a:pPr marL="0" indent="0" algn="r">
              <a:buNone/>
            </a:pPr>
            <a:r>
              <a:rPr lang="en-US" sz="950" b="1" dirty="0">
                <a:solidFill>
                  <a:srgbClr val="009E73"/>
                </a:solidFill>
                <a:latin typeface="Calibri" pitchFamily="34" charset="0"/>
                <a:ea typeface="Calibri" pitchFamily="34" charset="-122"/>
                <a:cs typeface="Calibri" pitchFamily="34" charset="-120"/>
              </a:rPr>
              <a:t>ALiBi 1-ci</a:t>
            </a:r>
            <a:endParaRPr lang="en-US" sz="950" dirty="0"/>
          </a:p>
        </p:txBody>
      </p:sp>
      <p:sp>
        <p:nvSpPr>
          <p:cNvPr id="25" name="Shape 22"/>
          <p:cNvSpPr/>
          <p:nvPr/>
        </p:nvSpPr>
        <p:spPr>
          <a:xfrm>
            <a:off x="7882128" y="3200400"/>
            <a:ext cx="3758184" cy="786384"/>
          </a:xfrm>
          <a:prstGeom prst="roundRect">
            <a:avLst>
              <a:gd name="adj" fmla="val 8140"/>
            </a:avLst>
          </a:prstGeom>
          <a:solidFill>
            <a:srgbClr val="F4F7F9"/>
          </a:solidFill>
          <a:ln w="12700">
            <a:solidFill>
              <a:srgbClr val="E3E9EF"/>
            </a:solidFill>
            <a:prstDash val="solid"/>
          </a:ln>
        </p:spPr>
      </p:sp>
      <p:sp>
        <p:nvSpPr>
          <p:cNvPr id="26" name="Text 23"/>
          <p:cNvSpPr txBox="1"/>
          <p:nvPr/>
        </p:nvSpPr>
        <p:spPr>
          <a:xfrm>
            <a:off x="8028432" y="3255264"/>
            <a:ext cx="822960" cy="274320"/>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~20M</a:t>
            </a:r>
            <a:endParaRPr lang="en-US" sz="1150" dirty="0"/>
          </a:p>
        </p:txBody>
      </p:sp>
      <p:sp>
        <p:nvSpPr>
          <p:cNvPr id="27" name="Text 24"/>
          <p:cNvSpPr txBox="1"/>
          <p:nvPr/>
        </p:nvSpPr>
        <p:spPr>
          <a:xfrm>
            <a:off x="8028432" y="3511296"/>
            <a:ext cx="1097280" cy="182880"/>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ALiBi</a:t>
            </a:r>
            <a:endParaRPr lang="en-US" sz="900" dirty="0"/>
          </a:p>
        </p:txBody>
      </p:sp>
      <p:sp>
        <p:nvSpPr>
          <p:cNvPr id="28" name="Text 25"/>
          <p:cNvSpPr txBox="1"/>
          <p:nvPr/>
        </p:nvSpPr>
        <p:spPr>
          <a:xfrm>
            <a:off x="9125712" y="3511296"/>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5.8897</a:t>
            </a:r>
            <a:endParaRPr lang="en-US" sz="900" dirty="0"/>
          </a:p>
        </p:txBody>
      </p:sp>
      <p:sp>
        <p:nvSpPr>
          <p:cNvPr id="29" name="Text 26"/>
          <p:cNvSpPr txBox="1"/>
          <p:nvPr/>
        </p:nvSpPr>
        <p:spPr>
          <a:xfrm>
            <a:off x="8028432" y="3694176"/>
            <a:ext cx="1097280" cy="182880"/>
          </a:xfrm>
          <a:prstGeom prst="rect">
            <a:avLst/>
          </a:prstGeom>
          <a:noFill/>
          <a:ln/>
        </p:spPr>
        <p:txBody>
          <a:bodyPr wrap="square" lIns="0" tIns="0" rIns="0" bIns="0" rtlCol="0" anchor="ctr"/>
          <a:lstStyle/>
          <a:p>
            <a:pPr marL="0" indent="0">
              <a:buNone/>
            </a:pPr>
            <a:r>
              <a:rPr lang="en-US" sz="900" dirty="0">
                <a:solidFill>
                  <a:srgbClr val="0072B2"/>
                </a:solidFill>
                <a:latin typeface="Calibri" pitchFamily="34" charset="0"/>
                <a:ea typeface="Calibri" pitchFamily="34" charset="-122"/>
                <a:cs typeface="Calibri" pitchFamily="34" charset="-120"/>
              </a:rPr>
              <a:t>RoPE</a:t>
            </a:r>
            <a:endParaRPr lang="en-US" sz="900" dirty="0"/>
          </a:p>
        </p:txBody>
      </p:sp>
      <p:sp>
        <p:nvSpPr>
          <p:cNvPr id="30" name="Text 27"/>
          <p:cNvSpPr txBox="1"/>
          <p:nvPr/>
        </p:nvSpPr>
        <p:spPr>
          <a:xfrm>
            <a:off x="9125712" y="3694176"/>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5.9709</a:t>
            </a:r>
            <a:endParaRPr lang="en-US" sz="900" dirty="0"/>
          </a:p>
        </p:txBody>
      </p:sp>
      <p:sp>
        <p:nvSpPr>
          <p:cNvPr id="31" name="Text 28"/>
          <p:cNvSpPr txBox="1"/>
          <p:nvPr/>
        </p:nvSpPr>
        <p:spPr>
          <a:xfrm>
            <a:off x="8028432" y="3877056"/>
            <a:ext cx="1097280" cy="182880"/>
          </a:xfrm>
          <a:prstGeom prst="rect">
            <a:avLst/>
          </a:prstGeom>
          <a:noFill/>
          <a:ln/>
        </p:spPr>
        <p:txBody>
          <a:bodyPr wrap="square" lIns="0" tIns="0" rIns="0" bIns="0" rtlCol="0" anchor="ctr"/>
          <a:lstStyle/>
          <a:p>
            <a:pPr marL="0" indent="0">
              <a:buNone/>
            </a:pPr>
            <a:r>
              <a:rPr lang="en-US" sz="900" dirty="0">
                <a:solidFill>
                  <a:srgbClr val="E69F00"/>
                </a:solidFill>
                <a:latin typeface="Calibri" pitchFamily="34" charset="0"/>
                <a:ea typeface="Calibri" pitchFamily="34" charset="-122"/>
                <a:cs typeface="Calibri" pitchFamily="34" charset="-120"/>
              </a:rPr>
              <a:t>NoPE</a:t>
            </a:r>
            <a:endParaRPr lang="en-US" sz="900" dirty="0"/>
          </a:p>
        </p:txBody>
      </p:sp>
      <p:sp>
        <p:nvSpPr>
          <p:cNvPr id="32" name="Text 29"/>
          <p:cNvSpPr txBox="1"/>
          <p:nvPr/>
        </p:nvSpPr>
        <p:spPr>
          <a:xfrm>
            <a:off x="9125712" y="3877056"/>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6.0058</a:t>
            </a:r>
            <a:endParaRPr lang="en-US" sz="900" dirty="0"/>
          </a:p>
        </p:txBody>
      </p:sp>
      <p:sp>
        <p:nvSpPr>
          <p:cNvPr id="33" name="Text 30"/>
          <p:cNvSpPr txBox="1"/>
          <p:nvPr/>
        </p:nvSpPr>
        <p:spPr>
          <a:xfrm>
            <a:off x="10104120" y="3474720"/>
            <a:ext cx="1371600" cy="256032"/>
          </a:xfrm>
          <a:prstGeom prst="rect">
            <a:avLst/>
          </a:prstGeom>
          <a:noFill/>
          <a:ln/>
        </p:spPr>
        <p:txBody>
          <a:bodyPr wrap="square" lIns="0" tIns="0" rIns="0" bIns="0" rtlCol="0" anchor="ctr"/>
          <a:lstStyle/>
          <a:p>
            <a:pPr marL="0" indent="0" algn="r">
              <a:buNone/>
            </a:pPr>
            <a:r>
              <a:rPr lang="en-US" sz="950" b="1" dirty="0">
                <a:solidFill>
                  <a:srgbClr val="009E73"/>
                </a:solidFill>
                <a:latin typeface="Calibri" pitchFamily="34" charset="0"/>
                <a:ea typeface="Calibri" pitchFamily="34" charset="-122"/>
                <a:cs typeface="Calibri" pitchFamily="34" charset="-120"/>
              </a:rPr>
              <a:t>ALiBi 1-ci</a:t>
            </a:r>
            <a:endParaRPr lang="en-US" sz="950" dirty="0"/>
          </a:p>
        </p:txBody>
      </p:sp>
      <p:sp>
        <p:nvSpPr>
          <p:cNvPr id="34" name="Shape 31"/>
          <p:cNvSpPr/>
          <p:nvPr/>
        </p:nvSpPr>
        <p:spPr>
          <a:xfrm>
            <a:off x="7882128" y="4059936"/>
            <a:ext cx="3758184" cy="786384"/>
          </a:xfrm>
          <a:prstGeom prst="roundRect">
            <a:avLst>
              <a:gd name="adj" fmla="val 8140"/>
            </a:avLst>
          </a:prstGeom>
          <a:solidFill>
            <a:srgbClr val="FFFFFF"/>
          </a:solidFill>
          <a:ln w="12700">
            <a:solidFill>
              <a:srgbClr val="E3E9EF"/>
            </a:solidFill>
            <a:prstDash val="solid"/>
          </a:ln>
        </p:spPr>
      </p:sp>
      <p:sp>
        <p:nvSpPr>
          <p:cNvPr id="35" name="Text 32"/>
          <p:cNvSpPr txBox="1"/>
          <p:nvPr/>
        </p:nvSpPr>
        <p:spPr>
          <a:xfrm>
            <a:off x="8028432" y="4114800"/>
            <a:ext cx="822960" cy="274320"/>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50M</a:t>
            </a:r>
            <a:endParaRPr lang="en-US" sz="1150" dirty="0"/>
          </a:p>
        </p:txBody>
      </p:sp>
      <p:sp>
        <p:nvSpPr>
          <p:cNvPr id="36" name="Text 33"/>
          <p:cNvSpPr txBox="1"/>
          <p:nvPr/>
        </p:nvSpPr>
        <p:spPr>
          <a:xfrm>
            <a:off x="8028432" y="4370832"/>
            <a:ext cx="1097280" cy="182880"/>
          </a:xfrm>
          <a:prstGeom prst="rect">
            <a:avLst/>
          </a:prstGeom>
          <a:noFill/>
          <a:ln/>
        </p:spPr>
        <p:txBody>
          <a:bodyPr wrap="square" lIns="0" tIns="0" rIns="0" bIns="0" rtlCol="0" anchor="ctr"/>
          <a:lstStyle/>
          <a:p>
            <a:pPr marL="0" indent="0">
              <a:buNone/>
            </a:pPr>
            <a:r>
              <a:rPr lang="en-US" sz="900" b="1" dirty="0">
                <a:solidFill>
                  <a:srgbClr val="009E73"/>
                </a:solidFill>
                <a:latin typeface="Calibri" pitchFamily="34" charset="0"/>
                <a:ea typeface="Calibri" pitchFamily="34" charset="-122"/>
                <a:cs typeface="Calibri" pitchFamily="34" charset="-120"/>
              </a:rPr>
              <a:t>ALiBi</a:t>
            </a:r>
            <a:endParaRPr lang="en-US" sz="900" dirty="0"/>
          </a:p>
        </p:txBody>
      </p:sp>
      <p:sp>
        <p:nvSpPr>
          <p:cNvPr id="37" name="Text 34"/>
          <p:cNvSpPr txBox="1"/>
          <p:nvPr/>
        </p:nvSpPr>
        <p:spPr>
          <a:xfrm>
            <a:off x="9125712" y="4370832"/>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5.4213</a:t>
            </a:r>
            <a:endParaRPr lang="en-US" sz="900" dirty="0"/>
          </a:p>
        </p:txBody>
      </p:sp>
      <p:sp>
        <p:nvSpPr>
          <p:cNvPr id="38" name="Text 35"/>
          <p:cNvSpPr txBox="1"/>
          <p:nvPr/>
        </p:nvSpPr>
        <p:spPr>
          <a:xfrm>
            <a:off x="8028432" y="4553712"/>
            <a:ext cx="1097280" cy="182880"/>
          </a:xfrm>
          <a:prstGeom prst="rect">
            <a:avLst/>
          </a:prstGeom>
          <a:noFill/>
          <a:ln/>
        </p:spPr>
        <p:txBody>
          <a:bodyPr wrap="square" lIns="0" tIns="0" rIns="0" bIns="0" rtlCol="0" anchor="ctr"/>
          <a:lstStyle/>
          <a:p>
            <a:pPr marL="0" indent="0">
              <a:buNone/>
            </a:pPr>
            <a:r>
              <a:rPr lang="en-US" sz="900" dirty="0">
                <a:solidFill>
                  <a:srgbClr val="0072B2"/>
                </a:solidFill>
                <a:latin typeface="Calibri" pitchFamily="34" charset="0"/>
                <a:ea typeface="Calibri" pitchFamily="34" charset="-122"/>
                <a:cs typeface="Calibri" pitchFamily="34" charset="-120"/>
              </a:rPr>
              <a:t>RoPE</a:t>
            </a:r>
            <a:endParaRPr lang="en-US" sz="900" dirty="0"/>
          </a:p>
        </p:txBody>
      </p:sp>
      <p:sp>
        <p:nvSpPr>
          <p:cNvPr id="39" name="Text 36"/>
          <p:cNvSpPr txBox="1"/>
          <p:nvPr/>
        </p:nvSpPr>
        <p:spPr>
          <a:xfrm>
            <a:off x="9125712" y="4553712"/>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5.5209</a:t>
            </a:r>
            <a:endParaRPr lang="en-US" sz="900" dirty="0"/>
          </a:p>
        </p:txBody>
      </p:sp>
      <p:sp>
        <p:nvSpPr>
          <p:cNvPr id="40" name="Text 37"/>
          <p:cNvSpPr txBox="1"/>
          <p:nvPr/>
        </p:nvSpPr>
        <p:spPr>
          <a:xfrm>
            <a:off x="8028432" y="4736592"/>
            <a:ext cx="1097280" cy="182880"/>
          </a:xfrm>
          <a:prstGeom prst="rect">
            <a:avLst/>
          </a:prstGeom>
          <a:noFill/>
          <a:ln/>
        </p:spPr>
        <p:txBody>
          <a:bodyPr wrap="square" lIns="0" tIns="0" rIns="0" bIns="0" rtlCol="0" anchor="ctr"/>
          <a:lstStyle/>
          <a:p>
            <a:pPr marL="0" indent="0">
              <a:buNone/>
            </a:pPr>
            <a:r>
              <a:rPr lang="en-US" sz="900" dirty="0">
                <a:solidFill>
                  <a:srgbClr val="E69F00"/>
                </a:solidFill>
                <a:latin typeface="Calibri" pitchFamily="34" charset="0"/>
                <a:ea typeface="Calibri" pitchFamily="34" charset="-122"/>
                <a:cs typeface="Calibri" pitchFamily="34" charset="-120"/>
              </a:rPr>
              <a:t>NoPE</a:t>
            </a:r>
            <a:endParaRPr lang="en-US" sz="900" dirty="0"/>
          </a:p>
        </p:txBody>
      </p:sp>
      <p:sp>
        <p:nvSpPr>
          <p:cNvPr id="41" name="Text 38"/>
          <p:cNvSpPr txBox="1"/>
          <p:nvPr/>
        </p:nvSpPr>
        <p:spPr>
          <a:xfrm>
            <a:off x="9125712" y="4736592"/>
            <a:ext cx="822960" cy="182880"/>
          </a:xfrm>
          <a:prstGeom prst="rect">
            <a:avLst/>
          </a:prstGeom>
          <a:noFill/>
          <a:ln/>
        </p:spPr>
        <p:txBody>
          <a:bodyPr wrap="square" lIns="0" tIns="0" rIns="0" bIns="0" rtlCol="0" anchor="ctr"/>
          <a:lstStyle/>
          <a:p>
            <a:pPr marL="0" indent="0">
              <a:buNone/>
            </a:pPr>
            <a:r>
              <a:rPr lang="en-US" sz="900" dirty="0">
                <a:solidFill>
                  <a:srgbClr val="14202E"/>
                </a:solidFill>
                <a:latin typeface="Calibri" pitchFamily="34" charset="0"/>
                <a:ea typeface="Calibri" pitchFamily="34" charset="-122"/>
                <a:cs typeface="Calibri" pitchFamily="34" charset="-120"/>
              </a:rPr>
              <a:t>5.6376</a:t>
            </a:r>
            <a:endParaRPr lang="en-US" sz="900" dirty="0"/>
          </a:p>
        </p:txBody>
      </p:sp>
      <p:sp>
        <p:nvSpPr>
          <p:cNvPr id="42" name="Text 39"/>
          <p:cNvSpPr txBox="1"/>
          <p:nvPr/>
        </p:nvSpPr>
        <p:spPr>
          <a:xfrm>
            <a:off x="10104120" y="4334256"/>
            <a:ext cx="1371600" cy="256032"/>
          </a:xfrm>
          <a:prstGeom prst="rect">
            <a:avLst/>
          </a:prstGeom>
          <a:noFill/>
          <a:ln/>
        </p:spPr>
        <p:txBody>
          <a:bodyPr wrap="square" lIns="0" tIns="0" rIns="0" bIns="0" rtlCol="0" anchor="ctr"/>
          <a:lstStyle/>
          <a:p>
            <a:pPr marL="0" indent="0" algn="r">
              <a:buNone/>
            </a:pPr>
            <a:r>
              <a:rPr lang="en-US" sz="950" b="1" dirty="0">
                <a:solidFill>
                  <a:srgbClr val="009E73"/>
                </a:solidFill>
                <a:latin typeface="Calibri" pitchFamily="34" charset="0"/>
                <a:ea typeface="Calibri" pitchFamily="34" charset="-122"/>
                <a:cs typeface="Calibri" pitchFamily="34" charset="-120"/>
              </a:rPr>
              <a:t>ALiBi 1-ci</a:t>
            </a:r>
            <a:endParaRPr lang="en-US" sz="950" dirty="0"/>
          </a:p>
        </p:txBody>
      </p:sp>
      <p:sp>
        <p:nvSpPr>
          <p:cNvPr id="43" name="Text 40"/>
          <p:cNvSpPr txBox="1"/>
          <p:nvPr/>
        </p:nvSpPr>
        <p:spPr>
          <a:xfrm>
            <a:off x="7882128" y="4937760"/>
            <a:ext cx="3758184" cy="256032"/>
          </a:xfrm>
          <a:prstGeom prst="rect">
            <a:avLst/>
          </a:prstGeom>
          <a:noFill/>
          <a:ln/>
        </p:spPr>
        <p:txBody>
          <a:bodyPr wrap="square" lIns="0" tIns="0" rIns="0" bIns="0" rtlCol="0" anchor="ctr"/>
          <a:lstStyle/>
          <a:p>
            <a:pPr marL="0" indent="0">
              <a:buNone/>
            </a:pPr>
            <a:r>
              <a:rPr lang="en-US" sz="850" i="1" dirty="0">
                <a:solidFill>
                  <a:srgbClr val="5F7082"/>
                </a:solidFill>
                <a:latin typeface="Calibri" pitchFamily="34" charset="0"/>
                <a:ea typeface="Calibri" pitchFamily="34" charset="-122"/>
                <a:cs typeface="Calibri" pitchFamily="34" charset="-120"/>
              </a:rPr>
              <a:t>Learned və Sinusoidal qrafikdə göstərilib; sıralama dəyişmir.</a:t>
            </a:r>
            <a:endParaRPr lang="en-US" sz="850" dirty="0"/>
          </a:p>
        </p:txBody>
      </p:sp>
      <p:sp>
        <p:nvSpPr>
          <p:cNvPr id="44" name="Shape 41"/>
          <p:cNvSpPr/>
          <p:nvPr/>
        </p:nvSpPr>
        <p:spPr>
          <a:xfrm>
            <a:off x="548640" y="4791456"/>
            <a:ext cx="7223760" cy="969264"/>
          </a:xfrm>
          <a:prstGeom prst="roundRect">
            <a:avLst>
              <a:gd name="adj" fmla="val 6604"/>
            </a:avLst>
          </a:prstGeom>
          <a:solidFill>
            <a:srgbClr val="FDF3EC"/>
          </a:solidFill>
          <a:ln/>
        </p:spPr>
      </p:sp>
      <p:sp>
        <p:nvSpPr>
          <p:cNvPr id="45" name="Text 42"/>
          <p:cNvSpPr txBox="1"/>
          <p:nvPr/>
        </p:nvSpPr>
        <p:spPr>
          <a:xfrm>
            <a:off x="731520" y="4882896"/>
            <a:ext cx="6858000" cy="219456"/>
          </a:xfrm>
          <a:prstGeom prst="rect">
            <a:avLst/>
          </a:prstGeom>
          <a:noFill/>
          <a:ln/>
        </p:spPr>
        <p:txBody>
          <a:bodyPr wrap="square" lIns="0" tIns="0" rIns="0" bIns="0" rtlCol="0" anchor="ctr"/>
          <a:lstStyle/>
          <a:p>
            <a:pPr marL="0" indent="0">
              <a:buNone/>
            </a:pPr>
            <a:r>
              <a:rPr lang="en-US" sz="1050" b="1" kern="0" spc="110" dirty="0">
                <a:solidFill>
                  <a:srgbClr val="B26B00"/>
                </a:solidFill>
                <a:latin typeface="Calibri" pitchFamily="34" charset="0"/>
                <a:ea typeface="Calibri" pitchFamily="34" charset="-122"/>
                <a:cs typeface="Calibri" pitchFamily="34" charset="-120"/>
              </a:rPr>
              <a:t>İNTERPRETASİYA QEYDİ</a:t>
            </a:r>
            <a:endParaRPr lang="en-US" sz="1050" dirty="0"/>
          </a:p>
        </p:txBody>
      </p:sp>
      <p:sp>
        <p:nvSpPr>
          <p:cNvPr id="46" name="Text 43"/>
          <p:cNvSpPr txBox="1"/>
          <p:nvPr/>
        </p:nvSpPr>
        <p:spPr>
          <a:xfrm>
            <a:off x="731520" y="5120640"/>
            <a:ext cx="6858000" cy="566928"/>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Bu nöqtələr EYNİ trayektoriyanın checkpoint-ləridir — 5M, 10M və 20M üçün ayrıca öyrədilmiş modellər deyil. Ona görə bunu “kiçik büdcəli müstəqil eksperiment” kimi deyil, öyrənmə sürətinin təsviri kimi oxumaq lazımdır.</a:t>
            </a:r>
            <a:endParaRPr lang="en-US" sz="1050" dirty="0"/>
          </a:p>
        </p:txBody>
      </p:sp>
      <p:sp>
        <p:nvSpPr>
          <p:cNvPr id="47" name="Shape 44"/>
          <p:cNvSpPr/>
          <p:nvPr/>
        </p:nvSpPr>
        <p:spPr>
          <a:xfrm>
            <a:off x="7882128" y="5248656"/>
            <a:ext cx="3758184" cy="859536"/>
          </a:xfrm>
          <a:prstGeom prst="roundRect">
            <a:avLst>
              <a:gd name="adj" fmla="val 7447"/>
            </a:avLst>
          </a:prstGeom>
          <a:solidFill>
            <a:srgbClr val="EAF0F4"/>
          </a:solidFill>
          <a:ln/>
        </p:spPr>
      </p:sp>
      <p:sp>
        <p:nvSpPr>
          <p:cNvPr id="48" name="Text 45"/>
          <p:cNvSpPr txBox="1"/>
          <p:nvPr/>
        </p:nvSpPr>
        <p:spPr>
          <a:xfrm>
            <a:off x="8046720" y="5266944"/>
            <a:ext cx="3429000" cy="859536"/>
          </a:xfrm>
          <a:prstGeom prst="rect">
            <a:avLst/>
          </a:prstGeom>
          <a:noFill/>
          <a:ln/>
        </p:spPr>
        <p:txBody>
          <a:bodyPr wrap="square" lIns="0" tIns="0" rIns="0" bIns="0" rtlCol="0" anchor="ctr"/>
          <a:lstStyle/>
          <a:p>
            <a:pPr marL="0" indent="0">
              <a:buNone/>
            </a:pPr>
            <a:r>
              <a:rPr lang="en-US" sz="1100" b="1" dirty="0">
                <a:solidFill>
                  <a:srgbClr val="12324F"/>
                </a:solidFill>
                <a:latin typeface="Calibri" pitchFamily="34" charset="0"/>
                <a:ea typeface="Calibri" pitchFamily="34" charset="-122"/>
                <a:cs typeface="Calibri" pitchFamily="34" charset="-120"/>
              </a:rPr>
              <a:t>Əsas fikir:  </a:t>
            </a:r>
            <a:r>
              <a:rPr lang="en-US" sz="1100" dirty="0">
                <a:solidFill>
                  <a:srgbClr val="14202E"/>
                </a:solidFill>
                <a:latin typeface="Calibri" pitchFamily="34" charset="0"/>
                <a:ea typeface="Calibri" pitchFamily="34" charset="-122"/>
                <a:cs typeface="Calibri" pitchFamily="34" charset="-120"/>
              </a:rPr>
              <a:t>ALiBi ölçdüyümüz hər dörd büdcədə 1-ci oldu: üstünlük yalnız sonda yaranmadı, bütün trayektoriya boyu mövcud idi.</a:t>
            </a:r>
            <a:endParaRPr lang="en-US" sz="1100" dirty="0"/>
          </a:p>
        </p:txBody>
      </p:sp>
      <p:sp>
        <p:nvSpPr>
          <p:cNvPr id="49" name="Text 46"/>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Nihat Rzayev  ·  RzayevNihat</a:t>
            </a:r>
            <a:endParaRPr lang="en-US" sz="950" dirty="0"/>
          </a:p>
        </p:txBody>
      </p:sp>
      <p:sp>
        <p:nvSpPr>
          <p:cNvPr id="50" name="Text 47"/>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results/evaluation/tables/sample_efficiency.csv · learning.csv</a:t>
            </a:r>
            <a:endParaRPr lang="en-US" sz="850" dirty="0"/>
          </a:p>
        </p:txBody>
      </p:sp>
      <p:sp>
        <p:nvSpPr>
          <p:cNvPr id="51" name="Text 48"/>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512-də train edildi — 2048-ə qədər necə generalizasiya etdi?</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Uyğunlaşdırılmış uzun sənəd kohortu: 2 011 test sənədi  ·  hər sənəddə eyni son 256 hədəf qiymətləndirilir</a:t>
            </a:r>
            <a:endParaRPr lang="en-US" sz="1300" dirty="0"/>
          </a:p>
        </p:txBody>
      </p:sp>
      <p:pic>
        <p:nvPicPr>
          <p:cNvPr id="5" name="Image 0" descr="/home/claude/assets/fig_length.png"/>
          <p:cNvPicPr>
            <a:picLocks noChangeAspect="1"/>
          </p:cNvPicPr>
          <p:nvPr/>
        </p:nvPicPr>
        <p:blipFill>
          <a:blip r:embed="rId3"/>
          <a:stretch>
            <a:fillRect/>
          </a:stretch>
        </p:blipFill>
        <p:spPr>
          <a:xfrm>
            <a:off x="548640" y="1371600"/>
            <a:ext cx="6858000" cy="3502152"/>
          </a:xfrm>
          <a:prstGeom prst="rect">
            <a:avLst/>
          </a:prstGeom>
        </p:spPr>
      </p:pic>
      <p:sp>
        <p:nvSpPr>
          <p:cNvPr id="6" name="Text 3"/>
          <p:cNvSpPr txBox="1"/>
          <p:nvPr/>
        </p:nvSpPr>
        <p:spPr>
          <a:xfrm>
            <a:off x="7589520" y="1371600"/>
            <a:ext cx="4050792"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TEST NLL  ·  KONTEKST UZUNLUĞU ÜZRƏ</a:t>
            </a:r>
            <a:endParaRPr lang="en-US" sz="1050" dirty="0"/>
          </a:p>
        </p:txBody>
      </p:sp>
      <p:sp>
        <p:nvSpPr>
          <p:cNvPr id="7" name="Text 4"/>
          <p:cNvSpPr txBox="1"/>
          <p:nvPr/>
        </p:nvSpPr>
        <p:spPr>
          <a:xfrm>
            <a:off x="7662672" y="1645920"/>
            <a:ext cx="1051560" cy="219456"/>
          </a:xfrm>
          <a:prstGeom prst="rect">
            <a:avLst/>
          </a:prstGeom>
          <a:noFill/>
          <a:ln/>
        </p:spPr>
        <p:txBody>
          <a:bodyPr wrap="square" lIns="0" tIns="0" rIns="0" bIns="0" rtlCol="0" anchor="ctr"/>
          <a:lstStyle/>
          <a:p>
            <a:pPr marL="0" indent="0" algn="l">
              <a:buNone/>
            </a:pPr>
            <a:r>
              <a:rPr lang="en-US" sz="850" b="1" kern="0" spc="50" dirty="0">
                <a:solidFill>
                  <a:srgbClr val="8A99A8"/>
                </a:solidFill>
                <a:latin typeface="Calibri" pitchFamily="34" charset="0"/>
                <a:ea typeface="Calibri" pitchFamily="34" charset="-122"/>
                <a:cs typeface="Calibri" pitchFamily="34" charset="-120"/>
              </a:rPr>
              <a:t>Metod</a:t>
            </a:r>
            <a:endParaRPr lang="en-US" sz="850" dirty="0"/>
          </a:p>
        </p:txBody>
      </p:sp>
      <p:sp>
        <p:nvSpPr>
          <p:cNvPr id="8" name="Text 5"/>
          <p:cNvSpPr txBox="1"/>
          <p:nvPr/>
        </p:nvSpPr>
        <p:spPr>
          <a:xfrm>
            <a:off x="8769096" y="1645920"/>
            <a:ext cx="713232" cy="219456"/>
          </a:xfrm>
          <a:prstGeom prst="rect">
            <a:avLst/>
          </a:prstGeom>
          <a:noFill/>
          <a:ln/>
        </p:spPr>
        <p:txBody>
          <a:bodyPr wrap="square" lIns="0" tIns="0" rIns="0" bIns="0" rtlCol="0" anchor="ctr"/>
          <a:lstStyle/>
          <a:p>
            <a:pPr marL="0" indent="0" algn="r">
              <a:buNone/>
            </a:pPr>
            <a:r>
              <a:rPr lang="en-US" sz="850" b="1" kern="0" spc="50" dirty="0">
                <a:solidFill>
                  <a:srgbClr val="8A99A8"/>
                </a:solidFill>
                <a:latin typeface="Calibri" pitchFamily="34" charset="0"/>
                <a:ea typeface="Calibri" pitchFamily="34" charset="-122"/>
                <a:cs typeface="Calibri" pitchFamily="34" charset="-120"/>
              </a:rPr>
              <a:t>512</a:t>
            </a:r>
            <a:endParaRPr lang="en-US" sz="850" dirty="0"/>
          </a:p>
        </p:txBody>
      </p:sp>
      <p:sp>
        <p:nvSpPr>
          <p:cNvPr id="9" name="Text 6"/>
          <p:cNvSpPr txBox="1"/>
          <p:nvPr/>
        </p:nvSpPr>
        <p:spPr>
          <a:xfrm>
            <a:off x="9537192" y="1645920"/>
            <a:ext cx="713232" cy="219456"/>
          </a:xfrm>
          <a:prstGeom prst="rect">
            <a:avLst/>
          </a:prstGeom>
          <a:noFill/>
          <a:ln/>
        </p:spPr>
        <p:txBody>
          <a:bodyPr wrap="square" lIns="0" tIns="0" rIns="0" bIns="0" rtlCol="0" anchor="ctr"/>
          <a:lstStyle/>
          <a:p>
            <a:pPr marL="0" indent="0" algn="r">
              <a:buNone/>
            </a:pPr>
            <a:r>
              <a:rPr lang="en-US" sz="850" b="1" kern="0" spc="50" dirty="0">
                <a:solidFill>
                  <a:srgbClr val="8A99A8"/>
                </a:solidFill>
                <a:latin typeface="Calibri" pitchFamily="34" charset="0"/>
                <a:ea typeface="Calibri" pitchFamily="34" charset="-122"/>
                <a:cs typeface="Calibri" pitchFamily="34" charset="-120"/>
              </a:rPr>
              <a:t>1024</a:t>
            </a:r>
            <a:endParaRPr lang="en-US" sz="850" dirty="0"/>
          </a:p>
        </p:txBody>
      </p:sp>
      <p:sp>
        <p:nvSpPr>
          <p:cNvPr id="10" name="Text 7"/>
          <p:cNvSpPr txBox="1"/>
          <p:nvPr/>
        </p:nvSpPr>
        <p:spPr>
          <a:xfrm>
            <a:off x="10305288" y="1645920"/>
            <a:ext cx="713232" cy="219456"/>
          </a:xfrm>
          <a:prstGeom prst="rect">
            <a:avLst/>
          </a:prstGeom>
          <a:noFill/>
          <a:ln/>
        </p:spPr>
        <p:txBody>
          <a:bodyPr wrap="square" lIns="0" tIns="0" rIns="0" bIns="0" rtlCol="0" anchor="ctr"/>
          <a:lstStyle/>
          <a:p>
            <a:pPr marL="0" indent="0" algn="r">
              <a:buNone/>
            </a:pPr>
            <a:r>
              <a:rPr lang="en-US" sz="850" b="1" kern="0" spc="50" dirty="0">
                <a:solidFill>
                  <a:srgbClr val="8A99A8"/>
                </a:solidFill>
                <a:latin typeface="Calibri" pitchFamily="34" charset="0"/>
                <a:ea typeface="Calibri" pitchFamily="34" charset="-122"/>
                <a:cs typeface="Calibri" pitchFamily="34" charset="-120"/>
              </a:rPr>
              <a:t>2048</a:t>
            </a:r>
            <a:endParaRPr lang="en-US" sz="850" dirty="0"/>
          </a:p>
        </p:txBody>
      </p:sp>
      <p:sp>
        <p:nvSpPr>
          <p:cNvPr id="11" name="Text 8"/>
          <p:cNvSpPr txBox="1"/>
          <p:nvPr/>
        </p:nvSpPr>
        <p:spPr>
          <a:xfrm>
            <a:off x="11073384" y="1645920"/>
            <a:ext cx="859536" cy="219456"/>
          </a:xfrm>
          <a:prstGeom prst="rect">
            <a:avLst/>
          </a:prstGeom>
          <a:noFill/>
          <a:ln/>
        </p:spPr>
        <p:txBody>
          <a:bodyPr wrap="square" lIns="0" tIns="0" rIns="0" bIns="0" rtlCol="0" anchor="ctr"/>
          <a:lstStyle/>
          <a:p>
            <a:pPr marL="0" indent="0" algn="l">
              <a:buNone/>
            </a:pPr>
            <a:r>
              <a:rPr lang="en-US" sz="850" b="1" kern="0" spc="50" dirty="0">
                <a:solidFill>
                  <a:srgbClr val="8A99A8"/>
                </a:solidFill>
                <a:latin typeface="Calibri" pitchFamily="34" charset="0"/>
                <a:ea typeface="Calibri" pitchFamily="34" charset="-122"/>
                <a:cs typeface="Calibri" pitchFamily="34" charset="-120"/>
              </a:rPr>
              <a:t>davranış</a:t>
            </a:r>
            <a:endParaRPr lang="en-US" sz="850" dirty="0"/>
          </a:p>
        </p:txBody>
      </p:sp>
      <p:sp>
        <p:nvSpPr>
          <p:cNvPr id="12" name="Shape 9"/>
          <p:cNvSpPr/>
          <p:nvPr/>
        </p:nvSpPr>
        <p:spPr>
          <a:xfrm>
            <a:off x="7589520" y="1883664"/>
            <a:ext cx="4050792" cy="438912"/>
          </a:xfrm>
          <a:prstGeom prst="rect">
            <a:avLst/>
          </a:prstGeom>
          <a:solidFill>
            <a:srgbClr val="E6F5EF"/>
          </a:solidFill>
          <a:ln w="15240">
            <a:solidFill>
              <a:srgbClr val="009E73"/>
            </a:solidFill>
            <a:prstDash val="solid"/>
          </a:ln>
        </p:spPr>
      </p:sp>
      <p:sp>
        <p:nvSpPr>
          <p:cNvPr id="13" name="Text 10"/>
          <p:cNvSpPr txBox="1"/>
          <p:nvPr/>
        </p:nvSpPr>
        <p:spPr>
          <a:xfrm>
            <a:off x="7662672" y="1883664"/>
            <a:ext cx="1051560" cy="438912"/>
          </a:xfrm>
          <a:prstGeom prst="rect">
            <a:avLst/>
          </a:prstGeom>
          <a:noFill/>
          <a:ln/>
        </p:spPr>
        <p:txBody>
          <a:bodyPr wrap="square" lIns="0" tIns="0" rIns="0" bIns="0" rtlCol="0" anchor="ctr"/>
          <a:lstStyle/>
          <a:p>
            <a:pPr marL="0" indent="0" algn="l">
              <a:buNone/>
            </a:pPr>
            <a:r>
              <a:rPr lang="en-US" sz="950" b="1" dirty="0">
                <a:solidFill>
                  <a:srgbClr val="009E73"/>
                </a:solidFill>
                <a:latin typeface="Calibri" pitchFamily="34" charset="0"/>
                <a:ea typeface="Calibri" pitchFamily="34" charset="-122"/>
                <a:cs typeface="Calibri" pitchFamily="34" charset="-120"/>
              </a:rPr>
              <a:t>ALiBi</a:t>
            </a:r>
            <a:endParaRPr lang="en-US" sz="950" dirty="0"/>
          </a:p>
        </p:txBody>
      </p:sp>
      <p:sp>
        <p:nvSpPr>
          <p:cNvPr id="14" name="Text 11"/>
          <p:cNvSpPr txBox="1"/>
          <p:nvPr/>
        </p:nvSpPr>
        <p:spPr>
          <a:xfrm>
            <a:off x="8769096" y="1883664"/>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5.3176</a:t>
            </a:r>
            <a:endParaRPr lang="en-US" sz="950" dirty="0"/>
          </a:p>
        </p:txBody>
      </p:sp>
      <p:sp>
        <p:nvSpPr>
          <p:cNvPr id="15" name="Text 12"/>
          <p:cNvSpPr txBox="1"/>
          <p:nvPr/>
        </p:nvSpPr>
        <p:spPr>
          <a:xfrm>
            <a:off x="9537192" y="1883664"/>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5.3171</a:t>
            </a:r>
            <a:endParaRPr lang="en-US" sz="950" dirty="0"/>
          </a:p>
        </p:txBody>
      </p:sp>
      <p:sp>
        <p:nvSpPr>
          <p:cNvPr id="16" name="Text 13"/>
          <p:cNvSpPr txBox="1"/>
          <p:nvPr/>
        </p:nvSpPr>
        <p:spPr>
          <a:xfrm>
            <a:off x="10305288" y="1883664"/>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5.3171</a:t>
            </a:r>
            <a:endParaRPr lang="en-US" sz="950" dirty="0"/>
          </a:p>
        </p:txBody>
      </p:sp>
      <p:sp>
        <p:nvSpPr>
          <p:cNvPr id="17" name="Text 14"/>
          <p:cNvSpPr txBox="1"/>
          <p:nvPr/>
        </p:nvSpPr>
        <p:spPr>
          <a:xfrm>
            <a:off x="11073384" y="1883664"/>
            <a:ext cx="859536" cy="438912"/>
          </a:xfrm>
          <a:prstGeom prst="rect">
            <a:avLst/>
          </a:prstGeom>
          <a:noFill/>
          <a:ln/>
        </p:spPr>
        <p:txBody>
          <a:bodyPr wrap="square" lIns="0" tIns="0" rIns="0" bIns="0" rtlCol="0" anchor="ctr"/>
          <a:lstStyle/>
          <a:p>
            <a:pPr marL="0" indent="0" algn="l">
              <a:buNone/>
            </a:pPr>
            <a:r>
              <a:rPr lang="en-US" sz="850" dirty="0">
                <a:solidFill>
                  <a:srgbClr val="5F7082"/>
                </a:solidFill>
                <a:latin typeface="Calibri" pitchFamily="34" charset="0"/>
                <a:ea typeface="Calibri" pitchFamily="34" charset="-122"/>
                <a:cs typeface="Calibri" pitchFamily="34" charset="-120"/>
              </a:rPr>
              <a:t>≈ dəyişmir</a:t>
            </a:r>
            <a:endParaRPr lang="en-US" sz="850" dirty="0"/>
          </a:p>
        </p:txBody>
      </p:sp>
      <p:sp>
        <p:nvSpPr>
          <p:cNvPr id="18" name="Shape 15"/>
          <p:cNvSpPr/>
          <p:nvPr/>
        </p:nvSpPr>
        <p:spPr>
          <a:xfrm>
            <a:off x="7589520" y="2377440"/>
            <a:ext cx="4050792" cy="438912"/>
          </a:xfrm>
          <a:prstGeom prst="rect">
            <a:avLst/>
          </a:prstGeom>
          <a:solidFill>
            <a:srgbClr val="FFFFFF"/>
          </a:solidFill>
          <a:ln/>
        </p:spPr>
      </p:sp>
      <p:sp>
        <p:nvSpPr>
          <p:cNvPr id="19" name="Text 16"/>
          <p:cNvSpPr txBox="1"/>
          <p:nvPr/>
        </p:nvSpPr>
        <p:spPr>
          <a:xfrm>
            <a:off x="7662672" y="2377440"/>
            <a:ext cx="1051560" cy="438912"/>
          </a:xfrm>
          <a:prstGeom prst="rect">
            <a:avLst/>
          </a:prstGeom>
          <a:noFill/>
          <a:ln/>
        </p:spPr>
        <p:txBody>
          <a:bodyPr wrap="square" lIns="0" tIns="0" rIns="0" bIns="0" rtlCol="0" anchor="ctr"/>
          <a:lstStyle/>
          <a:p>
            <a:pPr marL="0" indent="0" algn="l">
              <a:buNone/>
            </a:pPr>
            <a:r>
              <a:rPr lang="en-US" sz="950" b="1" dirty="0">
                <a:solidFill>
                  <a:srgbClr val="0072B2"/>
                </a:solidFill>
                <a:latin typeface="Calibri" pitchFamily="34" charset="0"/>
                <a:ea typeface="Calibri" pitchFamily="34" charset="-122"/>
                <a:cs typeface="Calibri" pitchFamily="34" charset="-120"/>
              </a:rPr>
              <a:t>RoPE</a:t>
            </a:r>
            <a:endParaRPr lang="en-US" sz="950" dirty="0"/>
          </a:p>
        </p:txBody>
      </p:sp>
      <p:sp>
        <p:nvSpPr>
          <p:cNvPr id="20" name="Text 17"/>
          <p:cNvSpPr txBox="1"/>
          <p:nvPr/>
        </p:nvSpPr>
        <p:spPr>
          <a:xfrm>
            <a:off x="8769096" y="2377440"/>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5.4236</a:t>
            </a:r>
            <a:endParaRPr lang="en-US" sz="950" dirty="0"/>
          </a:p>
        </p:txBody>
      </p:sp>
      <p:sp>
        <p:nvSpPr>
          <p:cNvPr id="21" name="Text 18"/>
          <p:cNvSpPr txBox="1"/>
          <p:nvPr/>
        </p:nvSpPr>
        <p:spPr>
          <a:xfrm>
            <a:off x="9537192" y="2377440"/>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5.6307</a:t>
            </a:r>
            <a:endParaRPr lang="en-US" sz="950" dirty="0"/>
          </a:p>
        </p:txBody>
      </p:sp>
      <p:sp>
        <p:nvSpPr>
          <p:cNvPr id="22" name="Text 19"/>
          <p:cNvSpPr txBox="1"/>
          <p:nvPr/>
        </p:nvSpPr>
        <p:spPr>
          <a:xfrm>
            <a:off x="10305288" y="2377440"/>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5.6574</a:t>
            </a:r>
            <a:endParaRPr lang="en-US" sz="950" dirty="0"/>
          </a:p>
        </p:txBody>
      </p:sp>
      <p:sp>
        <p:nvSpPr>
          <p:cNvPr id="23" name="Text 20"/>
          <p:cNvSpPr txBox="1"/>
          <p:nvPr/>
        </p:nvSpPr>
        <p:spPr>
          <a:xfrm>
            <a:off x="11073384" y="2377440"/>
            <a:ext cx="859536" cy="438912"/>
          </a:xfrm>
          <a:prstGeom prst="rect">
            <a:avLst/>
          </a:prstGeom>
          <a:noFill/>
          <a:ln/>
        </p:spPr>
        <p:txBody>
          <a:bodyPr wrap="square" lIns="0" tIns="0" rIns="0" bIns="0" rtlCol="0" anchor="ctr"/>
          <a:lstStyle/>
          <a:p>
            <a:pPr marL="0" indent="0" algn="l">
              <a:buNone/>
            </a:pPr>
            <a:r>
              <a:rPr lang="en-US" sz="850" dirty="0">
                <a:solidFill>
                  <a:srgbClr val="5F7082"/>
                </a:solidFill>
                <a:latin typeface="Calibri" pitchFamily="34" charset="0"/>
                <a:ea typeface="Calibri" pitchFamily="34" charset="-122"/>
                <a:cs typeface="Calibri" pitchFamily="34" charset="-120"/>
              </a:rPr>
              <a:t>pisləşir</a:t>
            </a:r>
            <a:endParaRPr lang="en-US" sz="850" dirty="0"/>
          </a:p>
        </p:txBody>
      </p:sp>
      <p:sp>
        <p:nvSpPr>
          <p:cNvPr id="24" name="Shape 21"/>
          <p:cNvSpPr/>
          <p:nvPr/>
        </p:nvSpPr>
        <p:spPr>
          <a:xfrm>
            <a:off x="7589520" y="2871216"/>
            <a:ext cx="4050792" cy="438912"/>
          </a:xfrm>
          <a:prstGeom prst="rect">
            <a:avLst/>
          </a:prstGeom>
          <a:solidFill>
            <a:srgbClr val="F4F7F9"/>
          </a:solidFill>
          <a:ln/>
        </p:spPr>
      </p:sp>
      <p:sp>
        <p:nvSpPr>
          <p:cNvPr id="25" name="Text 22"/>
          <p:cNvSpPr txBox="1"/>
          <p:nvPr/>
        </p:nvSpPr>
        <p:spPr>
          <a:xfrm>
            <a:off x="7662672" y="2871216"/>
            <a:ext cx="1051560" cy="438912"/>
          </a:xfrm>
          <a:prstGeom prst="rect">
            <a:avLst/>
          </a:prstGeom>
          <a:noFill/>
          <a:ln/>
        </p:spPr>
        <p:txBody>
          <a:bodyPr wrap="square" lIns="0" tIns="0" rIns="0" bIns="0" rtlCol="0" anchor="ctr"/>
          <a:lstStyle/>
          <a:p>
            <a:pPr marL="0" indent="0" algn="l">
              <a:buNone/>
            </a:pPr>
            <a:r>
              <a:rPr lang="en-US" sz="950" b="1" dirty="0">
                <a:solidFill>
                  <a:srgbClr val="E69F00"/>
                </a:solidFill>
                <a:latin typeface="Calibri" pitchFamily="34" charset="0"/>
                <a:ea typeface="Calibri" pitchFamily="34" charset="-122"/>
                <a:cs typeface="Calibri" pitchFamily="34" charset="-120"/>
              </a:rPr>
              <a:t>NoPE</a:t>
            </a:r>
            <a:endParaRPr lang="en-US" sz="950" dirty="0"/>
          </a:p>
        </p:txBody>
      </p:sp>
      <p:sp>
        <p:nvSpPr>
          <p:cNvPr id="26" name="Text 23"/>
          <p:cNvSpPr txBox="1"/>
          <p:nvPr/>
        </p:nvSpPr>
        <p:spPr>
          <a:xfrm>
            <a:off x="8769096" y="2871216"/>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5.5454</a:t>
            </a:r>
            <a:endParaRPr lang="en-US" sz="950" dirty="0"/>
          </a:p>
        </p:txBody>
      </p:sp>
      <p:sp>
        <p:nvSpPr>
          <p:cNvPr id="27" name="Text 24"/>
          <p:cNvSpPr txBox="1"/>
          <p:nvPr/>
        </p:nvSpPr>
        <p:spPr>
          <a:xfrm>
            <a:off x="9537192" y="2871216"/>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5.5538</a:t>
            </a:r>
            <a:endParaRPr lang="en-US" sz="950" dirty="0"/>
          </a:p>
        </p:txBody>
      </p:sp>
      <p:sp>
        <p:nvSpPr>
          <p:cNvPr id="28" name="Text 25"/>
          <p:cNvSpPr txBox="1"/>
          <p:nvPr/>
        </p:nvSpPr>
        <p:spPr>
          <a:xfrm>
            <a:off x="10305288" y="2871216"/>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5.5644</a:t>
            </a:r>
            <a:endParaRPr lang="en-US" sz="950" dirty="0"/>
          </a:p>
        </p:txBody>
      </p:sp>
      <p:sp>
        <p:nvSpPr>
          <p:cNvPr id="29" name="Text 26"/>
          <p:cNvSpPr txBox="1"/>
          <p:nvPr/>
        </p:nvSpPr>
        <p:spPr>
          <a:xfrm>
            <a:off x="11073384" y="2871216"/>
            <a:ext cx="859536" cy="438912"/>
          </a:xfrm>
          <a:prstGeom prst="rect">
            <a:avLst/>
          </a:prstGeom>
          <a:noFill/>
          <a:ln/>
        </p:spPr>
        <p:txBody>
          <a:bodyPr wrap="square" lIns="0" tIns="0" rIns="0" bIns="0" rtlCol="0" anchor="ctr"/>
          <a:lstStyle/>
          <a:p>
            <a:pPr marL="0" indent="0" algn="l">
              <a:buNone/>
            </a:pPr>
            <a:r>
              <a:rPr lang="en-US" sz="850" dirty="0">
                <a:solidFill>
                  <a:srgbClr val="5F7082"/>
                </a:solidFill>
                <a:latin typeface="Calibri" pitchFamily="34" charset="0"/>
                <a:ea typeface="Calibri" pitchFamily="34" charset="-122"/>
                <a:cs typeface="Calibri" pitchFamily="34" charset="-120"/>
              </a:rPr>
              <a:t>cüzi pisləşir</a:t>
            </a:r>
            <a:endParaRPr lang="en-US" sz="850" dirty="0"/>
          </a:p>
        </p:txBody>
      </p:sp>
      <p:sp>
        <p:nvSpPr>
          <p:cNvPr id="30" name="Shape 27"/>
          <p:cNvSpPr/>
          <p:nvPr/>
        </p:nvSpPr>
        <p:spPr>
          <a:xfrm>
            <a:off x="7589520" y="3364992"/>
            <a:ext cx="4050792" cy="438912"/>
          </a:xfrm>
          <a:prstGeom prst="rect">
            <a:avLst/>
          </a:prstGeom>
          <a:solidFill>
            <a:srgbClr val="FFFFFF"/>
          </a:solidFill>
          <a:ln/>
        </p:spPr>
      </p:sp>
      <p:sp>
        <p:nvSpPr>
          <p:cNvPr id="31" name="Text 28"/>
          <p:cNvSpPr txBox="1"/>
          <p:nvPr/>
        </p:nvSpPr>
        <p:spPr>
          <a:xfrm>
            <a:off x="7662672" y="3364992"/>
            <a:ext cx="1051560" cy="438912"/>
          </a:xfrm>
          <a:prstGeom prst="rect">
            <a:avLst/>
          </a:prstGeom>
          <a:noFill/>
          <a:ln/>
        </p:spPr>
        <p:txBody>
          <a:bodyPr wrap="square" lIns="0" tIns="0" rIns="0" bIns="0" rtlCol="0" anchor="ctr"/>
          <a:lstStyle/>
          <a:p>
            <a:pPr marL="0" indent="0" algn="l">
              <a:buNone/>
            </a:pPr>
            <a:r>
              <a:rPr lang="en-US" sz="950" b="1" dirty="0">
                <a:solidFill>
                  <a:srgbClr val="CC79A7"/>
                </a:solidFill>
                <a:latin typeface="Calibri" pitchFamily="34" charset="0"/>
                <a:ea typeface="Calibri" pitchFamily="34" charset="-122"/>
                <a:cs typeface="Calibri" pitchFamily="34" charset="-120"/>
              </a:rPr>
              <a:t>Learned</a:t>
            </a:r>
            <a:endParaRPr lang="en-US" sz="950" dirty="0"/>
          </a:p>
        </p:txBody>
      </p:sp>
      <p:sp>
        <p:nvSpPr>
          <p:cNvPr id="32" name="Text 29"/>
          <p:cNvSpPr txBox="1"/>
          <p:nvPr/>
        </p:nvSpPr>
        <p:spPr>
          <a:xfrm>
            <a:off x="8769096" y="3364992"/>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5.6954</a:t>
            </a:r>
            <a:endParaRPr lang="en-US" sz="950" dirty="0"/>
          </a:p>
        </p:txBody>
      </p:sp>
      <p:sp>
        <p:nvSpPr>
          <p:cNvPr id="33" name="Text 30"/>
          <p:cNvSpPr txBox="1"/>
          <p:nvPr/>
        </p:nvSpPr>
        <p:spPr>
          <a:xfrm>
            <a:off x="9537192" y="3364992"/>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N/A</a:t>
            </a:r>
            <a:endParaRPr lang="en-US" sz="950" dirty="0"/>
          </a:p>
        </p:txBody>
      </p:sp>
      <p:sp>
        <p:nvSpPr>
          <p:cNvPr id="34" name="Text 31"/>
          <p:cNvSpPr txBox="1"/>
          <p:nvPr/>
        </p:nvSpPr>
        <p:spPr>
          <a:xfrm>
            <a:off x="10305288" y="3364992"/>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N/A</a:t>
            </a:r>
            <a:endParaRPr lang="en-US" sz="950" dirty="0"/>
          </a:p>
        </p:txBody>
      </p:sp>
      <p:sp>
        <p:nvSpPr>
          <p:cNvPr id="35" name="Text 32"/>
          <p:cNvSpPr txBox="1"/>
          <p:nvPr/>
        </p:nvSpPr>
        <p:spPr>
          <a:xfrm>
            <a:off x="11073384" y="3364992"/>
            <a:ext cx="859536" cy="438912"/>
          </a:xfrm>
          <a:prstGeom prst="rect">
            <a:avLst/>
          </a:prstGeom>
          <a:noFill/>
          <a:ln/>
        </p:spPr>
        <p:txBody>
          <a:bodyPr wrap="square" lIns="0" tIns="0" rIns="0" bIns="0" rtlCol="0" anchor="ctr"/>
          <a:lstStyle/>
          <a:p>
            <a:pPr marL="0" indent="0" algn="l">
              <a:buNone/>
            </a:pPr>
            <a:r>
              <a:rPr lang="en-US" sz="850" dirty="0">
                <a:solidFill>
                  <a:srgbClr val="5F7082"/>
                </a:solidFill>
                <a:latin typeface="Calibri" pitchFamily="34" charset="0"/>
                <a:ea typeface="Calibri" pitchFamily="34" charset="-122"/>
                <a:cs typeface="Calibri" pitchFamily="34" charset="-120"/>
              </a:rPr>
              <a:t>təyin olunmayıb</a:t>
            </a:r>
            <a:endParaRPr lang="en-US" sz="850" dirty="0"/>
          </a:p>
        </p:txBody>
      </p:sp>
      <p:sp>
        <p:nvSpPr>
          <p:cNvPr id="36" name="Shape 33"/>
          <p:cNvSpPr/>
          <p:nvPr/>
        </p:nvSpPr>
        <p:spPr>
          <a:xfrm>
            <a:off x="7589520" y="3858768"/>
            <a:ext cx="4050792" cy="438912"/>
          </a:xfrm>
          <a:prstGeom prst="rect">
            <a:avLst/>
          </a:prstGeom>
          <a:solidFill>
            <a:srgbClr val="F4F7F9"/>
          </a:solidFill>
          <a:ln/>
        </p:spPr>
      </p:sp>
      <p:sp>
        <p:nvSpPr>
          <p:cNvPr id="37" name="Text 34"/>
          <p:cNvSpPr txBox="1"/>
          <p:nvPr/>
        </p:nvSpPr>
        <p:spPr>
          <a:xfrm>
            <a:off x="7662672" y="3858768"/>
            <a:ext cx="1051560" cy="438912"/>
          </a:xfrm>
          <a:prstGeom prst="rect">
            <a:avLst/>
          </a:prstGeom>
          <a:noFill/>
          <a:ln/>
        </p:spPr>
        <p:txBody>
          <a:bodyPr wrap="square" lIns="0" tIns="0" rIns="0" bIns="0" rtlCol="0" anchor="ctr"/>
          <a:lstStyle/>
          <a:p>
            <a:pPr marL="0" indent="0" algn="l">
              <a:buNone/>
            </a:pPr>
            <a:r>
              <a:rPr lang="en-US" sz="950" b="1" dirty="0">
                <a:solidFill>
                  <a:srgbClr val="D55E00"/>
                </a:solidFill>
                <a:latin typeface="Calibri" pitchFamily="34" charset="0"/>
                <a:ea typeface="Calibri" pitchFamily="34" charset="-122"/>
                <a:cs typeface="Calibri" pitchFamily="34" charset="-120"/>
              </a:rPr>
              <a:t>Sinusoidal</a:t>
            </a:r>
            <a:endParaRPr lang="en-US" sz="950" dirty="0"/>
          </a:p>
        </p:txBody>
      </p:sp>
      <p:sp>
        <p:nvSpPr>
          <p:cNvPr id="38" name="Text 35"/>
          <p:cNvSpPr txBox="1"/>
          <p:nvPr/>
        </p:nvSpPr>
        <p:spPr>
          <a:xfrm>
            <a:off x="8769096" y="3858768"/>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6.8091</a:t>
            </a:r>
            <a:endParaRPr lang="en-US" sz="950" dirty="0"/>
          </a:p>
        </p:txBody>
      </p:sp>
      <p:sp>
        <p:nvSpPr>
          <p:cNvPr id="39" name="Text 36"/>
          <p:cNvSpPr txBox="1"/>
          <p:nvPr/>
        </p:nvSpPr>
        <p:spPr>
          <a:xfrm>
            <a:off x="9537192" y="3858768"/>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9.1250</a:t>
            </a:r>
            <a:endParaRPr lang="en-US" sz="950" dirty="0"/>
          </a:p>
        </p:txBody>
      </p:sp>
      <p:sp>
        <p:nvSpPr>
          <p:cNvPr id="40" name="Text 37"/>
          <p:cNvSpPr txBox="1"/>
          <p:nvPr/>
        </p:nvSpPr>
        <p:spPr>
          <a:xfrm>
            <a:off x="10305288" y="3858768"/>
            <a:ext cx="713232" cy="438912"/>
          </a:xfrm>
          <a:prstGeom prst="rect">
            <a:avLst/>
          </a:prstGeom>
          <a:noFill/>
          <a:ln/>
        </p:spPr>
        <p:txBody>
          <a:bodyPr wrap="square" lIns="0" tIns="0" rIns="0" bIns="0" rtlCol="0" anchor="ctr"/>
          <a:lstStyle/>
          <a:p>
            <a:pPr marL="0" indent="0" algn="r">
              <a:buNone/>
            </a:pPr>
            <a:r>
              <a:rPr lang="en-US" sz="950" dirty="0">
                <a:solidFill>
                  <a:srgbClr val="14202E"/>
                </a:solidFill>
                <a:latin typeface="Calibri" pitchFamily="34" charset="0"/>
                <a:ea typeface="Calibri" pitchFamily="34" charset="-122"/>
                <a:cs typeface="Calibri" pitchFamily="34" charset="-120"/>
              </a:rPr>
              <a:t>9.1625</a:t>
            </a:r>
            <a:endParaRPr lang="en-US" sz="950" dirty="0"/>
          </a:p>
        </p:txBody>
      </p:sp>
      <p:sp>
        <p:nvSpPr>
          <p:cNvPr id="41" name="Text 38"/>
          <p:cNvSpPr txBox="1"/>
          <p:nvPr/>
        </p:nvSpPr>
        <p:spPr>
          <a:xfrm>
            <a:off x="11073384" y="3858768"/>
            <a:ext cx="859536" cy="438912"/>
          </a:xfrm>
          <a:prstGeom prst="rect">
            <a:avLst/>
          </a:prstGeom>
          <a:noFill/>
          <a:ln/>
        </p:spPr>
        <p:txBody>
          <a:bodyPr wrap="square" lIns="0" tIns="0" rIns="0" bIns="0" rtlCol="0" anchor="ctr"/>
          <a:lstStyle/>
          <a:p>
            <a:pPr marL="0" indent="0" algn="l">
              <a:buNone/>
            </a:pPr>
            <a:r>
              <a:rPr lang="en-US" sz="850" dirty="0">
                <a:solidFill>
                  <a:srgbClr val="5F7082"/>
                </a:solidFill>
                <a:latin typeface="Calibri" pitchFamily="34" charset="0"/>
                <a:ea typeface="Calibri" pitchFamily="34" charset="-122"/>
                <a:cs typeface="Calibri" pitchFamily="34" charset="-120"/>
              </a:rPr>
              <a:t>kəskin pisləşir</a:t>
            </a:r>
            <a:endParaRPr lang="en-US" sz="850" dirty="0"/>
          </a:p>
        </p:txBody>
      </p:sp>
      <p:sp>
        <p:nvSpPr>
          <p:cNvPr id="42" name="Shape 39"/>
          <p:cNvSpPr/>
          <p:nvPr/>
        </p:nvSpPr>
        <p:spPr>
          <a:xfrm>
            <a:off x="7589520" y="4425696"/>
            <a:ext cx="4050792" cy="1060704"/>
          </a:xfrm>
          <a:prstGeom prst="roundRect">
            <a:avLst>
              <a:gd name="adj" fmla="val 6034"/>
            </a:avLst>
          </a:prstGeom>
          <a:solidFill>
            <a:srgbClr val="F4F7F9"/>
          </a:solidFill>
          <a:ln/>
        </p:spPr>
      </p:sp>
      <p:sp>
        <p:nvSpPr>
          <p:cNvPr id="43" name="Text 40"/>
          <p:cNvSpPr txBox="1"/>
          <p:nvPr/>
        </p:nvSpPr>
        <p:spPr>
          <a:xfrm>
            <a:off x="7754112" y="4517136"/>
            <a:ext cx="3749040" cy="219456"/>
          </a:xfrm>
          <a:prstGeom prst="rect">
            <a:avLst/>
          </a:prstGeom>
          <a:noFill/>
          <a:ln/>
        </p:spPr>
        <p:txBody>
          <a:bodyPr wrap="square" lIns="0" tIns="0" rIns="0" bIns="0" rtlCol="0" anchor="ctr"/>
          <a:lstStyle/>
          <a:p>
            <a:pPr marL="0" indent="0">
              <a:buNone/>
            </a:pPr>
            <a:r>
              <a:rPr lang="en-US" sz="1050" b="1" kern="0" spc="110" dirty="0">
                <a:solidFill>
                  <a:srgbClr val="12324F"/>
                </a:solidFill>
                <a:latin typeface="Calibri" pitchFamily="34" charset="0"/>
                <a:ea typeface="Calibri" pitchFamily="34" charset="-122"/>
                <a:cs typeface="Calibri" pitchFamily="34" charset="-120"/>
              </a:rPr>
              <a:t>ƏLAVƏ: RoPE vs NoPE  (primary test)</a:t>
            </a:r>
            <a:endParaRPr lang="en-US" sz="1050" dirty="0"/>
          </a:p>
        </p:txBody>
      </p:sp>
      <p:sp>
        <p:nvSpPr>
          <p:cNvPr id="44" name="Text 41"/>
          <p:cNvSpPr txBox="1"/>
          <p:nvPr/>
        </p:nvSpPr>
        <p:spPr>
          <a:xfrm>
            <a:off x="7754112" y="4754880"/>
            <a:ext cx="3749040" cy="457200"/>
          </a:xfrm>
          <a:prstGeom prst="rect">
            <a:avLst/>
          </a:prstGeom>
          <a:noFill/>
          <a:ln/>
        </p:spPr>
        <p:txBody>
          <a:bodyPr wrap="square" lIns="0" tIns="0" rIns="0" bIns="0" rtlCol="0" anchor="ctr"/>
          <a:lstStyle/>
          <a:p>
            <a:pPr marL="0" indent="0">
              <a:buNone/>
            </a:pPr>
            <a:r>
              <a:rPr lang="en-US" sz="1000" dirty="0">
                <a:solidFill>
                  <a:srgbClr val="14202E"/>
                </a:solidFill>
                <a:latin typeface="Calibri" pitchFamily="34" charset="0"/>
                <a:ea typeface="Calibri" pitchFamily="34" charset="-122"/>
                <a:cs typeface="Calibri" pitchFamily="34" charset="-120"/>
              </a:rPr>
              <a:t>ΔNLL −0.115554  ·  nisbi PPL −10.91%  ·  5/5 seed  ·  Holm p ≈ 0.001</a:t>
            </a:r>
            <a:endParaRPr lang="en-US" sz="1000" dirty="0"/>
          </a:p>
        </p:txBody>
      </p:sp>
      <p:sp>
        <p:nvSpPr>
          <p:cNvPr id="45" name="Text 42"/>
          <p:cNvSpPr txBox="1"/>
          <p:nvPr/>
        </p:nvSpPr>
        <p:spPr>
          <a:xfrm>
            <a:off x="7754112" y="5138928"/>
            <a:ext cx="3749040" cy="310896"/>
          </a:xfrm>
          <a:prstGeom prst="rect">
            <a:avLst/>
          </a:prstGeom>
          <a:noFill/>
          <a:ln/>
        </p:spPr>
        <p:txBody>
          <a:bodyPr wrap="square" lIns="0" tIns="0" rIns="0" bIns="0" rtlCol="0" anchor="ctr"/>
          <a:lstStyle/>
          <a:p>
            <a:pPr marL="0" indent="0">
              <a:buNone/>
            </a:pPr>
            <a:r>
              <a:rPr lang="en-US" sz="900" i="1" dirty="0">
                <a:solidFill>
                  <a:srgbClr val="5F7082"/>
                </a:solidFill>
                <a:latin typeface="Calibri" pitchFamily="34" charset="0"/>
                <a:ea typeface="Calibri" pitchFamily="34" charset="-122"/>
                <a:cs typeface="Calibri" pitchFamily="34" charset="-120"/>
              </a:rPr>
              <a:t>Yəni 512 kontekstində RoPE NoPE-dən yaxşıdır — uzun kontekstdə isə mənzərə dəyişir.</a:t>
            </a:r>
            <a:endParaRPr lang="en-US" sz="900" dirty="0"/>
          </a:p>
        </p:txBody>
      </p:sp>
      <p:sp>
        <p:nvSpPr>
          <p:cNvPr id="46" name="Shape 43"/>
          <p:cNvSpPr/>
          <p:nvPr/>
        </p:nvSpPr>
        <p:spPr>
          <a:xfrm>
            <a:off x="548640" y="4992624"/>
            <a:ext cx="6858000" cy="786384"/>
          </a:xfrm>
          <a:prstGeom prst="roundRect">
            <a:avLst>
              <a:gd name="adj" fmla="val 8140"/>
            </a:avLst>
          </a:prstGeom>
          <a:solidFill>
            <a:srgbClr val="FDF3EC"/>
          </a:solidFill>
          <a:ln/>
        </p:spPr>
      </p:sp>
      <p:sp>
        <p:nvSpPr>
          <p:cNvPr id="47" name="Text 44"/>
          <p:cNvSpPr txBox="1"/>
          <p:nvPr/>
        </p:nvSpPr>
        <p:spPr>
          <a:xfrm>
            <a:off x="731520" y="4992624"/>
            <a:ext cx="6583680" cy="786384"/>
          </a:xfrm>
          <a:prstGeom prst="rect">
            <a:avLst/>
          </a:prstGeom>
          <a:noFill/>
          <a:ln/>
        </p:spPr>
        <p:txBody>
          <a:bodyPr wrap="square" lIns="0" tIns="0" rIns="0" bIns="0" rtlCol="0" anchor="ctr"/>
          <a:lstStyle/>
          <a:p>
            <a:pPr marL="0" indent="0">
              <a:buNone/>
            </a:pPr>
            <a:r>
              <a:rPr lang="en-US" sz="1050" b="1" dirty="0">
                <a:solidFill>
                  <a:srgbClr val="B26B00"/>
                </a:solidFill>
                <a:latin typeface="Calibri" pitchFamily="34" charset="0"/>
                <a:ea typeface="Calibri" pitchFamily="34" charset="-122"/>
                <a:cs typeface="Calibri" pitchFamily="34" charset="-120"/>
              </a:rPr>
              <a:t>Vacib qeyd:  </a:t>
            </a:r>
            <a:r>
              <a:rPr lang="en-US" sz="1050" dirty="0">
                <a:solidFill>
                  <a:srgbClr val="14202E"/>
                </a:solidFill>
                <a:latin typeface="Calibri" pitchFamily="34" charset="0"/>
                <a:ea typeface="Calibri" pitchFamily="34" charset="-122"/>
                <a:cs typeface="Calibri" pitchFamily="34" charset="-120"/>
              </a:rPr>
              <a:t>Bu uzun sənəd kohortu primary all-document testi ilə EYNİ estimand deyil. 25-ci slayddakı mütləq rəqəmlərlə bu cədvəli birbaşa müqayisə etmək olmaz — hədəf populyasiyası fərqlidir.</a:t>
            </a:r>
            <a:endParaRPr lang="en-US" sz="1050" dirty="0"/>
          </a:p>
        </p:txBody>
      </p:sp>
      <p:sp>
        <p:nvSpPr>
          <p:cNvPr id="48" name="Shape 45"/>
          <p:cNvSpPr/>
          <p:nvPr/>
        </p:nvSpPr>
        <p:spPr>
          <a:xfrm>
            <a:off x="548640" y="5870448"/>
            <a:ext cx="11091672" cy="420624"/>
          </a:xfrm>
          <a:prstGeom prst="roundRect">
            <a:avLst>
              <a:gd name="adj" fmla="val 15217"/>
            </a:avLst>
          </a:prstGeom>
          <a:solidFill>
            <a:srgbClr val="EAF0F4"/>
          </a:solidFill>
          <a:ln/>
        </p:spPr>
      </p:sp>
      <p:sp>
        <p:nvSpPr>
          <p:cNvPr id="49" name="Text 46"/>
          <p:cNvSpPr txBox="1"/>
          <p:nvPr/>
        </p:nvSpPr>
        <p:spPr>
          <a:xfrm>
            <a:off x="713232" y="5888736"/>
            <a:ext cx="10762488" cy="420624"/>
          </a:xfrm>
          <a:prstGeom prst="rect">
            <a:avLst/>
          </a:prstGeom>
          <a:noFill/>
          <a:ln/>
        </p:spPr>
        <p:txBody>
          <a:bodyPr wrap="square" lIns="0" tIns="0" rIns="0" bIns="0" rtlCol="0" anchor="ctr"/>
          <a:lstStyle/>
          <a:p>
            <a:pPr marL="0" indent="0">
              <a:buNone/>
            </a:pPr>
            <a:r>
              <a:rPr lang="en-US" sz="1150" b="1" dirty="0">
                <a:solidFill>
                  <a:srgbClr val="12324F"/>
                </a:solidFill>
                <a:latin typeface="Calibri" pitchFamily="34" charset="0"/>
                <a:ea typeface="Calibri" pitchFamily="34" charset="-122"/>
                <a:cs typeface="Calibri" pitchFamily="34" charset="-120"/>
              </a:rPr>
              <a:t>Interpretasiya:  </a:t>
            </a:r>
            <a:r>
              <a:rPr lang="en-US" sz="1150" dirty="0">
                <a:solidFill>
                  <a:srgbClr val="14202E"/>
                </a:solidFill>
                <a:latin typeface="Calibri" pitchFamily="34" charset="0"/>
                <a:ea typeface="Calibri" pitchFamily="34" charset="-122"/>
                <a:cs typeface="Calibri" pitchFamily="34" charset="-120"/>
              </a:rPr>
              <a:t>ALiBi 512-dən 2048-ə qədər praktiki olaraq düz xətt verdi; RoPE və Sinusoidal isə training uzunluğundan kənarda pisləşdi.</a:t>
            </a:r>
            <a:endParaRPr lang="en-US" sz="1150" dirty="0"/>
          </a:p>
        </p:txBody>
      </p:sp>
      <p:sp>
        <p:nvSpPr>
          <p:cNvPr id="50" name="Text 47"/>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Nihat Rzayev  ·  RzayevNihat</a:t>
            </a:r>
            <a:endParaRPr lang="en-US" sz="950" dirty="0"/>
          </a:p>
        </p:txBody>
      </p:sp>
      <p:sp>
        <p:nvSpPr>
          <p:cNvPr id="51" name="Text 48"/>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results/evaluation/tables/length.csv · ablation_rope_nope.csv</a:t>
            </a:r>
            <a:endParaRPr lang="en-US" sz="850" dirty="0"/>
          </a:p>
        </p:txBody>
      </p:sp>
      <p:sp>
        <p:nvSpPr>
          <p:cNvPr id="52" name="Text 49"/>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8A99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47472"/>
            <a:ext cx="5760720" cy="658368"/>
          </a:xfrm>
          <a:prstGeom prst="rect">
            <a:avLst/>
          </a:prstGeom>
          <a:noFill/>
          <a:ln/>
        </p:spPr>
        <p:txBody>
          <a:bodyPr wrap="square" lIns="0" tIns="0" rIns="0" bIns="0" rtlCol="0" anchor="t"/>
          <a:lstStyle/>
          <a:p>
            <a:pPr marL="0" indent="0">
              <a:buNone/>
            </a:pPr>
            <a:r>
              <a:rPr lang="en-US" sz="2500" b="1" dirty="0">
                <a:solidFill>
                  <a:srgbClr val="0E2438"/>
                </a:solidFill>
                <a:latin typeface="Cambria" pitchFamily="34" charset="0"/>
                <a:ea typeface="Cambria" pitchFamily="34" charset="-122"/>
                <a:cs typeface="Cambria" pitchFamily="34" charset="-120"/>
              </a:rPr>
              <a:t>Biz əslində nə kəşf etdik?</a:t>
            </a:r>
            <a:endParaRPr lang="en-US" sz="2500" dirty="0"/>
          </a:p>
        </p:txBody>
      </p:sp>
      <p:sp>
        <p:nvSpPr>
          <p:cNvPr id="4" name="Text 2"/>
          <p:cNvSpPr txBox="1"/>
          <p:nvPr/>
        </p:nvSpPr>
        <p:spPr>
          <a:xfrm>
            <a:off x="548640" y="1005840"/>
            <a:ext cx="10241280" cy="274320"/>
          </a:xfrm>
          <a:prstGeom prst="rect">
            <a:avLst/>
          </a:prstGeom>
          <a:noFill/>
          <a:ln/>
        </p:spPr>
        <p:txBody>
          <a:bodyPr wrap="square" lIns="0" tIns="0" rIns="0" bIns="0" rtlCol="0" anchor="ctr"/>
          <a:lstStyle/>
          <a:p>
            <a:pPr marL="0" indent="0">
              <a:buNone/>
            </a:pPr>
            <a:r>
              <a:rPr lang="en-US" sz="1300" i="1" dirty="0">
                <a:solidFill>
                  <a:srgbClr val="5F7082"/>
                </a:solidFill>
                <a:latin typeface="Calibri" pitchFamily="34" charset="0"/>
                <a:ea typeface="Calibri" pitchFamily="34" charset="-122"/>
                <a:cs typeface="Calibri" pitchFamily="34" charset="-120"/>
              </a:rPr>
              <a:t>Müşahidə  ·  interpretasiya  ·  hələ sübut olunmayan — üçünü qarışdırmamaq elmi dürüstlüyün əsasıdır</a:t>
            </a:r>
            <a:endParaRPr lang="en-US" sz="1300" dirty="0"/>
          </a:p>
        </p:txBody>
      </p:sp>
      <p:sp>
        <p:nvSpPr>
          <p:cNvPr id="5" name="Shape 3"/>
          <p:cNvSpPr/>
          <p:nvPr/>
        </p:nvSpPr>
        <p:spPr>
          <a:xfrm>
            <a:off x="548640" y="1371600"/>
            <a:ext cx="3566160" cy="402336"/>
          </a:xfrm>
          <a:prstGeom prst="rect">
            <a:avLst/>
          </a:prstGeom>
          <a:solidFill>
            <a:srgbClr val="0B6B50"/>
          </a:solidFill>
          <a:ln/>
        </p:spPr>
      </p:sp>
      <p:sp>
        <p:nvSpPr>
          <p:cNvPr id="6" name="Text 4"/>
          <p:cNvSpPr txBox="1"/>
          <p:nvPr/>
        </p:nvSpPr>
        <p:spPr>
          <a:xfrm>
            <a:off x="548640" y="1371600"/>
            <a:ext cx="3566160" cy="402336"/>
          </a:xfrm>
          <a:prstGeom prst="rect">
            <a:avLst/>
          </a:prstGeom>
          <a:noFill/>
          <a:ln/>
        </p:spPr>
        <p:txBody>
          <a:bodyPr wrap="square" lIns="0" tIns="0" rIns="0" bIns="0" rtlCol="0" anchor="ctr"/>
          <a:lstStyle/>
          <a:p>
            <a:pPr marL="0" indent="0" algn="ctr">
              <a:buNone/>
            </a:pPr>
            <a:r>
              <a:rPr lang="en-US" sz="1150" b="1" kern="0" spc="80" dirty="0">
                <a:solidFill>
                  <a:srgbClr val="FFFFFF"/>
                </a:solidFill>
                <a:latin typeface="Calibri" pitchFamily="34" charset="0"/>
                <a:ea typeface="Calibri" pitchFamily="34" charset="-122"/>
                <a:cs typeface="Calibri" pitchFamily="34" charset="-120"/>
              </a:rPr>
              <a:t>MÜŞAHİDƏ OLUNAN</a:t>
            </a:r>
            <a:endParaRPr lang="en-US" sz="1150" dirty="0"/>
          </a:p>
        </p:txBody>
      </p:sp>
      <p:sp>
        <p:nvSpPr>
          <p:cNvPr id="7" name="Shape 5"/>
          <p:cNvSpPr/>
          <p:nvPr/>
        </p:nvSpPr>
        <p:spPr>
          <a:xfrm>
            <a:off x="548640" y="1828800"/>
            <a:ext cx="3566160" cy="2286000"/>
          </a:xfrm>
          <a:prstGeom prst="roundRect">
            <a:avLst>
              <a:gd name="adj" fmla="val 2800"/>
            </a:avLst>
          </a:prstGeom>
          <a:solidFill>
            <a:srgbClr val="E6F5EF"/>
          </a:solidFill>
          <a:ln/>
        </p:spPr>
      </p:sp>
      <p:sp>
        <p:nvSpPr>
          <p:cNvPr id="8" name="Text 6"/>
          <p:cNvSpPr txBox="1"/>
          <p:nvPr/>
        </p:nvSpPr>
        <p:spPr>
          <a:xfrm>
            <a:off x="694944" y="1938528"/>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ALiBi ən aşağı held-out NLL-i göstərdi</a:t>
            </a:r>
            <a:endParaRPr lang="en-US" sz="1050" dirty="0"/>
          </a:p>
        </p:txBody>
      </p:sp>
      <p:sp>
        <p:nvSpPr>
          <p:cNvPr id="9" name="Text 7"/>
          <p:cNvSpPr txBox="1"/>
          <p:nvPr/>
        </p:nvSpPr>
        <p:spPr>
          <a:xfrm>
            <a:off x="694944" y="2468880"/>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Beş seed-in hamısında 1-ci</a:t>
            </a:r>
            <a:endParaRPr lang="en-US" sz="1050" dirty="0"/>
          </a:p>
        </p:txBody>
      </p:sp>
      <p:sp>
        <p:nvSpPr>
          <p:cNvPr id="10" name="Text 8"/>
          <p:cNvSpPr txBox="1"/>
          <p:nvPr/>
        </p:nvSpPr>
        <p:spPr>
          <a:xfrm>
            <a:off x="694944" y="2999232"/>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Ölçülən bütün training büdcələrində 1-ci</a:t>
            </a:r>
            <a:endParaRPr lang="en-US" sz="1050" dirty="0"/>
          </a:p>
        </p:txBody>
      </p:sp>
      <p:sp>
        <p:nvSpPr>
          <p:cNvPr id="11" name="Text 9"/>
          <p:cNvSpPr txBox="1"/>
          <p:nvPr/>
        </p:nvSpPr>
        <p:spPr>
          <a:xfrm>
            <a:off x="694944" y="3529584"/>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512 → 2048 keçidində ən sabit davranış</a:t>
            </a:r>
            <a:endParaRPr lang="en-US" sz="1050" dirty="0"/>
          </a:p>
        </p:txBody>
      </p:sp>
      <p:sp>
        <p:nvSpPr>
          <p:cNvPr id="12" name="Shape 10"/>
          <p:cNvSpPr/>
          <p:nvPr/>
        </p:nvSpPr>
        <p:spPr>
          <a:xfrm>
            <a:off x="4297680" y="1371600"/>
            <a:ext cx="3566160" cy="402336"/>
          </a:xfrm>
          <a:prstGeom prst="rect">
            <a:avLst/>
          </a:prstGeom>
          <a:solidFill>
            <a:srgbClr val="12324F"/>
          </a:solidFill>
          <a:ln/>
        </p:spPr>
      </p:sp>
      <p:sp>
        <p:nvSpPr>
          <p:cNvPr id="13" name="Text 11"/>
          <p:cNvSpPr txBox="1"/>
          <p:nvPr/>
        </p:nvSpPr>
        <p:spPr>
          <a:xfrm>
            <a:off x="4297680" y="1371600"/>
            <a:ext cx="3566160" cy="402336"/>
          </a:xfrm>
          <a:prstGeom prst="rect">
            <a:avLst/>
          </a:prstGeom>
          <a:noFill/>
          <a:ln/>
        </p:spPr>
        <p:txBody>
          <a:bodyPr wrap="square" lIns="0" tIns="0" rIns="0" bIns="0" rtlCol="0" anchor="ctr"/>
          <a:lstStyle/>
          <a:p>
            <a:pPr marL="0" indent="0" algn="ctr">
              <a:buNone/>
            </a:pPr>
            <a:r>
              <a:rPr lang="en-US" sz="1150" b="1" kern="0" spc="80" dirty="0">
                <a:solidFill>
                  <a:srgbClr val="FFFFFF"/>
                </a:solidFill>
                <a:latin typeface="Calibri" pitchFamily="34" charset="0"/>
                <a:ea typeface="Calibri" pitchFamily="34" charset="-122"/>
                <a:cs typeface="Calibri" pitchFamily="34" charset="-120"/>
              </a:rPr>
              <a:t>İNTERPRETASİYA</a:t>
            </a:r>
            <a:endParaRPr lang="en-US" sz="1150" dirty="0"/>
          </a:p>
        </p:txBody>
      </p:sp>
      <p:sp>
        <p:nvSpPr>
          <p:cNvPr id="14" name="Shape 12"/>
          <p:cNvSpPr/>
          <p:nvPr/>
        </p:nvSpPr>
        <p:spPr>
          <a:xfrm>
            <a:off x="4297680" y="1828800"/>
            <a:ext cx="3566160" cy="2286000"/>
          </a:xfrm>
          <a:prstGeom prst="roundRect">
            <a:avLst>
              <a:gd name="adj" fmla="val 2800"/>
            </a:avLst>
          </a:prstGeom>
          <a:solidFill>
            <a:srgbClr val="F4F7F9"/>
          </a:solidFill>
          <a:ln/>
        </p:spPr>
      </p:sp>
      <p:sp>
        <p:nvSpPr>
          <p:cNvPr id="15" name="Text 13"/>
          <p:cNvSpPr txBox="1"/>
          <p:nvPr/>
        </p:nvSpPr>
        <p:spPr>
          <a:xfrm>
            <a:off x="4443984" y="1938528"/>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Mövqe induktiv bias-ı bu low-data Azərbaycan şəraitində nəticəyə əhəmiyyətli dərəcədə təsir edir</a:t>
            </a:r>
            <a:endParaRPr lang="en-US" sz="1050" dirty="0"/>
          </a:p>
        </p:txBody>
      </p:sp>
      <p:sp>
        <p:nvSpPr>
          <p:cNvPr id="16" name="Text 14"/>
          <p:cNvSpPr txBox="1"/>
          <p:nvPr/>
        </p:nvSpPr>
        <p:spPr>
          <a:xfrm>
            <a:off x="4443984" y="2468880"/>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ALiBi bu dondurulmuş eksperiment daxilində xüsusilə effektiv oldu</a:t>
            </a:r>
            <a:endParaRPr lang="en-US" sz="1050" dirty="0"/>
          </a:p>
        </p:txBody>
      </p:sp>
      <p:sp>
        <p:nvSpPr>
          <p:cNvPr id="17" name="Text 15"/>
          <p:cNvSpPr txBox="1"/>
          <p:nvPr/>
        </p:nvSpPr>
        <p:spPr>
          <a:xfrm>
            <a:off x="4443984" y="2999232"/>
            <a:ext cx="3273552"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Nisbi məsafə ilə işləyən metodlar absolute metodları üstələdi</a:t>
            </a:r>
            <a:endParaRPr lang="en-US" sz="1050" dirty="0"/>
          </a:p>
        </p:txBody>
      </p:sp>
      <p:sp>
        <p:nvSpPr>
          <p:cNvPr id="18" name="Shape 16"/>
          <p:cNvSpPr/>
          <p:nvPr/>
        </p:nvSpPr>
        <p:spPr>
          <a:xfrm>
            <a:off x="8046720" y="1371600"/>
            <a:ext cx="3593592" cy="402336"/>
          </a:xfrm>
          <a:prstGeom prst="rect">
            <a:avLst/>
          </a:prstGeom>
          <a:solidFill>
            <a:srgbClr val="B26B00"/>
          </a:solidFill>
          <a:ln/>
        </p:spPr>
      </p:sp>
      <p:sp>
        <p:nvSpPr>
          <p:cNvPr id="19" name="Text 17"/>
          <p:cNvSpPr txBox="1"/>
          <p:nvPr/>
        </p:nvSpPr>
        <p:spPr>
          <a:xfrm>
            <a:off x="8046720" y="1371600"/>
            <a:ext cx="3593592" cy="402336"/>
          </a:xfrm>
          <a:prstGeom prst="rect">
            <a:avLst/>
          </a:prstGeom>
          <a:noFill/>
          <a:ln/>
        </p:spPr>
        <p:txBody>
          <a:bodyPr wrap="square" lIns="0" tIns="0" rIns="0" bIns="0" rtlCol="0" anchor="ctr"/>
          <a:lstStyle/>
          <a:p>
            <a:pPr marL="0" indent="0" algn="ctr">
              <a:buNone/>
            </a:pPr>
            <a:r>
              <a:rPr lang="en-US" sz="1150" b="1" kern="0" spc="80" dirty="0">
                <a:solidFill>
                  <a:srgbClr val="FFFFFF"/>
                </a:solidFill>
                <a:latin typeface="Calibri" pitchFamily="34" charset="0"/>
                <a:ea typeface="Calibri" pitchFamily="34" charset="-122"/>
                <a:cs typeface="Calibri" pitchFamily="34" charset="-120"/>
              </a:rPr>
              <a:t>HƏLƏ SÜBUT OLUNMAYAN</a:t>
            </a:r>
            <a:endParaRPr lang="en-US" sz="1150" dirty="0"/>
          </a:p>
        </p:txBody>
      </p:sp>
      <p:sp>
        <p:nvSpPr>
          <p:cNvPr id="20" name="Shape 18"/>
          <p:cNvSpPr/>
          <p:nvPr/>
        </p:nvSpPr>
        <p:spPr>
          <a:xfrm>
            <a:off x="8046720" y="1828800"/>
            <a:ext cx="3593592" cy="2286000"/>
          </a:xfrm>
          <a:prstGeom prst="roundRect">
            <a:avLst>
              <a:gd name="adj" fmla="val 2800"/>
            </a:avLst>
          </a:prstGeom>
          <a:solidFill>
            <a:srgbClr val="FDF3EC"/>
          </a:solidFill>
          <a:ln/>
        </p:spPr>
      </p:sp>
      <p:sp>
        <p:nvSpPr>
          <p:cNvPr id="21" name="Text 19"/>
          <p:cNvSpPr txBox="1"/>
          <p:nvPr/>
        </p:nvSpPr>
        <p:spPr>
          <a:xfrm>
            <a:off x="8193024" y="1938528"/>
            <a:ext cx="3300984"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ALiBi Azərbaycan dili üçün universal olaraq ən yaxşıdır</a:t>
            </a:r>
            <a:endParaRPr lang="en-US" sz="1050" dirty="0"/>
          </a:p>
        </p:txBody>
      </p:sp>
      <p:sp>
        <p:nvSpPr>
          <p:cNvPr id="22" name="Text 20"/>
          <p:cNvSpPr txBox="1"/>
          <p:nvPr/>
        </p:nvSpPr>
        <p:spPr>
          <a:xfrm>
            <a:off x="8193024" y="2468880"/>
            <a:ext cx="3300984"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Morfologiya ALiBi-nin qalibiyyətinə SƏBƏB oldu</a:t>
            </a:r>
            <a:endParaRPr lang="en-US" sz="1050" dirty="0"/>
          </a:p>
        </p:txBody>
      </p:sp>
      <p:sp>
        <p:nvSpPr>
          <p:cNvPr id="23" name="Text 21"/>
          <p:cNvSpPr txBox="1"/>
          <p:nvPr/>
        </p:nvSpPr>
        <p:spPr>
          <a:xfrm>
            <a:off x="8193024" y="2999232"/>
            <a:ext cx="3300984"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Eyni sıralama milyardlıq miqyasda qalır</a:t>
            </a:r>
            <a:endParaRPr lang="en-US" sz="1050" dirty="0"/>
          </a:p>
        </p:txBody>
      </p:sp>
      <p:sp>
        <p:nvSpPr>
          <p:cNvPr id="24" name="Text 22"/>
          <p:cNvSpPr txBox="1"/>
          <p:nvPr/>
        </p:nvSpPr>
        <p:spPr>
          <a:xfrm>
            <a:off x="8193024" y="3529584"/>
            <a:ext cx="3300984" cy="512064"/>
          </a:xfrm>
          <a:prstGeom prst="rect">
            <a:avLst/>
          </a:prstGeom>
          <a:noFill/>
          <a:ln/>
        </p:spPr>
        <p:txBody>
          <a:bodyPr wrap="square" lIns="0" tIns="0" rIns="0" bIns="0" rtlCol="0" anchor="ctr"/>
          <a:lstStyle/>
          <a:p>
            <a:pPr marL="0" indent="0">
              <a:buNone/>
            </a:pPr>
            <a:r>
              <a:rPr lang="en-US" sz="1050" dirty="0">
                <a:solidFill>
                  <a:srgbClr val="14202E"/>
                </a:solidFill>
                <a:latin typeface="Calibri" pitchFamily="34" charset="0"/>
                <a:ea typeface="Calibri" pitchFamily="34" charset="-122"/>
                <a:cs typeface="Calibri" pitchFamily="34" charset="-120"/>
              </a:rPr>
              <a:t>—  Eyni sıralama bütün türk dilləri üçün keçərlidir</a:t>
            </a:r>
            <a:endParaRPr lang="en-US" sz="1050" dirty="0"/>
          </a:p>
        </p:txBody>
      </p:sp>
      <p:sp>
        <p:nvSpPr>
          <p:cNvPr id="25" name="Text 23"/>
          <p:cNvSpPr txBox="1"/>
          <p:nvPr/>
        </p:nvSpPr>
        <p:spPr>
          <a:xfrm>
            <a:off x="548640" y="4279392"/>
            <a:ext cx="5486400"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TƏDQİQATIN TÖHFƏSİ</a:t>
            </a:r>
            <a:endParaRPr lang="en-US" sz="1050" dirty="0"/>
          </a:p>
        </p:txBody>
      </p:sp>
      <p:sp>
        <p:nvSpPr>
          <p:cNvPr id="26" name="Shape 24"/>
          <p:cNvSpPr/>
          <p:nvPr/>
        </p:nvSpPr>
        <p:spPr>
          <a:xfrm>
            <a:off x="548640" y="4553712"/>
            <a:ext cx="1783080" cy="347472"/>
          </a:xfrm>
          <a:prstGeom prst="rect">
            <a:avLst/>
          </a:prstGeom>
          <a:solidFill>
            <a:srgbClr val="E6F5EF"/>
          </a:solidFill>
          <a:ln/>
        </p:spPr>
      </p:sp>
      <p:sp>
        <p:nvSpPr>
          <p:cNvPr id="27" name="Text 25"/>
          <p:cNvSpPr txBox="1"/>
          <p:nvPr/>
        </p:nvSpPr>
        <p:spPr>
          <a:xfrm>
            <a:off x="621792" y="4553712"/>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nəzarətli empirik nəticə</a:t>
            </a:r>
            <a:endParaRPr lang="en-US" sz="850" dirty="0"/>
          </a:p>
        </p:txBody>
      </p:sp>
      <p:sp>
        <p:nvSpPr>
          <p:cNvPr id="28" name="Shape 26"/>
          <p:cNvSpPr/>
          <p:nvPr/>
        </p:nvSpPr>
        <p:spPr>
          <a:xfrm>
            <a:off x="2423160" y="4553712"/>
            <a:ext cx="1783080" cy="347472"/>
          </a:xfrm>
          <a:prstGeom prst="rect">
            <a:avLst/>
          </a:prstGeom>
          <a:solidFill>
            <a:srgbClr val="E6F5EF"/>
          </a:solidFill>
          <a:ln/>
        </p:spPr>
      </p:sp>
      <p:sp>
        <p:nvSpPr>
          <p:cNvPr id="29" name="Text 27"/>
          <p:cNvSpPr txBox="1"/>
          <p:nvPr/>
        </p:nvSpPr>
        <p:spPr>
          <a:xfrm>
            <a:off x="2496312" y="4553712"/>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Azərbaycan / low-resource sübut</a:t>
            </a:r>
            <a:endParaRPr lang="en-US" sz="850" dirty="0"/>
          </a:p>
        </p:txBody>
      </p:sp>
      <p:sp>
        <p:nvSpPr>
          <p:cNvPr id="30" name="Shape 28"/>
          <p:cNvSpPr/>
          <p:nvPr/>
        </p:nvSpPr>
        <p:spPr>
          <a:xfrm>
            <a:off x="4297680" y="4553712"/>
            <a:ext cx="1783080" cy="347472"/>
          </a:xfrm>
          <a:prstGeom prst="rect">
            <a:avLst/>
          </a:prstGeom>
          <a:solidFill>
            <a:srgbClr val="E6F5EF"/>
          </a:solidFill>
          <a:ln/>
        </p:spPr>
      </p:sp>
      <p:sp>
        <p:nvSpPr>
          <p:cNvPr id="31" name="Text 29"/>
          <p:cNvSpPr txBox="1"/>
          <p:nvPr/>
        </p:nvSpPr>
        <p:spPr>
          <a:xfrm>
            <a:off x="4370832" y="4553712"/>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çox-seed ciddiliyi</a:t>
            </a:r>
            <a:endParaRPr lang="en-US" sz="850" dirty="0"/>
          </a:p>
        </p:txBody>
      </p:sp>
      <p:sp>
        <p:nvSpPr>
          <p:cNvPr id="32" name="Shape 30"/>
          <p:cNvSpPr/>
          <p:nvPr/>
        </p:nvSpPr>
        <p:spPr>
          <a:xfrm>
            <a:off x="548640" y="4956048"/>
            <a:ext cx="1783080" cy="347472"/>
          </a:xfrm>
          <a:prstGeom prst="rect">
            <a:avLst/>
          </a:prstGeom>
          <a:solidFill>
            <a:srgbClr val="E6F5EF"/>
          </a:solidFill>
          <a:ln/>
        </p:spPr>
      </p:sp>
      <p:sp>
        <p:nvSpPr>
          <p:cNvPr id="33" name="Text 31"/>
          <p:cNvSpPr txBox="1"/>
          <p:nvPr/>
        </p:nvSpPr>
        <p:spPr>
          <a:xfrm>
            <a:off x="621792" y="4956048"/>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leakage-nəzarətli korpus</a:t>
            </a:r>
            <a:endParaRPr lang="en-US" sz="850" dirty="0"/>
          </a:p>
        </p:txBody>
      </p:sp>
      <p:sp>
        <p:nvSpPr>
          <p:cNvPr id="34" name="Shape 32"/>
          <p:cNvSpPr/>
          <p:nvPr/>
        </p:nvSpPr>
        <p:spPr>
          <a:xfrm>
            <a:off x="2423160" y="4956048"/>
            <a:ext cx="1783080" cy="347472"/>
          </a:xfrm>
          <a:prstGeom prst="rect">
            <a:avLst/>
          </a:prstGeom>
          <a:solidFill>
            <a:srgbClr val="E6F5EF"/>
          </a:solidFill>
          <a:ln/>
        </p:spPr>
      </p:sp>
      <p:sp>
        <p:nvSpPr>
          <p:cNvPr id="35" name="Text 33"/>
          <p:cNvSpPr txBox="1"/>
          <p:nvPr/>
        </p:nvSpPr>
        <p:spPr>
          <a:xfrm>
            <a:off x="2496312" y="4956048"/>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güclü reproducibility</a:t>
            </a:r>
            <a:endParaRPr lang="en-US" sz="850" dirty="0"/>
          </a:p>
        </p:txBody>
      </p:sp>
      <p:sp>
        <p:nvSpPr>
          <p:cNvPr id="36" name="Shape 34"/>
          <p:cNvSpPr/>
          <p:nvPr/>
        </p:nvSpPr>
        <p:spPr>
          <a:xfrm>
            <a:off x="4297680" y="4956048"/>
            <a:ext cx="1783080" cy="347472"/>
          </a:xfrm>
          <a:prstGeom prst="rect">
            <a:avLst/>
          </a:prstGeom>
          <a:solidFill>
            <a:srgbClr val="E6F5EF"/>
          </a:solidFill>
          <a:ln/>
        </p:spPr>
      </p:sp>
      <p:sp>
        <p:nvSpPr>
          <p:cNvPr id="37" name="Text 35"/>
          <p:cNvSpPr txBox="1"/>
          <p:nvPr/>
        </p:nvSpPr>
        <p:spPr>
          <a:xfrm>
            <a:off x="4370832" y="4956048"/>
            <a:ext cx="1645920" cy="347472"/>
          </a:xfrm>
          <a:prstGeom prst="rect">
            <a:avLst/>
          </a:prstGeom>
          <a:noFill/>
          <a:ln/>
        </p:spPr>
        <p:txBody>
          <a:bodyPr wrap="square" lIns="0" tIns="0" rIns="0" bIns="0" rtlCol="0" anchor="ctr"/>
          <a:lstStyle/>
          <a:p>
            <a:pPr marL="0" indent="0">
              <a:buNone/>
            </a:pPr>
            <a:r>
              <a:rPr lang="en-US" sz="850" dirty="0">
                <a:solidFill>
                  <a:srgbClr val="0B4A38"/>
                </a:solidFill>
                <a:latin typeface="Calibri" pitchFamily="34" charset="0"/>
                <a:ea typeface="Calibri" pitchFamily="34" charset="-122"/>
                <a:cs typeface="Calibri" pitchFamily="34" charset="-120"/>
              </a:rPr>
              <a:t>length-generalization sübutu</a:t>
            </a:r>
            <a:endParaRPr lang="en-US" sz="850" dirty="0"/>
          </a:p>
        </p:txBody>
      </p:sp>
      <p:sp>
        <p:nvSpPr>
          <p:cNvPr id="38" name="Text 36"/>
          <p:cNvSpPr txBox="1"/>
          <p:nvPr/>
        </p:nvSpPr>
        <p:spPr>
          <a:xfrm>
            <a:off x="6272784" y="4279392"/>
            <a:ext cx="5367528" cy="219456"/>
          </a:xfrm>
          <a:prstGeom prst="rect">
            <a:avLst/>
          </a:prstGeom>
          <a:noFill/>
          <a:ln/>
        </p:spPr>
        <p:txBody>
          <a:bodyPr wrap="square" lIns="0" tIns="0" rIns="0" bIns="0" rtlCol="0" anchor="ctr"/>
          <a:lstStyle/>
          <a:p>
            <a:pPr marL="0" indent="0">
              <a:buNone/>
            </a:pPr>
            <a:r>
              <a:rPr lang="en-US" sz="1050" b="1" kern="0" spc="110" dirty="0">
                <a:solidFill>
                  <a:srgbClr val="2E7D8F"/>
                </a:solidFill>
                <a:latin typeface="Calibri" pitchFamily="34" charset="0"/>
                <a:ea typeface="Calibri" pitchFamily="34" charset="-122"/>
                <a:cs typeface="Calibri" pitchFamily="34" charset="-120"/>
              </a:rPr>
              <a:t>MƏHDUDİYYƏTLƏR</a:t>
            </a:r>
            <a:endParaRPr lang="en-US" sz="1050" dirty="0"/>
          </a:p>
        </p:txBody>
      </p:sp>
      <p:sp>
        <p:nvSpPr>
          <p:cNvPr id="39" name="Shape 37"/>
          <p:cNvSpPr/>
          <p:nvPr/>
        </p:nvSpPr>
        <p:spPr>
          <a:xfrm>
            <a:off x="6272784" y="4553712"/>
            <a:ext cx="1737360" cy="347472"/>
          </a:xfrm>
          <a:prstGeom prst="rect">
            <a:avLst/>
          </a:prstGeom>
          <a:solidFill>
            <a:srgbClr val="FDF3EC"/>
          </a:solidFill>
          <a:ln/>
        </p:spPr>
      </p:sp>
      <p:sp>
        <p:nvSpPr>
          <p:cNvPr id="40" name="Text 38"/>
          <p:cNvSpPr txBox="1"/>
          <p:nvPr/>
        </p:nvSpPr>
        <p:spPr>
          <a:xfrm>
            <a:off x="6345936" y="4553712"/>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bir dil</a:t>
            </a:r>
            <a:endParaRPr lang="en-US" sz="850" dirty="0"/>
          </a:p>
        </p:txBody>
      </p:sp>
      <p:sp>
        <p:nvSpPr>
          <p:cNvPr id="41" name="Shape 39"/>
          <p:cNvSpPr/>
          <p:nvPr/>
        </p:nvSpPr>
        <p:spPr>
          <a:xfrm>
            <a:off x="8101584" y="4553712"/>
            <a:ext cx="1737360" cy="347472"/>
          </a:xfrm>
          <a:prstGeom prst="rect">
            <a:avLst/>
          </a:prstGeom>
          <a:solidFill>
            <a:srgbClr val="FDF3EC"/>
          </a:solidFill>
          <a:ln/>
        </p:spPr>
      </p:sp>
      <p:sp>
        <p:nvSpPr>
          <p:cNvPr id="42" name="Text 40"/>
          <p:cNvSpPr txBox="1"/>
          <p:nvPr/>
        </p:nvSpPr>
        <p:spPr>
          <a:xfrm>
            <a:off x="8174736" y="4553712"/>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≈13M parametrlik model</a:t>
            </a:r>
            <a:endParaRPr lang="en-US" sz="850" dirty="0"/>
          </a:p>
        </p:txBody>
      </p:sp>
      <p:sp>
        <p:nvSpPr>
          <p:cNvPr id="43" name="Shape 41"/>
          <p:cNvSpPr/>
          <p:nvPr/>
        </p:nvSpPr>
        <p:spPr>
          <a:xfrm>
            <a:off x="9930384" y="4553712"/>
            <a:ext cx="1737360" cy="347472"/>
          </a:xfrm>
          <a:prstGeom prst="rect">
            <a:avLst/>
          </a:prstGeom>
          <a:solidFill>
            <a:srgbClr val="FDF3EC"/>
          </a:solidFill>
          <a:ln/>
        </p:spPr>
      </p:sp>
      <p:sp>
        <p:nvSpPr>
          <p:cNvPr id="44" name="Text 42"/>
          <p:cNvSpPr txBox="1"/>
          <p:nvPr/>
        </p:nvSpPr>
        <p:spPr>
          <a:xfrm>
            <a:off x="10003536" y="4553712"/>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bir arxitektura ailəsi</a:t>
            </a:r>
            <a:endParaRPr lang="en-US" sz="850" dirty="0"/>
          </a:p>
        </p:txBody>
      </p:sp>
      <p:sp>
        <p:nvSpPr>
          <p:cNvPr id="45" name="Shape 43"/>
          <p:cNvSpPr/>
          <p:nvPr/>
        </p:nvSpPr>
        <p:spPr>
          <a:xfrm>
            <a:off x="6272784" y="4956048"/>
            <a:ext cx="1737360" cy="347472"/>
          </a:xfrm>
          <a:prstGeom prst="rect">
            <a:avLst/>
          </a:prstGeom>
          <a:solidFill>
            <a:srgbClr val="FDF3EC"/>
          </a:solidFill>
          <a:ln/>
        </p:spPr>
      </p:sp>
      <p:sp>
        <p:nvSpPr>
          <p:cNvPr id="46" name="Text 44"/>
          <p:cNvSpPr txBox="1"/>
          <p:nvPr/>
        </p:nvSpPr>
        <p:spPr>
          <a:xfrm>
            <a:off x="6345936" y="4956048"/>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bir əsas 50M büdcə</a:t>
            </a:r>
            <a:endParaRPr lang="en-US" sz="850" dirty="0"/>
          </a:p>
        </p:txBody>
      </p:sp>
      <p:sp>
        <p:nvSpPr>
          <p:cNvPr id="47" name="Shape 45"/>
          <p:cNvSpPr/>
          <p:nvPr/>
        </p:nvSpPr>
        <p:spPr>
          <a:xfrm>
            <a:off x="8101584" y="4956048"/>
            <a:ext cx="1737360" cy="347472"/>
          </a:xfrm>
          <a:prstGeom prst="rect">
            <a:avLst/>
          </a:prstGeom>
          <a:solidFill>
            <a:srgbClr val="FDF3EC"/>
          </a:solidFill>
          <a:ln/>
        </p:spPr>
      </p:sp>
      <p:sp>
        <p:nvSpPr>
          <p:cNvPr id="48" name="Text 46"/>
          <p:cNvSpPr txBox="1"/>
          <p:nvPr/>
        </p:nvSpPr>
        <p:spPr>
          <a:xfrm>
            <a:off x="8174736" y="4956048"/>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morfologiya izolyasiya</a:t>
            </a:r>
            <a:endParaRPr lang="en-US" sz="850" dirty="0"/>
          </a:p>
          <a:p>
            <a:pPr marL="0" indent="0">
              <a:buNone/>
            </a:pPr>
            <a:r>
              <a:rPr lang="en-US" sz="850" dirty="0">
                <a:solidFill>
                  <a:srgbClr val="8A5A00"/>
                </a:solidFill>
                <a:latin typeface="Calibri" pitchFamily="34" charset="0"/>
                <a:ea typeface="Calibri" pitchFamily="34" charset="-122"/>
                <a:cs typeface="Calibri" pitchFamily="34" charset="-120"/>
              </a:rPr>
              <a:t>edilməyib</a:t>
            </a:r>
            <a:endParaRPr lang="en-US" sz="850" dirty="0"/>
          </a:p>
        </p:txBody>
      </p:sp>
      <p:sp>
        <p:nvSpPr>
          <p:cNvPr id="49" name="Shape 47"/>
          <p:cNvSpPr/>
          <p:nvPr/>
        </p:nvSpPr>
        <p:spPr>
          <a:xfrm>
            <a:off x="9930384" y="4956048"/>
            <a:ext cx="1737360" cy="347472"/>
          </a:xfrm>
          <a:prstGeom prst="rect">
            <a:avLst/>
          </a:prstGeom>
          <a:solidFill>
            <a:srgbClr val="FDF3EC"/>
          </a:solidFill>
          <a:ln/>
        </p:spPr>
      </p:sp>
      <p:sp>
        <p:nvSpPr>
          <p:cNvPr id="50" name="Text 48"/>
          <p:cNvSpPr txBox="1"/>
          <p:nvPr/>
        </p:nvSpPr>
        <p:spPr>
          <a:xfrm>
            <a:off x="10003536" y="4956048"/>
            <a:ext cx="1600200" cy="347472"/>
          </a:xfrm>
          <a:prstGeom prst="rect">
            <a:avLst/>
          </a:prstGeom>
          <a:noFill/>
          <a:ln/>
        </p:spPr>
        <p:txBody>
          <a:bodyPr wrap="square" lIns="0" tIns="0" rIns="0" bIns="0" rtlCol="0" anchor="ctr"/>
          <a:lstStyle/>
          <a:p>
            <a:pPr marL="0" indent="0">
              <a:buNone/>
            </a:pPr>
            <a:r>
              <a:rPr lang="en-US" sz="850" dirty="0">
                <a:solidFill>
                  <a:srgbClr val="8A5A00"/>
                </a:solidFill>
                <a:latin typeface="Calibri" pitchFamily="34" charset="0"/>
                <a:ea typeface="Calibri" pitchFamily="34" charset="-122"/>
                <a:cs typeface="Calibri" pitchFamily="34" charset="-120"/>
              </a:rPr>
              <a:t>cəmi beş seed</a:t>
            </a:r>
            <a:endParaRPr lang="en-US" sz="850" dirty="0"/>
          </a:p>
        </p:txBody>
      </p:sp>
      <p:sp>
        <p:nvSpPr>
          <p:cNvPr id="51" name="Shape 49"/>
          <p:cNvSpPr/>
          <p:nvPr/>
        </p:nvSpPr>
        <p:spPr>
          <a:xfrm>
            <a:off x="548640" y="5504688"/>
            <a:ext cx="11091672" cy="457200"/>
          </a:xfrm>
          <a:prstGeom prst="roundRect">
            <a:avLst>
              <a:gd name="adj" fmla="val 14000"/>
            </a:avLst>
          </a:prstGeom>
          <a:solidFill>
            <a:srgbClr val="EAF0F4"/>
          </a:solidFill>
          <a:ln/>
        </p:spPr>
      </p:sp>
      <p:sp>
        <p:nvSpPr>
          <p:cNvPr id="52" name="Text 50"/>
          <p:cNvSpPr txBox="1"/>
          <p:nvPr/>
        </p:nvSpPr>
        <p:spPr>
          <a:xfrm>
            <a:off x="713232" y="5522976"/>
            <a:ext cx="10762488" cy="457200"/>
          </a:xfrm>
          <a:prstGeom prst="rect">
            <a:avLst/>
          </a:prstGeom>
          <a:noFill/>
          <a:ln/>
        </p:spPr>
        <p:txBody>
          <a:bodyPr wrap="square" lIns="0" tIns="0" rIns="0" bIns="0" rtlCol="0" anchor="ctr"/>
          <a:lstStyle/>
          <a:p>
            <a:pPr marL="0" indent="0">
              <a:buNone/>
            </a:pPr>
            <a:r>
              <a:rPr lang="en-US" sz="1200" b="1" dirty="0">
                <a:solidFill>
                  <a:srgbClr val="12324F"/>
                </a:solidFill>
                <a:latin typeface="Calibri" pitchFamily="34" charset="0"/>
                <a:ea typeface="Calibri" pitchFamily="34" charset="-122"/>
                <a:cs typeface="Calibri" pitchFamily="34" charset="-120"/>
              </a:rPr>
              <a:t>Nəticə:  </a:t>
            </a:r>
            <a:r>
              <a:rPr lang="en-US" sz="1200" dirty="0">
                <a:solidFill>
                  <a:srgbClr val="14202E"/>
                </a:solidFill>
                <a:latin typeface="Calibri" pitchFamily="34" charset="0"/>
                <a:ea typeface="Calibri" pitchFamily="34" charset="-122"/>
                <a:cs typeface="Calibri" pitchFamily="34" charset="-120"/>
              </a:rPr>
              <a:t>Bu iş yeni bir PE alqoritmi təklif etmir və universal teorem iddia etmir — töhfə dəqiq nəzarət edilmiş empirik nəticədir.</a:t>
            </a:r>
            <a:endParaRPr lang="en-US" sz="1200" dirty="0"/>
          </a:p>
        </p:txBody>
      </p:sp>
      <p:sp>
        <p:nvSpPr>
          <p:cNvPr id="53" name="Text 51"/>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8A99A8"/>
                </a:solidFill>
                <a:latin typeface="Calibri" pitchFamily="34" charset="0"/>
                <a:ea typeface="Calibri" pitchFamily="34" charset="-122"/>
                <a:cs typeface="Calibri" pitchFamily="34" charset="-120"/>
              </a:rPr>
              <a:t>Nihat Rzayev  ·  RzayevNihat</a:t>
            </a:r>
            <a:endParaRPr lang="en-US" sz="950" dirty="0"/>
          </a:p>
        </p:txBody>
      </p:sp>
      <p:sp>
        <p:nvSpPr>
          <p:cNvPr id="54" name="Text 52"/>
          <p:cNvSpPr txBox="1"/>
          <p:nvPr/>
        </p:nvSpPr>
        <p:spPr>
          <a:xfrm>
            <a:off x="4023360" y="6382512"/>
            <a:ext cx="6583680" cy="237744"/>
          </a:xfrm>
          <a:prstGeom prst="rect">
            <a:avLst/>
          </a:prstGeom>
          <a:noFill/>
          <a:ln/>
        </p:spPr>
        <p:txBody>
          <a:bodyPr wrap="square" lIns="0" tIns="0" rIns="0" bIns="0" rtlCol="0" anchor="ctr"/>
          <a:lstStyle/>
          <a:p>
            <a:pPr marL="0" indent="0" algn="r">
              <a:buNone/>
            </a:pPr>
            <a:r>
              <a:rPr lang="en-US" sz="850" dirty="0">
                <a:solidFill>
                  <a:srgbClr val="8A99A8"/>
                </a:solidFill>
                <a:latin typeface="Courier New" pitchFamily="34" charset="0"/>
                <a:ea typeface="Courier New" pitchFamily="34" charset="-122"/>
                <a:cs typeface="Courier New" pitchFamily="34" charset="-120"/>
              </a:rPr>
              <a:t>Mənbə:  results/evaluation/report/Results_Analysis.md</a:t>
            </a:r>
            <a:endParaRPr lang="en-US" sz="850" dirty="0"/>
          </a:p>
        </p:txBody>
      </p:sp>
      <p:sp>
        <p:nvSpPr>
          <p:cNvPr id="55" name="Text 53"/>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5F7082"/>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6400800" y="365760"/>
            <a:ext cx="5239512" cy="237744"/>
          </a:xfrm>
          <a:prstGeom prst="rect">
            <a:avLst/>
          </a:prstGeom>
          <a:noFill/>
          <a:ln/>
        </p:spPr>
        <p:txBody>
          <a:bodyPr wrap="square" lIns="0" tIns="0" rIns="0" bIns="0" rtlCol="0" anchor="ctr"/>
          <a:lstStyle/>
          <a:p>
            <a:pPr marL="0" indent="0" algn="r">
              <a:buNone/>
            </a:pPr>
            <a:r>
              <a:rPr lang="en-US" sz="1000" b="1" kern="0" spc="160" dirty="0">
                <a:solidFill>
                  <a:srgbClr val="7E93A8"/>
                </a:solidFill>
                <a:latin typeface="Calibri" pitchFamily="34" charset="0"/>
                <a:ea typeface="Calibri" pitchFamily="34" charset="-122"/>
                <a:cs typeface="Calibri" pitchFamily="34" charset="-120"/>
              </a:rPr>
              <a:t>05  /  RESULTS</a:t>
            </a:r>
            <a:endParaRPr lang="en-US" sz="1000" dirty="0"/>
          </a:p>
        </p:txBody>
      </p:sp>
      <p:sp>
        <p:nvSpPr>
          <p:cNvPr id="3" name="Text 1"/>
          <p:cNvSpPr txBox="1"/>
          <p:nvPr/>
        </p:nvSpPr>
        <p:spPr>
          <a:xfrm>
            <a:off x="548640" y="365760"/>
            <a:ext cx="6400800" cy="5486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Nəticə və növbəti addım</a:t>
            </a:r>
            <a:endParaRPr lang="en-US" sz="2500" dirty="0"/>
          </a:p>
        </p:txBody>
      </p:sp>
      <p:sp>
        <p:nvSpPr>
          <p:cNvPr id="4" name="Shape 2"/>
          <p:cNvSpPr/>
          <p:nvPr/>
        </p:nvSpPr>
        <p:spPr>
          <a:xfrm>
            <a:off x="548640" y="1097280"/>
            <a:ext cx="11091672" cy="1024128"/>
          </a:xfrm>
          <a:prstGeom prst="roundRect">
            <a:avLst>
              <a:gd name="adj" fmla="val 6250"/>
            </a:avLst>
          </a:prstGeom>
          <a:solidFill>
            <a:srgbClr val="16293F"/>
          </a:solidFill>
          <a:ln/>
        </p:spPr>
      </p:sp>
      <p:sp>
        <p:nvSpPr>
          <p:cNvPr id="5" name="Text 3"/>
          <p:cNvSpPr txBox="1"/>
          <p:nvPr/>
        </p:nvSpPr>
        <p:spPr>
          <a:xfrm>
            <a:off x="868680" y="1097280"/>
            <a:ext cx="10424160" cy="102412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Bu controlled low-data Azərbaycan dili eksperimenti daxilində ALiBi ən güclü və ən stabil positional strategy oldu.</a:t>
            </a:r>
            <a:endParaRPr lang="en-US" sz="1900" dirty="0"/>
          </a:p>
        </p:txBody>
      </p:sp>
      <p:sp>
        <p:nvSpPr>
          <p:cNvPr id="6" name="Shape 4"/>
          <p:cNvSpPr/>
          <p:nvPr/>
        </p:nvSpPr>
        <p:spPr>
          <a:xfrm>
            <a:off x="548640" y="2304288"/>
            <a:ext cx="3520440" cy="1755648"/>
          </a:xfrm>
          <a:prstGeom prst="rect">
            <a:avLst/>
          </a:prstGeom>
          <a:solidFill>
            <a:srgbClr val="16293F"/>
          </a:solidFill>
          <a:ln w="16510">
            <a:solidFill>
              <a:srgbClr val="27405A"/>
            </a:solidFill>
            <a:prstDash val="solid"/>
          </a:ln>
        </p:spPr>
      </p:sp>
      <p:sp>
        <p:nvSpPr>
          <p:cNvPr id="7" name="Text 5"/>
          <p:cNvSpPr txBox="1"/>
          <p:nvPr/>
        </p:nvSpPr>
        <p:spPr>
          <a:xfrm>
            <a:off x="731520" y="2395728"/>
            <a:ext cx="548640" cy="274320"/>
          </a:xfrm>
          <a:prstGeom prst="rect">
            <a:avLst/>
          </a:prstGeom>
          <a:noFill/>
          <a:ln/>
        </p:spPr>
        <p:txBody>
          <a:bodyPr wrap="square" lIns="0" tIns="0" rIns="0" bIns="0" rtlCol="0" anchor="ctr"/>
          <a:lstStyle/>
          <a:p>
            <a:pPr marL="0" indent="0">
              <a:buNone/>
            </a:pPr>
            <a:r>
              <a:rPr lang="en-US" sz="1400" b="1" dirty="0">
                <a:solidFill>
                  <a:srgbClr val="6F8AA3"/>
                </a:solidFill>
                <a:latin typeface="Cambria" pitchFamily="34" charset="0"/>
                <a:ea typeface="Cambria" pitchFamily="34" charset="-122"/>
                <a:cs typeface="Cambria" pitchFamily="34" charset="-120"/>
              </a:rPr>
              <a:t>01</a:t>
            </a:r>
            <a:endParaRPr lang="en-US" sz="1400" dirty="0"/>
          </a:p>
        </p:txBody>
      </p:sp>
      <p:sp>
        <p:nvSpPr>
          <p:cNvPr id="8" name="Text 6"/>
          <p:cNvSpPr txBox="1"/>
          <p:nvPr/>
        </p:nvSpPr>
        <p:spPr>
          <a:xfrm>
            <a:off x="1280160" y="2395728"/>
            <a:ext cx="26517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Ciddi təməl</a:t>
            </a:r>
            <a:endParaRPr lang="en-US" sz="1250" dirty="0"/>
          </a:p>
        </p:txBody>
      </p:sp>
      <p:sp>
        <p:nvSpPr>
          <p:cNvPr id="9" name="Text 7"/>
          <p:cNvSpPr txBox="1"/>
          <p:nvPr/>
        </p:nvSpPr>
        <p:spPr>
          <a:xfrm>
            <a:off x="768096" y="2743200"/>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6 193 931 saxlanılan sənəd</a:t>
            </a:r>
            <a:endParaRPr lang="en-US" sz="1000" dirty="0"/>
          </a:p>
        </p:txBody>
      </p:sp>
      <p:sp>
        <p:nvSpPr>
          <p:cNvPr id="10" name="Text 8"/>
          <p:cNvSpPr txBox="1"/>
          <p:nvPr/>
        </p:nvSpPr>
        <p:spPr>
          <a:xfrm>
            <a:off x="768096" y="3035808"/>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leakage-safe data bölgüsü</a:t>
            </a:r>
            <a:endParaRPr lang="en-US" sz="1000" dirty="0"/>
          </a:p>
        </p:txBody>
      </p:sp>
      <p:sp>
        <p:nvSpPr>
          <p:cNvPr id="11" name="Text 9"/>
          <p:cNvSpPr txBox="1"/>
          <p:nvPr/>
        </p:nvSpPr>
        <p:spPr>
          <a:xfrm>
            <a:off x="768096" y="3328416"/>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ortaq 16K tokenizer</a:t>
            </a:r>
            <a:endParaRPr lang="en-US" sz="1000" dirty="0"/>
          </a:p>
        </p:txBody>
      </p:sp>
      <p:sp>
        <p:nvSpPr>
          <p:cNvPr id="12" name="Text 10"/>
          <p:cNvSpPr txBox="1"/>
          <p:nvPr/>
        </p:nvSpPr>
        <p:spPr>
          <a:xfrm>
            <a:off x="768096" y="3621024"/>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dəqiq 50M tokenlik ardıcıllıq</a:t>
            </a:r>
            <a:endParaRPr lang="en-US" sz="1000" dirty="0"/>
          </a:p>
        </p:txBody>
      </p:sp>
      <p:sp>
        <p:nvSpPr>
          <p:cNvPr id="13" name="Shape 11"/>
          <p:cNvSpPr/>
          <p:nvPr/>
        </p:nvSpPr>
        <p:spPr>
          <a:xfrm>
            <a:off x="4261104" y="2304288"/>
            <a:ext cx="3520440" cy="1755648"/>
          </a:xfrm>
          <a:prstGeom prst="rect">
            <a:avLst/>
          </a:prstGeom>
          <a:solidFill>
            <a:srgbClr val="16293F"/>
          </a:solidFill>
          <a:ln w="16510">
            <a:solidFill>
              <a:srgbClr val="27405A"/>
            </a:solidFill>
            <a:prstDash val="solid"/>
          </a:ln>
        </p:spPr>
      </p:sp>
      <p:sp>
        <p:nvSpPr>
          <p:cNvPr id="14" name="Text 12"/>
          <p:cNvSpPr txBox="1"/>
          <p:nvPr/>
        </p:nvSpPr>
        <p:spPr>
          <a:xfrm>
            <a:off x="4443984" y="2395728"/>
            <a:ext cx="548640" cy="274320"/>
          </a:xfrm>
          <a:prstGeom prst="rect">
            <a:avLst/>
          </a:prstGeom>
          <a:noFill/>
          <a:ln/>
        </p:spPr>
        <p:txBody>
          <a:bodyPr wrap="square" lIns="0" tIns="0" rIns="0" bIns="0" rtlCol="0" anchor="ctr"/>
          <a:lstStyle/>
          <a:p>
            <a:pPr marL="0" indent="0">
              <a:buNone/>
            </a:pPr>
            <a:r>
              <a:rPr lang="en-US" sz="1400" b="1" dirty="0">
                <a:solidFill>
                  <a:srgbClr val="6F8AA3"/>
                </a:solidFill>
                <a:latin typeface="Cambria" pitchFamily="34" charset="0"/>
                <a:ea typeface="Cambria" pitchFamily="34" charset="-122"/>
                <a:cs typeface="Cambria" pitchFamily="34" charset="-120"/>
              </a:rPr>
              <a:t>02</a:t>
            </a:r>
            <a:endParaRPr lang="en-US" sz="1400" dirty="0"/>
          </a:p>
        </p:txBody>
      </p:sp>
      <p:sp>
        <p:nvSpPr>
          <p:cNvPr id="15" name="Text 13"/>
          <p:cNvSpPr txBox="1"/>
          <p:nvPr/>
        </p:nvSpPr>
        <p:spPr>
          <a:xfrm>
            <a:off x="4992624" y="2395728"/>
            <a:ext cx="26517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Nəzarətli eksperiment</a:t>
            </a:r>
            <a:endParaRPr lang="en-US" sz="1250" dirty="0"/>
          </a:p>
        </p:txBody>
      </p:sp>
      <p:sp>
        <p:nvSpPr>
          <p:cNvPr id="16" name="Text 14"/>
          <p:cNvSpPr txBox="1"/>
          <p:nvPr/>
        </p:nvSpPr>
        <p:spPr>
          <a:xfrm>
            <a:off x="4480560" y="2743200"/>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5 mövqe strategiyası</a:t>
            </a:r>
            <a:endParaRPr lang="en-US" sz="1000" dirty="0"/>
          </a:p>
        </p:txBody>
      </p:sp>
      <p:sp>
        <p:nvSpPr>
          <p:cNvPr id="17" name="Text 15"/>
          <p:cNvSpPr txBox="1"/>
          <p:nvPr/>
        </p:nvSpPr>
        <p:spPr>
          <a:xfrm>
            <a:off x="4480560" y="3035808"/>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5 model seed</a:t>
            </a:r>
            <a:endParaRPr lang="en-US" sz="1000" dirty="0"/>
          </a:p>
        </p:txBody>
      </p:sp>
      <p:sp>
        <p:nvSpPr>
          <p:cNvPr id="18" name="Text 16"/>
          <p:cNvSpPr txBox="1"/>
          <p:nvPr/>
        </p:nvSpPr>
        <p:spPr>
          <a:xfrm>
            <a:off x="4480560" y="3328416"/>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25 tamamlanmış run</a:t>
            </a:r>
            <a:endParaRPr lang="en-US" sz="1000" dirty="0"/>
          </a:p>
        </p:txBody>
      </p:sp>
      <p:sp>
        <p:nvSpPr>
          <p:cNvPr id="19" name="Text 17"/>
          <p:cNvSpPr txBox="1"/>
          <p:nvPr/>
        </p:nvSpPr>
        <p:spPr>
          <a:xfrm>
            <a:off x="4480560" y="3621024"/>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yeganə dəyişən: PE</a:t>
            </a:r>
            <a:endParaRPr lang="en-US" sz="1000" dirty="0"/>
          </a:p>
        </p:txBody>
      </p:sp>
      <p:sp>
        <p:nvSpPr>
          <p:cNvPr id="20" name="Shape 18"/>
          <p:cNvSpPr/>
          <p:nvPr/>
        </p:nvSpPr>
        <p:spPr>
          <a:xfrm>
            <a:off x="7973568" y="2304288"/>
            <a:ext cx="3520440" cy="1755648"/>
          </a:xfrm>
          <a:prstGeom prst="rect">
            <a:avLst/>
          </a:prstGeom>
          <a:solidFill>
            <a:srgbClr val="16293F"/>
          </a:solidFill>
          <a:ln w="16510">
            <a:solidFill>
              <a:srgbClr val="009E73"/>
            </a:solidFill>
            <a:prstDash val="solid"/>
          </a:ln>
        </p:spPr>
      </p:sp>
      <p:sp>
        <p:nvSpPr>
          <p:cNvPr id="21" name="Text 19"/>
          <p:cNvSpPr txBox="1"/>
          <p:nvPr/>
        </p:nvSpPr>
        <p:spPr>
          <a:xfrm>
            <a:off x="8156448" y="2395728"/>
            <a:ext cx="548640" cy="274320"/>
          </a:xfrm>
          <a:prstGeom prst="rect">
            <a:avLst/>
          </a:prstGeom>
          <a:noFill/>
          <a:ln/>
        </p:spPr>
        <p:txBody>
          <a:bodyPr wrap="square" lIns="0" tIns="0" rIns="0" bIns="0" rtlCol="0" anchor="ctr"/>
          <a:lstStyle/>
          <a:p>
            <a:pPr marL="0" indent="0">
              <a:buNone/>
            </a:pPr>
            <a:r>
              <a:rPr lang="en-US" sz="1400" b="1" dirty="0">
                <a:solidFill>
                  <a:srgbClr val="009E73"/>
                </a:solidFill>
                <a:latin typeface="Cambria" pitchFamily="34" charset="0"/>
                <a:ea typeface="Cambria" pitchFamily="34" charset="-122"/>
                <a:cs typeface="Cambria" pitchFamily="34" charset="-120"/>
              </a:rPr>
              <a:t>03</a:t>
            </a:r>
            <a:endParaRPr lang="en-US" sz="1400" dirty="0"/>
          </a:p>
        </p:txBody>
      </p:sp>
      <p:sp>
        <p:nvSpPr>
          <p:cNvPr id="22" name="Text 20"/>
          <p:cNvSpPr txBox="1"/>
          <p:nvPr/>
        </p:nvSpPr>
        <p:spPr>
          <a:xfrm>
            <a:off x="8705088" y="2395728"/>
            <a:ext cx="26517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Elmi nəticə</a:t>
            </a:r>
            <a:endParaRPr lang="en-US" sz="1250" dirty="0"/>
          </a:p>
        </p:txBody>
      </p:sp>
      <p:sp>
        <p:nvSpPr>
          <p:cNvPr id="23" name="Text 21"/>
          <p:cNvSpPr txBox="1"/>
          <p:nvPr/>
        </p:nvSpPr>
        <p:spPr>
          <a:xfrm>
            <a:off x="8193024" y="2743200"/>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ən yaxşı held-out nəticə</a:t>
            </a:r>
            <a:endParaRPr lang="en-US" sz="1000" dirty="0"/>
          </a:p>
        </p:txBody>
      </p:sp>
      <p:sp>
        <p:nvSpPr>
          <p:cNvPr id="24" name="Text 22"/>
          <p:cNvSpPr txBox="1"/>
          <p:nvPr/>
        </p:nvSpPr>
        <p:spPr>
          <a:xfrm>
            <a:off x="8193024" y="3035808"/>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5/5 seed uyğunluğu</a:t>
            </a:r>
            <a:endParaRPr lang="en-US" sz="1000" dirty="0"/>
          </a:p>
        </p:txBody>
      </p:sp>
      <p:sp>
        <p:nvSpPr>
          <p:cNvPr id="25" name="Text 23"/>
          <p:cNvSpPr txBox="1"/>
          <p:nvPr/>
        </p:nvSpPr>
        <p:spPr>
          <a:xfrm>
            <a:off x="8193024" y="3328416"/>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hər 4 büdcədə 1-ci</a:t>
            </a:r>
            <a:endParaRPr lang="en-US" sz="1000" dirty="0"/>
          </a:p>
        </p:txBody>
      </p:sp>
      <p:sp>
        <p:nvSpPr>
          <p:cNvPr id="26" name="Text 24"/>
          <p:cNvSpPr txBox="1"/>
          <p:nvPr/>
        </p:nvSpPr>
        <p:spPr>
          <a:xfrm>
            <a:off x="8193024" y="3621024"/>
            <a:ext cx="3200400" cy="274320"/>
          </a:xfrm>
          <a:prstGeom prst="rect">
            <a:avLst/>
          </a:prstGeom>
          <a:noFill/>
          <a:ln/>
        </p:spPr>
        <p:txBody>
          <a:bodyPr wrap="square" lIns="0" tIns="0" rIns="0" bIns="0" rtlCol="0" anchor="ctr"/>
          <a:lstStyle/>
          <a:p>
            <a:pPr marL="0" indent="0">
              <a:buNone/>
            </a:pPr>
            <a:r>
              <a:rPr lang="en-US" sz="1000" dirty="0">
                <a:solidFill>
                  <a:srgbClr val="A8BDCF"/>
                </a:solidFill>
                <a:latin typeface="Calibri" pitchFamily="34" charset="0"/>
                <a:ea typeface="Calibri" pitchFamily="34" charset="-122"/>
                <a:cs typeface="Calibri" pitchFamily="34" charset="-120"/>
              </a:rPr>
              <a:t>·  512 → 2048 sabitliyi</a:t>
            </a:r>
            <a:endParaRPr lang="en-US" sz="1000" dirty="0"/>
          </a:p>
        </p:txBody>
      </p:sp>
      <p:sp>
        <p:nvSpPr>
          <p:cNvPr id="27" name="Text 25"/>
          <p:cNvSpPr txBox="1"/>
          <p:nvPr/>
        </p:nvSpPr>
        <p:spPr>
          <a:xfrm>
            <a:off x="548640" y="4261104"/>
            <a:ext cx="5486400" cy="237744"/>
          </a:xfrm>
          <a:prstGeom prst="rect">
            <a:avLst/>
          </a:prstGeom>
          <a:noFill/>
          <a:ln/>
        </p:spPr>
        <p:txBody>
          <a:bodyPr wrap="square" lIns="0" tIns="0" rIns="0" bIns="0" rtlCol="0" anchor="ctr"/>
          <a:lstStyle/>
          <a:p>
            <a:pPr marL="0" indent="0">
              <a:buNone/>
            </a:pPr>
            <a:r>
              <a:rPr lang="en-US" sz="1000" b="1" kern="0" spc="140" dirty="0">
                <a:solidFill>
                  <a:srgbClr val="6F8AA3"/>
                </a:solidFill>
                <a:latin typeface="Calibri" pitchFamily="34" charset="0"/>
                <a:ea typeface="Calibri" pitchFamily="34" charset="-122"/>
                <a:cs typeface="Calibri" pitchFamily="34" charset="-120"/>
              </a:rPr>
              <a:t>NÖVBƏTİ ADDIMLAR</a:t>
            </a:r>
            <a:endParaRPr lang="en-US" sz="1000" dirty="0"/>
          </a:p>
        </p:txBody>
      </p:sp>
      <p:sp>
        <p:nvSpPr>
          <p:cNvPr id="28" name="Shape 26"/>
          <p:cNvSpPr/>
          <p:nvPr/>
        </p:nvSpPr>
        <p:spPr>
          <a:xfrm>
            <a:off x="548640" y="4553712"/>
            <a:ext cx="2926080" cy="347472"/>
          </a:xfrm>
          <a:prstGeom prst="rect">
            <a:avLst/>
          </a:prstGeom>
          <a:solidFill>
            <a:srgbClr val="16293F"/>
          </a:solidFill>
          <a:ln w="12700">
            <a:solidFill>
              <a:srgbClr val="27405A"/>
            </a:solidFill>
            <a:prstDash val="solid"/>
          </a:ln>
        </p:spPr>
      </p:sp>
      <p:sp>
        <p:nvSpPr>
          <p:cNvPr id="29" name="Text 27"/>
          <p:cNvSpPr txBox="1"/>
          <p:nvPr/>
        </p:nvSpPr>
        <p:spPr>
          <a:xfrm>
            <a:off x="676656" y="4553712"/>
            <a:ext cx="2743200" cy="347472"/>
          </a:xfrm>
          <a:prstGeom prst="rect">
            <a:avLst/>
          </a:prstGeom>
          <a:noFill/>
          <a:ln/>
        </p:spPr>
        <p:txBody>
          <a:bodyPr wrap="square" lIns="0" tIns="0" rIns="0" bIns="0" rtlCol="0" anchor="ctr"/>
          <a:lstStyle/>
          <a:p>
            <a:pPr marL="0" indent="0">
              <a:buNone/>
            </a:pPr>
            <a:r>
              <a:rPr lang="en-US" sz="900" dirty="0">
                <a:solidFill>
                  <a:srgbClr val="C6D6E4"/>
                </a:solidFill>
                <a:latin typeface="Calibri" pitchFamily="34" charset="0"/>
                <a:ea typeface="Calibri" pitchFamily="34" charset="-122"/>
                <a:cs typeface="Calibri" pitchFamily="34" charset="-120"/>
              </a:rPr>
              <a:t>Azərbaycan  →  türk  →  ingilis dili nəzarət qrupu</a:t>
            </a:r>
            <a:endParaRPr lang="en-US" sz="900" dirty="0"/>
          </a:p>
        </p:txBody>
      </p:sp>
      <p:sp>
        <p:nvSpPr>
          <p:cNvPr id="30" name="Shape 28"/>
          <p:cNvSpPr/>
          <p:nvPr/>
        </p:nvSpPr>
        <p:spPr>
          <a:xfrm>
            <a:off x="3657600" y="4553712"/>
            <a:ext cx="2926080" cy="347472"/>
          </a:xfrm>
          <a:prstGeom prst="rect">
            <a:avLst/>
          </a:prstGeom>
          <a:solidFill>
            <a:srgbClr val="16293F"/>
          </a:solidFill>
          <a:ln w="12700">
            <a:solidFill>
              <a:srgbClr val="27405A"/>
            </a:solidFill>
            <a:prstDash val="solid"/>
          </a:ln>
        </p:spPr>
      </p:sp>
      <p:sp>
        <p:nvSpPr>
          <p:cNvPr id="31" name="Text 29"/>
          <p:cNvSpPr txBox="1"/>
          <p:nvPr/>
        </p:nvSpPr>
        <p:spPr>
          <a:xfrm>
            <a:off x="3785616" y="4553712"/>
            <a:ext cx="2743200" cy="347472"/>
          </a:xfrm>
          <a:prstGeom prst="rect">
            <a:avLst/>
          </a:prstGeom>
          <a:noFill/>
          <a:ln/>
        </p:spPr>
        <p:txBody>
          <a:bodyPr wrap="square" lIns="0" tIns="0" rIns="0" bIns="0" rtlCol="0" anchor="ctr"/>
          <a:lstStyle/>
          <a:p>
            <a:pPr marL="0" indent="0">
              <a:buNone/>
            </a:pPr>
            <a:r>
              <a:rPr lang="en-US" sz="900" dirty="0">
                <a:solidFill>
                  <a:srgbClr val="C6D6E4"/>
                </a:solidFill>
                <a:latin typeface="Calibri" pitchFamily="34" charset="0"/>
                <a:ea typeface="Calibri" pitchFamily="34" charset="-122"/>
                <a:cs typeface="Calibri" pitchFamily="34" charset="-120"/>
              </a:rPr>
              <a:t>13M  →  daha böyük miqyaslar</a:t>
            </a:r>
            <a:endParaRPr lang="en-US" sz="900" dirty="0"/>
          </a:p>
        </p:txBody>
      </p:sp>
      <p:sp>
        <p:nvSpPr>
          <p:cNvPr id="32" name="Shape 30"/>
          <p:cNvSpPr/>
          <p:nvPr/>
        </p:nvSpPr>
        <p:spPr>
          <a:xfrm>
            <a:off x="6766560" y="4553712"/>
            <a:ext cx="2926080" cy="347472"/>
          </a:xfrm>
          <a:prstGeom prst="rect">
            <a:avLst/>
          </a:prstGeom>
          <a:solidFill>
            <a:srgbClr val="16293F"/>
          </a:solidFill>
          <a:ln w="12700">
            <a:solidFill>
              <a:srgbClr val="27405A"/>
            </a:solidFill>
            <a:prstDash val="solid"/>
          </a:ln>
        </p:spPr>
      </p:sp>
      <p:sp>
        <p:nvSpPr>
          <p:cNvPr id="33" name="Text 31"/>
          <p:cNvSpPr txBox="1"/>
          <p:nvPr/>
        </p:nvSpPr>
        <p:spPr>
          <a:xfrm>
            <a:off x="6894576" y="4553712"/>
            <a:ext cx="2743200" cy="347472"/>
          </a:xfrm>
          <a:prstGeom prst="rect">
            <a:avLst/>
          </a:prstGeom>
          <a:noFill/>
          <a:ln/>
        </p:spPr>
        <p:txBody>
          <a:bodyPr wrap="square" lIns="0" tIns="0" rIns="0" bIns="0" rtlCol="0" anchor="ctr"/>
          <a:lstStyle/>
          <a:p>
            <a:pPr marL="0" indent="0">
              <a:buNone/>
            </a:pPr>
            <a:r>
              <a:rPr lang="en-US" sz="900" dirty="0">
                <a:solidFill>
                  <a:srgbClr val="C6D6E4"/>
                </a:solidFill>
                <a:latin typeface="Calibri" pitchFamily="34" charset="0"/>
                <a:ea typeface="Calibri" pitchFamily="34" charset="-122"/>
                <a:cs typeface="Calibri" pitchFamily="34" charset="-120"/>
              </a:rPr>
              <a:t>aqreqat nəticə  →  morfologiya şərtli analiz</a:t>
            </a:r>
            <a:endParaRPr lang="en-US" sz="900" dirty="0"/>
          </a:p>
        </p:txBody>
      </p:sp>
      <p:sp>
        <p:nvSpPr>
          <p:cNvPr id="34" name="Shape 32"/>
          <p:cNvSpPr/>
          <p:nvPr/>
        </p:nvSpPr>
        <p:spPr>
          <a:xfrm>
            <a:off x="548640" y="4956048"/>
            <a:ext cx="2926080" cy="347472"/>
          </a:xfrm>
          <a:prstGeom prst="rect">
            <a:avLst/>
          </a:prstGeom>
          <a:solidFill>
            <a:srgbClr val="16293F"/>
          </a:solidFill>
          <a:ln w="12700">
            <a:solidFill>
              <a:srgbClr val="27405A"/>
            </a:solidFill>
            <a:prstDash val="solid"/>
          </a:ln>
        </p:spPr>
      </p:sp>
      <p:sp>
        <p:nvSpPr>
          <p:cNvPr id="35" name="Text 33"/>
          <p:cNvSpPr txBox="1"/>
          <p:nvPr/>
        </p:nvSpPr>
        <p:spPr>
          <a:xfrm>
            <a:off x="676656" y="4956048"/>
            <a:ext cx="2743200" cy="347472"/>
          </a:xfrm>
          <a:prstGeom prst="rect">
            <a:avLst/>
          </a:prstGeom>
          <a:noFill/>
          <a:ln/>
        </p:spPr>
        <p:txBody>
          <a:bodyPr wrap="square" lIns="0" tIns="0" rIns="0" bIns="0" rtlCol="0" anchor="ctr"/>
          <a:lstStyle/>
          <a:p>
            <a:pPr marL="0" indent="0">
              <a:buNone/>
            </a:pPr>
            <a:r>
              <a:rPr lang="en-US" sz="900" dirty="0">
                <a:solidFill>
                  <a:srgbClr val="C6D6E4"/>
                </a:solidFill>
                <a:latin typeface="Calibri" pitchFamily="34" charset="0"/>
                <a:ea typeface="Calibri" pitchFamily="34" charset="-122"/>
                <a:cs typeface="Calibri" pitchFamily="34" charset="-120"/>
              </a:rPr>
              <a:t>attention məsafə analizi  →  mexanizmin izahı</a:t>
            </a:r>
            <a:endParaRPr lang="en-US" sz="900" dirty="0"/>
          </a:p>
        </p:txBody>
      </p:sp>
      <p:sp>
        <p:nvSpPr>
          <p:cNvPr id="36" name="Shape 34"/>
          <p:cNvSpPr/>
          <p:nvPr/>
        </p:nvSpPr>
        <p:spPr>
          <a:xfrm>
            <a:off x="3657600" y="4956048"/>
            <a:ext cx="2926080" cy="347472"/>
          </a:xfrm>
          <a:prstGeom prst="rect">
            <a:avLst/>
          </a:prstGeom>
          <a:solidFill>
            <a:srgbClr val="16293F"/>
          </a:solidFill>
          <a:ln w="12700">
            <a:solidFill>
              <a:srgbClr val="27405A"/>
            </a:solidFill>
            <a:prstDash val="solid"/>
          </a:ln>
        </p:spPr>
      </p:sp>
      <p:sp>
        <p:nvSpPr>
          <p:cNvPr id="37" name="Text 35"/>
          <p:cNvSpPr txBox="1"/>
          <p:nvPr/>
        </p:nvSpPr>
        <p:spPr>
          <a:xfrm>
            <a:off x="3785616" y="4956048"/>
            <a:ext cx="2743200" cy="347472"/>
          </a:xfrm>
          <a:prstGeom prst="rect">
            <a:avLst/>
          </a:prstGeom>
          <a:noFill/>
          <a:ln/>
        </p:spPr>
        <p:txBody>
          <a:bodyPr wrap="square" lIns="0" tIns="0" rIns="0" bIns="0" rtlCol="0" anchor="ctr"/>
          <a:lstStyle/>
          <a:p>
            <a:pPr marL="0" indent="0">
              <a:buNone/>
            </a:pPr>
            <a:r>
              <a:rPr lang="en-US" sz="900" dirty="0">
                <a:solidFill>
                  <a:srgbClr val="C6D6E4"/>
                </a:solidFill>
                <a:latin typeface="Calibri" pitchFamily="34" charset="0"/>
                <a:ea typeface="Calibri" pitchFamily="34" charset="-122"/>
                <a:cs typeface="Calibri" pitchFamily="34" charset="-120"/>
              </a:rPr>
              <a:t>layihə  →  elmi məqalə təqdimatı</a:t>
            </a:r>
            <a:endParaRPr lang="en-US" sz="900" dirty="0"/>
          </a:p>
        </p:txBody>
      </p:sp>
      <p:sp>
        <p:nvSpPr>
          <p:cNvPr id="38" name="Text 36"/>
          <p:cNvSpPr txBox="1"/>
          <p:nvPr/>
        </p:nvSpPr>
        <p:spPr>
          <a:xfrm>
            <a:off x="548640" y="5486400"/>
            <a:ext cx="45720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SUALLAR?</a:t>
            </a:r>
            <a:endParaRPr lang="en-US" sz="3000" dirty="0"/>
          </a:p>
        </p:txBody>
      </p:sp>
      <p:pic>
        <p:nvPicPr>
          <p:cNvPr id="39" name="Image 0" descr="/home/claude/assets/qr_light.png"/>
          <p:cNvPicPr>
            <a:picLocks noChangeAspect="1"/>
          </p:cNvPicPr>
          <p:nvPr/>
        </p:nvPicPr>
        <p:blipFill>
          <a:blip r:embed="rId3"/>
          <a:stretch>
            <a:fillRect/>
          </a:stretch>
        </p:blipFill>
        <p:spPr>
          <a:xfrm>
            <a:off x="10177272" y="4480560"/>
            <a:ext cx="1280160" cy="1280160"/>
          </a:xfrm>
          <a:prstGeom prst="rect">
            <a:avLst/>
          </a:prstGeom>
        </p:spPr>
      </p:pic>
      <p:sp>
        <p:nvSpPr>
          <p:cNvPr id="40" name="Text 37"/>
          <p:cNvSpPr txBox="1"/>
          <p:nvPr/>
        </p:nvSpPr>
        <p:spPr>
          <a:xfrm>
            <a:off x="6675120" y="5870448"/>
            <a:ext cx="4965192" cy="237744"/>
          </a:xfrm>
          <a:prstGeom prst="rect">
            <a:avLst/>
          </a:prstGeom>
          <a:noFill/>
          <a:ln/>
        </p:spPr>
        <p:txBody>
          <a:bodyPr wrap="square" lIns="0" tIns="0" rIns="0" bIns="0" rtlCol="0" anchor="ctr"/>
          <a:lstStyle/>
          <a:p>
            <a:pPr marL="0" indent="0" algn="r">
              <a:buNone/>
            </a:pPr>
            <a:r>
              <a:rPr lang="en-US" sz="850" dirty="0">
                <a:solidFill>
                  <a:srgbClr val="7E93A8"/>
                </a:solidFill>
                <a:latin typeface="Courier New" pitchFamily="34" charset="0"/>
                <a:ea typeface="Courier New" pitchFamily="34" charset="-122"/>
                <a:cs typeface="Courier New" pitchFamily="34" charset="-120"/>
              </a:rPr>
              <a:t>github.com/IBRAHIM102005/azerbaijani-pe-research</a:t>
            </a:r>
            <a:endParaRPr lang="en-US" sz="850" dirty="0"/>
          </a:p>
        </p:txBody>
      </p:sp>
      <p:sp>
        <p:nvSpPr>
          <p:cNvPr id="41" name="Text 38"/>
          <p:cNvSpPr txBox="1"/>
          <p:nvPr/>
        </p:nvSpPr>
        <p:spPr>
          <a:xfrm>
            <a:off x="548640" y="6382512"/>
            <a:ext cx="4572000" cy="237744"/>
          </a:xfrm>
          <a:prstGeom prst="rect">
            <a:avLst/>
          </a:prstGeom>
          <a:noFill/>
          <a:ln/>
        </p:spPr>
        <p:txBody>
          <a:bodyPr wrap="square" lIns="0" tIns="0" rIns="0" bIns="0" rtlCol="0" anchor="ctr"/>
          <a:lstStyle/>
          <a:p>
            <a:pPr marL="0" indent="0">
              <a:buNone/>
            </a:pPr>
            <a:r>
              <a:rPr lang="en-US" sz="950" dirty="0">
                <a:solidFill>
                  <a:srgbClr val="7E93A8"/>
                </a:solidFill>
                <a:latin typeface="Calibri" pitchFamily="34" charset="0"/>
                <a:ea typeface="Calibri" pitchFamily="34" charset="-122"/>
                <a:cs typeface="Calibri" pitchFamily="34" charset="-120"/>
              </a:rPr>
              <a:t>Nihat Rzayev  ·  bütün komanda adından</a:t>
            </a:r>
            <a:endParaRPr lang="en-US" sz="950" dirty="0"/>
          </a:p>
        </p:txBody>
      </p:sp>
      <p:sp>
        <p:nvSpPr>
          <p:cNvPr id="42" name="Text 39"/>
          <p:cNvSpPr txBox="1"/>
          <p:nvPr/>
        </p:nvSpPr>
        <p:spPr>
          <a:xfrm>
            <a:off x="10881360" y="6382512"/>
            <a:ext cx="758952" cy="237744"/>
          </a:xfrm>
          <a:prstGeom prst="rect">
            <a:avLst/>
          </a:prstGeom>
          <a:noFill/>
          <a:ln/>
        </p:spPr>
        <p:txBody>
          <a:bodyPr wrap="square" lIns="0" tIns="0" rIns="0" bIns="0" rtlCol="0" anchor="ctr"/>
          <a:lstStyle/>
          <a:p>
            <a:pPr marL="0" indent="0" algn="r">
              <a:buNone/>
            </a:pPr>
            <a:r>
              <a:rPr lang="en-US" sz="1050" b="1" dirty="0">
                <a:solidFill>
                  <a:srgbClr val="9FB3C6"/>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8721</Words>
  <Application>Microsoft Office PowerPoint</Application>
  <PresentationFormat>Widescreen</PresentationFormat>
  <Paragraphs>1068</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Academy — Deep Learning Final Research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Azərbaycan dili üçün Positional Encoding tədqiqatı</dc:title>
  <dc:subject>Low-data causal language modeling: controlled comparison of five positional encoding strategies</dc:subject>
  <dc:creator>AI Academy Team 10</dc:creator>
  <cp:lastModifiedBy>Ibrahim Mammadov</cp:lastModifiedBy>
  <cp:revision>6</cp:revision>
  <dcterms:created xsi:type="dcterms:W3CDTF">2026-09-12T05:00:58Z</dcterms:created>
  <dcterms:modified xsi:type="dcterms:W3CDTF">2026-09-12T09:16:00Z</dcterms:modified>
</cp:coreProperties>
</file>